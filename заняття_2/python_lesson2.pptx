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65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 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даних і перші розрахунки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3108960" cy="19202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("Привіт")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7880" y="1719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7880" y="2432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вже знаємо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інформацію на екран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запитує дані у користувача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зберігають значення під іменем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27889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50876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Розрахунки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−  *  /  з числами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78892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434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перетворює текст на ціле число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Сьогоднішня ціль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3256" y="1192237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30416" y="1301965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30416" y="1301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96" y="1192237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Зрозуміти, що таке тип даних і чому це важливо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93256" y="2124925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30416" y="2234653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30416" y="223465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96" y="2124925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Навчитись перевіряти тип значення через type()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93256" y="3057613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30416" y="3167341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30416" y="316734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96" y="3057613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 перетворювати між типами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93256" y="3990301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30416" y="4100029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30416" y="4100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96" y="3990301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Опанувати базові операції з рядками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Основні типи даних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21208" y="121615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21208" y="1216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216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Цілі числа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 -7,  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818888" y="121615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18888" y="1216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1216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Числа з крапкою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 -0.5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64008" cy="169164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21208" y="313639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21208" y="3136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1363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Текстові рядки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" y="3657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"Олена",  "Київ"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64008" cy="1691640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818888" y="3136392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18888" y="3136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52160" y="31363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True або False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18888" y="3657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 False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Значення і тип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значення в Python має тип — навіть якщо ми не вказуємо його явно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" cy="713232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58368" y="14630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"Олена"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66160" y="161848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566160" y="1618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тексту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64008" cy="71323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23042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2459736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566160" y="24597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23042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ціле число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64008" cy="71323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58368" y="31455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17520" y="314553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566160" y="3300984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3566160" y="3300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314553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з крапкою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57200" y="3986784"/>
            <a:ext cx="64008" cy="713232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58368" y="39867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017520" y="398678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566160" y="4142232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3566160" y="4142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54880" y="398678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логічне значення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Функція type()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Перевіряє, якого типу є значення або змінна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029200" cy="33832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("Привіт"))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5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5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5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15000" y="1444752"/>
            <a:ext cx="2971800" cy="3383280"/>
          </a:xfrm>
          <a:prstGeom prst="rect">
            <a:avLst/>
          </a:prstGeom>
          <a:solidFill>
            <a:srgbClr val="1A1F3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852160" y="1572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Коли використовувати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2148840"/>
            <a:ext cx="54864" cy="5029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Щось пішло не так — перевір тип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2953512"/>
            <a:ext cx="54864" cy="5029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035040" y="2953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операціями з числами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3758184"/>
            <a:ext cx="54864" cy="50292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35040" y="37581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input() — завжди str!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input() завжди повертає str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якщо людина ввела число — Python отримає його як текст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858000" cy="19659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819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819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6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("Скільки вам років? 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людина ввела: 35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6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6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не int!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658368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input() — це завжди рядок. Щоб рахувати числа, потрібно перетворити тип явно.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вводить: "35"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отримує: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434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"35"  (str!)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Чому "25" і 25 — різні речі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77640" cy="38404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  —  str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977640" cy="18288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3035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73152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93268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"2510"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склейка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977640" cy="3840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9204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—  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444752"/>
            <a:ext cx="3977640" cy="18288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9651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1663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3675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сума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8412480" cy="141732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48640" y="3456432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Python + над рядками — це склейка, а не сума.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визначає, як Python виконує операцію.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 і float: числа для розрахунків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7315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числа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657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35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3657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85800" y="2542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= 10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3657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85800" y="2980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2026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крапки. Точний результат.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7315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93776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Дробові числа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2103120"/>
            <a:ext cx="3657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074920" y="2103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29.99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37760" y="2542032"/>
            <a:ext cx="3657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074920" y="2542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0.15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37760" y="2980944"/>
            <a:ext cx="3657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74920" y="2980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34930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крапкою. Підходить для грошей.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  →  3.3333…  (завжди float)          10 // 3  →  3  (ціла частка)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71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Перетворення типів: int(), float(), str()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Явне перетворення — ваш головний інструмент після input()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669280" cy="34747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 → 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("35")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35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 → float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("29.99")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29.99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 → str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"42"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float → int (відкидає дробову частину)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(3.99)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44752"/>
            <a:ext cx="2331720" cy="347472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492240" y="1572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08483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492240" y="20848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274320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3401568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000000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492240" y="34015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4059936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000000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492240" y="405993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bool()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Практика: калькулятор покупки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Напишіть програму, яка: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50292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Запитує ціну товару (може бути дробовою)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572000" cy="50292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94360" y="207568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Запитує кількість одиниць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572000" cy="50292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94360" y="267004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 загальну суму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572000" cy="50292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94360" y="326440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9436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 суму зі знижкою 10%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572000" cy="50292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94360" y="385876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49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обидва результати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1371600"/>
            <a:ext cx="3566160" cy="17830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376672" y="14904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577840" y="14904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779008" y="14904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Ціна товару: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Кількість: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Сума: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Зі знижкою 10%: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324.0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273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Підказка: знижка = total * 0.9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bool: True і False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значення: True (правда) або False (неправда)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023360" cy="1920240"/>
          </a:xfrm>
          <a:prstGeom prst="rect">
            <a:avLst/>
          </a:prstGeom>
          <a:solidFill>
            <a:srgbClr val="F0FFF4"/>
          </a:solidFill>
          <a:ln w="1905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8A7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виконана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існує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не нуль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444752"/>
            <a:ext cx="4023360" cy="1920240"/>
          </a:xfrm>
          <a:prstGeom prst="rect">
            <a:avLst/>
          </a:prstGeom>
          <a:solidFill>
            <a:srgbClr val="FFF0F0"/>
          </a:solidFill>
          <a:ln w="1905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709160" y="1536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89204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не виконана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порожнє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=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5943600" cy="14173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30352" y="36393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731520" y="36393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932688" y="36393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is_adult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has_discount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4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'bool'&gt;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3520440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 чекає умовний оператор if — тоді bool стане незамінним!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str: текст, лапки, операції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033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11247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1247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955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Одинарні або подвійні лапки — однаково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name1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"Олена"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name2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'Іван'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Об'єднання рядків (конкатенація)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"Привіт, "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(greeting)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Привіт, Олена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Повторення рядка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"─"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────────────────────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Базові операції з рядками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92024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21208" y="1133856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21208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Довжина рядка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" y="1600200"/>
            <a:ext cx="3749040" cy="11155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685800" y="17190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886968" y="17190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1088136" y="17190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58368" y="192024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64008" cy="19202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818888" y="1133856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18888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Прибирає пробіли на краях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18888" y="1600200"/>
            <a:ext cx="3749040" cy="11155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983480" y="17190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184648" y="17190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385816" y="17190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956048" y="192024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Олена  "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"Олена"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64008" cy="192024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21208" y="3236976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21208" y="3236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737360" y="3273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Переводить у нижній регістр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" y="3703320"/>
            <a:ext cx="3749040" cy="11155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685800" y="3822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886968" y="3822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1088136" y="3822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658368" y="402336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"hello"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663440" y="3108960"/>
            <a:ext cx="64008" cy="1920240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4818888" y="3236976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818888" y="3236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upper()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35040" y="3273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Переводить у верхній регістр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18888" y="3703320"/>
            <a:ext cx="3749040" cy="11155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Shape 39"/>
          <p:cNvSpPr/>
          <p:nvPr/>
        </p:nvSpPr>
        <p:spPr>
          <a:xfrm>
            <a:off x="4983480" y="3822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Shape 40"/>
          <p:cNvSpPr/>
          <p:nvPr/>
        </p:nvSpPr>
        <p:spPr>
          <a:xfrm>
            <a:off x="5184648" y="3822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Shape 41"/>
          <p:cNvSpPr/>
          <p:nvPr/>
        </p:nvSpPr>
        <p:spPr>
          <a:xfrm>
            <a:off x="5385816" y="3822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4956048" y="402336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.upper()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"HELLO"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Індексація рядків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символ рядка має свій номер (індекс) — рахунок починається з 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" y="13487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" y="1371600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22376" y="13716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1115568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D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22376" y="2386584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22376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92808" y="1371600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1892808" y="13716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73352" y="1755648"/>
            <a:ext cx="1115568" cy="566928"/>
          </a:xfrm>
          <a:prstGeom prst="rect">
            <a:avLst/>
          </a:prstGeom>
          <a:solidFill>
            <a:srgbClr val="E3F4F0"/>
          </a:solidFill>
          <a:ln w="12700">
            <a:solidFill>
              <a:srgbClr val="C5CAD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1673352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892808" y="2386584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892808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63240" y="1371600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063240" y="13716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43784" y="1755648"/>
            <a:ext cx="1115568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D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2843784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063240" y="2386584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063240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33672" y="1371600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233672" y="13716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14216" y="1755648"/>
            <a:ext cx="1115568" cy="566928"/>
          </a:xfrm>
          <a:prstGeom prst="rect">
            <a:avLst/>
          </a:prstGeom>
          <a:solidFill>
            <a:srgbClr val="E3F4F0"/>
          </a:solidFill>
          <a:ln w="12700">
            <a:solidFill>
              <a:srgbClr val="C5CAD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014216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233672" y="2386584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233672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04104" y="1371600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5404104" y="13716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84648" y="1755648"/>
            <a:ext cx="1115568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C5CAD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184648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5404104" y="2386584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5404104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74536" y="1371600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6574536" y="13716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55080" y="1755648"/>
            <a:ext cx="1115568" cy="566928"/>
          </a:xfrm>
          <a:prstGeom prst="rect">
            <a:avLst/>
          </a:prstGeom>
          <a:solidFill>
            <a:srgbClr val="E3F4F0"/>
          </a:solidFill>
          <a:ln w="12700">
            <a:solidFill>
              <a:srgbClr val="C5CAD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6355080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</a:t>
            </a:r>
            <a:endParaRPr lang="en-US" sz="2600" dirty="0"/>
          </a:p>
        </p:txBody>
      </p:sp>
      <p:sp>
        <p:nvSpPr>
          <p:cNvPr id="41" name="Shape 39"/>
          <p:cNvSpPr/>
          <p:nvPr/>
        </p:nvSpPr>
        <p:spPr>
          <a:xfrm>
            <a:off x="6574536" y="2386584"/>
            <a:ext cx="566928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6574536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98664" y="1353312"/>
            <a:ext cx="566928" cy="32004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7598664" y="13533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598664" y="2386584"/>
            <a:ext cx="566928" cy="32004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7598664" y="2386584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3401568"/>
            <a:ext cx="4572000" cy="16002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Shape 46"/>
          <p:cNvSpPr/>
          <p:nvPr/>
        </p:nvSpPr>
        <p:spPr>
          <a:xfrm>
            <a:off x="621792" y="35204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Shape 47"/>
          <p:cNvSpPr/>
          <p:nvPr/>
        </p:nvSpPr>
        <p:spPr>
          <a:xfrm>
            <a:off x="822960" y="35204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Shape 48"/>
          <p:cNvSpPr/>
          <p:nvPr/>
        </p:nvSpPr>
        <p:spPr>
          <a:xfrm>
            <a:off x="1024128" y="35204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594360" y="37216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"Привіт"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"П"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"и"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"т"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"і"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257800" y="3401568"/>
            <a:ext cx="3474720" cy="160020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3" name="Text 51"/>
          <p:cNvSpPr/>
          <p:nvPr/>
        </p:nvSpPr>
        <p:spPr>
          <a:xfrm>
            <a:off x="5394960" y="35112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Запам'ятати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394960" y="3950208"/>
            <a:ext cx="54864" cy="2926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5" name="Text 53"/>
          <p:cNvSpPr/>
          <p:nvPr/>
        </p:nvSpPr>
        <p:spPr>
          <a:xfrm>
            <a:off x="5559552" y="39502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символ — індекс 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394960" y="4297680"/>
            <a:ext cx="54864" cy="2926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Text 55"/>
          <p:cNvSpPr/>
          <p:nvPr/>
        </p:nvSpPr>
        <p:spPr>
          <a:xfrm>
            <a:off x="5559552" y="4297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— завжди останній символ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394960" y="4645152"/>
            <a:ext cx="54864" cy="2926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9" name="Text 57"/>
          <p:cNvSpPr/>
          <p:nvPr/>
        </p:nvSpPr>
        <p:spPr>
          <a:xfrm>
            <a:off x="5559552" y="4645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Виходити за межі → помилка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Зрізи рядків (slicing)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Зріз дозволяє отримати частину рядка: s[початок : кінець : крок]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</a:t>
            </a:r>
            <a:r>
              <a:rPr lang="en-US" sz="17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початок</a:t>
            </a: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7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кінець</a:t>
            </a: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7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крок</a:t>
            </a:r>
            <a:r>
              <a:rPr lang="en-US" sz="17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7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кінець не включається!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754880" cy="25603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21792" y="2221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822960" y="2221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1024128" y="2221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4480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"Привіт"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r>
              <a:rPr lang="en-US" sz="14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"При"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r>
              <a:rPr lang="en-US" sz="14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"віт"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(s[: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"При"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(s[::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"тіввирП"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9240" y="2103120"/>
            <a:ext cx="3337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349240" y="2103120"/>
            <a:ext cx="54864" cy="54864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4864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s[0:3]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"При"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3720" y="2377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символи 0, 1,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2724912"/>
            <a:ext cx="3337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349240" y="2724912"/>
            <a:ext cx="54864" cy="54864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486400" y="2724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s[3:]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27249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"віт"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3 до кінця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3346704"/>
            <a:ext cx="3337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349240" y="3346704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486400" y="3346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s[:3]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3467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"При"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36210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початку до 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49240" y="3968496"/>
            <a:ext cx="3337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349240" y="3968496"/>
            <a:ext cx="54864" cy="548640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486400" y="3968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s[::-1]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39684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"тіввирП"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4242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задом наперед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94360" y="47365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 в Python незмінні — зріз повертає новий рядок, не змінює оригінал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Що треба запам'ятати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58368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типи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960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— головні типи для початку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0" cy="54864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1581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5819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можна перевірити, який тип у значення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54864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22037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2037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str — перетворюйте до int/float перед розрахунками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54864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" y="2825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 / float()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28254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явне перетворення типів — ваш основний інструмент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8229600" cy="54864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57200" y="3447288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58368" y="34472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для str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4472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склеює рядки, а не додає числа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54864" cy="54864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58368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/ strip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4069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базові інструменти обробки тексту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4773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Умовні оператори if / elif / else та логіка прийняття рішень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1145</Words>
  <Application>Microsoft Macintosh PowerPoint</Application>
  <PresentationFormat>On-screen Show (16:9)</PresentationFormat>
  <Paragraphs>295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2</dc:title>
  <dc:subject>PptxGenJS Presentation</dc:subject>
  <dc:creator>PptxGenJS</dc:creator>
  <cp:lastModifiedBy>Штефан Дмитро</cp:lastModifiedBy>
  <cp:revision>3</cp:revision>
  <dcterms:created xsi:type="dcterms:W3CDTF">2026-05-15T09:23:42Z</dcterms:created>
  <dcterms:modified xsi:type="dcterms:W3CDTF">2026-05-16T06:38:04Z</dcterms:modified>
</cp:coreProperties>
</file>