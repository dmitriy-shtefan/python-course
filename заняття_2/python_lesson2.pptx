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510"/>
    <p:restoredTop sz="94610"/>
  </p:normalViewPr>
  <p:slideViewPr>
    <p:cSldViewPr snapToGrid="0" snapToObjects="1">
      <p:cViewPr varScale="1">
        <p:scale>
          <a:sx n="199" d="100"/>
          <a:sy n="199" d="100"/>
        </p:scale>
        <p:origin x="1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06527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61B2E"/>
          </a:solidFill>
          <a:ln w="12700">
            <a:solidFill>
              <a:srgbClr val="161B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B8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Створення web-додатків з використанням Python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E8EEF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Заняття 2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Типи даних і перші розрахунки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2834640"/>
            <a:ext cx="3200400" cy="36576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5760720" y="1188720"/>
            <a:ext cx="3108960" cy="192024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589788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r>
              <a:rPr lang="en-US" sz="16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("Привіт")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897880" y="17190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897880" y="208483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r>
              <a:rPr lang="en-US" sz="16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(42)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897880" y="243230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Що вже знаємо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89520" y="164592"/>
            <a:ext cx="1371600" cy="347472"/>
          </a:xfrm>
          <a:prstGeom prst="roundRect">
            <a:avLst>
              <a:gd name="adj" fmla="val 18421"/>
            </a:avLst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7589520" y="16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Повторення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256032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4F0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📤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65760" y="166420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202996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виводить інформацію на екран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0" y="1051560"/>
            <a:ext cx="256032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4F0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3200400" y="109728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❓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200400" y="166420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input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200400" y="202996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запитує дані у користувача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56032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4F0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6035040" y="109728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💾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035040" y="166420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Змінні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035040" y="202996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зберігають значення під іменем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508760" y="2788920"/>
            <a:ext cx="256032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4F0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1508760" y="28346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🔢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508760" y="34015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Розрахунки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508760" y="37673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−  *  /  з числами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43400" y="2788920"/>
            <a:ext cx="256032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4F0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2" name="Text 20"/>
          <p:cNvSpPr/>
          <p:nvPr/>
        </p:nvSpPr>
        <p:spPr>
          <a:xfrm>
            <a:off x="4343400" y="28346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🔄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4343400" y="34015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int()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343400" y="37673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перетворює текст на ціле число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4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EEF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Сьогоднішня ціль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93256" y="1192237"/>
            <a:ext cx="8229600" cy="777240"/>
          </a:xfrm>
          <a:prstGeom prst="rect">
            <a:avLst/>
          </a:prstGeom>
          <a:solidFill>
            <a:srgbClr val="1E2450"/>
          </a:solidFill>
          <a:ln/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530416" y="1301965"/>
            <a:ext cx="502920" cy="502920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530416" y="130196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70496" y="1192237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Зрозуміти, що таке тип даних і чому це важливо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93256" y="2124925"/>
            <a:ext cx="8229600" cy="777240"/>
          </a:xfrm>
          <a:prstGeom prst="rect">
            <a:avLst/>
          </a:prstGeom>
          <a:solidFill>
            <a:srgbClr val="21294F"/>
          </a:solidFill>
          <a:ln/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530416" y="2234653"/>
            <a:ext cx="502920" cy="502920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530416" y="2234653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70496" y="2124925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Навчитись перевіряти тип значення через type()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93256" y="3057613"/>
            <a:ext cx="8229600" cy="777240"/>
          </a:xfrm>
          <a:prstGeom prst="rect">
            <a:avLst/>
          </a:prstGeom>
          <a:solidFill>
            <a:srgbClr val="1E2450"/>
          </a:solidFill>
          <a:ln/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2" name="Shape 10"/>
          <p:cNvSpPr/>
          <p:nvPr/>
        </p:nvSpPr>
        <p:spPr>
          <a:xfrm>
            <a:off x="530416" y="3167341"/>
            <a:ext cx="502920" cy="502920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530416" y="3167341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70496" y="3057613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Правильно перетворювати між типами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93256" y="3990301"/>
            <a:ext cx="8229600" cy="777240"/>
          </a:xfrm>
          <a:prstGeom prst="rect">
            <a:avLst/>
          </a:prstGeom>
          <a:solidFill>
            <a:srgbClr val="21294F"/>
          </a:solidFill>
          <a:ln/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530416" y="4100029"/>
            <a:ext cx="502920" cy="502920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530416" y="4100029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70496" y="3990301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Опанувати базові операції з рядками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Основні типи даних Python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89520" y="164592"/>
            <a:ext cx="1371600" cy="347472"/>
          </a:xfrm>
          <a:prstGeom prst="roundRect">
            <a:avLst>
              <a:gd name="adj" fmla="val 18421"/>
            </a:avLst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7589520" y="16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Теорія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40233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64008" cy="1691640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521208" y="1216152"/>
            <a:ext cx="91440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521208" y="12161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B8F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121615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🔢  Цілі числа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21208" y="173736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B8F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42,  -7,  0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663440" y="1051560"/>
            <a:ext cx="40233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2" name="Shape 10"/>
          <p:cNvSpPr/>
          <p:nvPr/>
        </p:nvSpPr>
        <p:spPr>
          <a:xfrm>
            <a:off x="4663440" y="1051560"/>
            <a:ext cx="64008" cy="169164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4818888" y="1216152"/>
            <a:ext cx="91440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4818888" y="12161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852160" y="121615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 Числа з крапкою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173736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3.14,  -0.5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65760" y="2971800"/>
            <a:ext cx="40233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8" name="Shape 16"/>
          <p:cNvSpPr/>
          <p:nvPr/>
        </p:nvSpPr>
        <p:spPr>
          <a:xfrm>
            <a:off x="365760" y="2971800"/>
            <a:ext cx="64008" cy="1691640"/>
          </a:xfrm>
          <a:prstGeom prst="rect">
            <a:avLst/>
          </a:prstGeom>
          <a:solidFill>
            <a:srgbClr val="FF9D6C"/>
          </a:solidFill>
          <a:ln w="12700">
            <a:solidFill>
              <a:srgbClr val="FF9D6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Shape 17"/>
          <p:cNvSpPr/>
          <p:nvPr/>
        </p:nvSpPr>
        <p:spPr>
          <a:xfrm>
            <a:off x="521208" y="3136392"/>
            <a:ext cx="91440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FF9D6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521208" y="31363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554480" y="313639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Текстові рядки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21208" y="365760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"Олена",  "Київ"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663440" y="2971800"/>
            <a:ext cx="40233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4" name="Shape 22"/>
          <p:cNvSpPr/>
          <p:nvPr/>
        </p:nvSpPr>
        <p:spPr>
          <a:xfrm>
            <a:off x="4663440" y="2971800"/>
            <a:ext cx="64008" cy="1691640"/>
          </a:xfrm>
          <a:prstGeom prst="rect">
            <a:avLst/>
          </a:prstGeom>
          <a:solidFill>
            <a:srgbClr val="C9A0FF"/>
          </a:solidFill>
          <a:ln w="12700">
            <a:solidFill>
              <a:srgbClr val="C9A0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Shape 23"/>
          <p:cNvSpPr/>
          <p:nvPr/>
        </p:nvSpPr>
        <p:spPr>
          <a:xfrm>
            <a:off x="4818888" y="3136392"/>
            <a:ext cx="91440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C9A0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4818888" y="31363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852160" y="313639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True або False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818888" y="365760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True,  False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Значення і тип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89520" y="164592"/>
            <a:ext cx="1371600" cy="347472"/>
          </a:xfrm>
          <a:prstGeom prst="roundRect">
            <a:avLst>
              <a:gd name="adj" fmla="val 18421"/>
            </a:avLst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7589520" y="16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Концепція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значення в Python має тип — навіть якщо ми не вказуємо його явно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82296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4F0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64008" cy="713232"/>
          </a:xfrm>
          <a:prstGeom prst="rect">
            <a:avLst/>
          </a:prstGeom>
          <a:solidFill>
            <a:srgbClr val="FF9D6C"/>
          </a:solidFill>
          <a:ln w="12700">
            <a:solidFill>
              <a:srgbClr val="FF9D6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658368" y="146304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"Олена"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017520" y="1463040"/>
            <a:ext cx="457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566160" y="1618488"/>
            <a:ext cx="1005840" cy="384048"/>
          </a:xfrm>
          <a:prstGeom prst="roundRect">
            <a:avLst>
              <a:gd name="adj" fmla="val 11905"/>
            </a:avLst>
          </a:prstGeom>
          <a:solidFill>
            <a:srgbClr val="000000"/>
          </a:solidFill>
          <a:ln w="12700">
            <a:solidFill>
              <a:srgbClr val="FF9D6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3566160" y="161848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1463040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рядок тексту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2304288"/>
            <a:ext cx="82296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4F0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4" name="Shape 12"/>
          <p:cNvSpPr/>
          <p:nvPr/>
        </p:nvSpPr>
        <p:spPr>
          <a:xfrm>
            <a:off x="457200" y="2304288"/>
            <a:ext cx="64008" cy="713232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658368" y="2304288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5B8F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017520" y="2304288"/>
            <a:ext cx="457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566160" y="2459736"/>
            <a:ext cx="1005840" cy="384048"/>
          </a:xfrm>
          <a:prstGeom prst="roundRect">
            <a:avLst>
              <a:gd name="adj" fmla="val 11905"/>
            </a:avLst>
          </a:prstGeom>
          <a:solidFill>
            <a:srgbClr val="000000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3566160" y="245973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B8F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754880" y="2304288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ціле число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57200" y="3145536"/>
            <a:ext cx="82296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4F0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1" name="Shape 19"/>
          <p:cNvSpPr/>
          <p:nvPr/>
        </p:nvSpPr>
        <p:spPr>
          <a:xfrm>
            <a:off x="457200" y="3145536"/>
            <a:ext cx="64008" cy="713232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Text 20"/>
          <p:cNvSpPr/>
          <p:nvPr/>
        </p:nvSpPr>
        <p:spPr>
          <a:xfrm>
            <a:off x="658368" y="314553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3.14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017520" y="3145536"/>
            <a:ext cx="457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3566160" y="3300984"/>
            <a:ext cx="1005840" cy="384048"/>
          </a:xfrm>
          <a:prstGeom prst="roundRect">
            <a:avLst>
              <a:gd name="adj" fmla="val 11905"/>
            </a:avLst>
          </a:prstGeom>
          <a:solidFill>
            <a:srgbClr val="00000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3566160" y="33009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754880" y="3145536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число з крапкою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457200" y="3986784"/>
            <a:ext cx="82296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4F0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8" name="Shape 26"/>
          <p:cNvSpPr/>
          <p:nvPr/>
        </p:nvSpPr>
        <p:spPr>
          <a:xfrm>
            <a:off x="457200" y="3986784"/>
            <a:ext cx="64008" cy="713232"/>
          </a:xfrm>
          <a:prstGeom prst="rect">
            <a:avLst/>
          </a:prstGeom>
          <a:solidFill>
            <a:srgbClr val="C9A0FF"/>
          </a:solidFill>
          <a:ln w="12700">
            <a:solidFill>
              <a:srgbClr val="C9A0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Text 27"/>
          <p:cNvSpPr/>
          <p:nvPr/>
        </p:nvSpPr>
        <p:spPr>
          <a:xfrm>
            <a:off x="658368" y="398678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3017520" y="3986784"/>
            <a:ext cx="457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3566160" y="4142232"/>
            <a:ext cx="1005840" cy="384048"/>
          </a:xfrm>
          <a:prstGeom prst="roundRect">
            <a:avLst>
              <a:gd name="adj" fmla="val 11905"/>
            </a:avLst>
          </a:prstGeom>
          <a:solidFill>
            <a:srgbClr val="000000"/>
          </a:solidFill>
          <a:ln w="12700">
            <a:solidFill>
              <a:srgbClr val="C9A0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2" name="Text 30"/>
          <p:cNvSpPr/>
          <p:nvPr/>
        </p:nvSpPr>
        <p:spPr>
          <a:xfrm>
            <a:off x="3566160" y="414223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754880" y="3986784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логічне значення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Функція type()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89520" y="164592"/>
            <a:ext cx="1371600" cy="347472"/>
          </a:xfrm>
          <a:prstGeom prst="roundRect">
            <a:avLst>
              <a:gd name="adj" fmla="val 18421"/>
            </a:avLst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7589520" y="16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Теорія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Перевіряє, якого типу є значення або змінна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444752"/>
            <a:ext cx="5029200" cy="338328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621792" y="1563624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822960" y="1563624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1024128" y="1563624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594360" y="1764792"/>
            <a:ext cx="47548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5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r>
              <a:rPr lang="en-US" sz="15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("Привіт"))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</a:t>
            </a:r>
            <a:r>
              <a:rPr lang="en-US" sz="1500" dirty="0">
                <a:solidFill>
                  <a:srgbClr val="FFD5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&lt;class 'str'&gt;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5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r>
              <a:rPr lang="en-US" sz="15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(42))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</a:t>
            </a:r>
            <a:r>
              <a:rPr lang="en-US" sz="1500" dirty="0">
                <a:solidFill>
                  <a:srgbClr val="FFD5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&lt;class 'int'&gt;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r>
              <a:rPr lang="en-US" sz="15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5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3.14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5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r>
              <a:rPr lang="en-US" sz="15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(x))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</a:t>
            </a:r>
            <a:r>
              <a:rPr lang="en-US" sz="1500" dirty="0">
                <a:solidFill>
                  <a:srgbClr val="FFD5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&lt;class 'float'&gt;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715000" y="1444752"/>
            <a:ext cx="2971800" cy="3383280"/>
          </a:xfrm>
          <a:prstGeom prst="rect">
            <a:avLst/>
          </a:prstGeom>
          <a:solidFill>
            <a:srgbClr val="1A1F36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5852160" y="157276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8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Коли використовувати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852160" y="2148840"/>
            <a:ext cx="54864" cy="50292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6035040" y="214884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Щось пішло не так — перевір тип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852160" y="2953512"/>
            <a:ext cx="54864" cy="50292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6035040" y="2953512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 операціями з числами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3758184"/>
            <a:ext cx="54864" cy="50292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6035040" y="375818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Після input() — завжди str!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input() завжди повертає str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89520" y="164592"/>
            <a:ext cx="1371600" cy="347472"/>
          </a:xfrm>
          <a:prstGeom prst="roundRect">
            <a:avLst>
              <a:gd name="adj" fmla="val 18421"/>
            </a:avLst>
          </a:prstGeom>
          <a:solidFill>
            <a:srgbClr val="E84855"/>
          </a:solidFill>
          <a:ln w="12700">
            <a:solidFill>
              <a:srgbClr val="E8485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7589520" y="16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Важливо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Навіть якщо людина ввела число — Python отримає його як текст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6858000" cy="196596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621792" y="1581912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822960" y="1581912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1024128" y="1581912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594360" y="1783080"/>
            <a:ext cx="6583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</a:t>
            </a:r>
            <a:r>
              <a:rPr lang="en-US" sz="16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6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6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("Скільки вам років? ")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людина ввела: 35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6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r>
              <a:rPr lang="en-US" sz="16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(age))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</a:t>
            </a:r>
            <a:r>
              <a:rPr lang="en-US" sz="1600" dirty="0">
                <a:solidFill>
                  <a:srgbClr val="FFD5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&lt;class 'str'&gt;</a:t>
            </a:r>
            <a:r>
              <a:rPr lang="en-US" sz="16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← не int!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611880"/>
            <a:ext cx="8229600" cy="658368"/>
          </a:xfrm>
          <a:prstGeom prst="rect">
            <a:avLst/>
          </a:prstGeom>
          <a:solidFill>
            <a:srgbClr val="FFF3CD"/>
          </a:solidFill>
          <a:ln w="1905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594360" y="3611880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input() — це завжди рядок. Щоб рахувати числа, потрібно перетворити тип явно.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4348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 вводить: "35"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0" y="44348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Python отримує: 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43600" y="44348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"35"  (str!)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Чому "25" і 25 — різні речі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3977640" cy="384048"/>
          </a:xfrm>
          <a:prstGeom prst="rect">
            <a:avLst/>
          </a:prstGeom>
          <a:solidFill>
            <a:srgbClr val="FF9D6C"/>
          </a:solidFill>
          <a:ln w="12700">
            <a:solidFill>
              <a:srgbClr val="FF9D6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"25"  —  str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1444752"/>
            <a:ext cx="3977640" cy="182880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530352" y="1563624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731520" y="1563624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932688" y="1563624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502920" y="1764792"/>
            <a:ext cx="3703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r>
              <a:rPr lang="en-US" sz="15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5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"25"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r>
              <a:rPr lang="en-US" sz="15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5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"10"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5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+ b)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</a:t>
            </a:r>
            <a:r>
              <a:rPr lang="en-US" sz="15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"2510"</a:t>
            </a:r>
            <a:r>
              <a:rPr lang="en-US" sz="15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← склейка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800600" y="1005840"/>
            <a:ext cx="3977640" cy="384048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4892040" y="100584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 —  int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800600" y="1444752"/>
            <a:ext cx="3977640" cy="182880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4965192" y="1563624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Shape 12"/>
          <p:cNvSpPr/>
          <p:nvPr/>
        </p:nvSpPr>
        <p:spPr>
          <a:xfrm>
            <a:off x="5166360" y="1563624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5367528" y="1563624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4937760" y="1764792"/>
            <a:ext cx="3703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r>
              <a:rPr lang="en-US" sz="15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5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r>
              <a:rPr lang="en-US" sz="15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5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5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+ b)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</a:t>
            </a:r>
            <a:r>
              <a:rPr lang="en-US" sz="15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</a:t>
            </a:r>
            <a:r>
              <a:rPr lang="en-US" sz="15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← сума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65760" y="3456432"/>
            <a:ext cx="8412480" cy="1417320"/>
          </a:xfrm>
          <a:prstGeom prst="rect">
            <a:avLst/>
          </a:prstGeom>
          <a:solidFill>
            <a:srgbClr val="1A1F36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548640" y="3456432"/>
            <a:ext cx="8046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Python + над рядками — це склейка, а не сума.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визначає, як Python виконує операцію.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 і float: числа для розрахунків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89520" y="164592"/>
            <a:ext cx="1371600" cy="347472"/>
          </a:xfrm>
          <a:prstGeom prst="roundRect">
            <a:avLst>
              <a:gd name="adj" fmla="val 18421"/>
            </a:avLst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7589520" y="16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Теорія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41148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4F0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4114800" cy="73152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548640" y="1143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5B8F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16459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Цілі числа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103120"/>
            <a:ext cx="36576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685800" y="210312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4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= 35</a:t>
            </a:r>
            <a:endParaRPr lang="en-US" sz="1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2542032"/>
            <a:ext cx="36576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685800" y="254203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4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quantity = 10</a:t>
            </a:r>
            <a:endParaRPr lang="en-US" sz="1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48640" y="2980944"/>
            <a:ext cx="36576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685800" y="298094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4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 = 2026</a:t>
            </a:r>
            <a:endParaRPr lang="en-US" sz="1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548640" y="349300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крапки. Точний результат.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1005840"/>
            <a:ext cx="41148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4F0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7" name="Shape 15"/>
          <p:cNvSpPr/>
          <p:nvPr/>
        </p:nvSpPr>
        <p:spPr>
          <a:xfrm>
            <a:off x="4754880" y="1005840"/>
            <a:ext cx="4114800" cy="73152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4937760" y="1143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937760" y="16459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Дробові числа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937760" y="2103120"/>
            <a:ext cx="36576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5074920" y="210312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4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 = 29.99</a:t>
            </a:r>
            <a:endParaRPr lang="en-US" sz="1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937760" y="2542032"/>
            <a:ext cx="36576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5074920" y="254203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4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rate = 0.15</a:t>
            </a:r>
            <a:endParaRPr lang="en-US" sz="1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937760" y="2980944"/>
            <a:ext cx="36576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5074920" y="298094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4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 = 3.14159</a:t>
            </a:r>
            <a:endParaRPr lang="en-US" sz="1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6" name="Text 24"/>
          <p:cNvSpPr/>
          <p:nvPr/>
        </p:nvSpPr>
        <p:spPr>
          <a:xfrm>
            <a:off x="4937760" y="349300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крапкою. Підходить для грошей.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4206240"/>
            <a:ext cx="8412480" cy="713232"/>
          </a:xfrm>
          <a:prstGeom prst="rect">
            <a:avLst/>
          </a:prstGeom>
          <a:solidFill>
            <a:srgbClr val="000000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8" name="Text 26"/>
          <p:cNvSpPr/>
          <p:nvPr/>
        </p:nvSpPr>
        <p:spPr>
          <a:xfrm>
            <a:off x="548640" y="4206240"/>
            <a:ext cx="8046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4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3  →  3.3333…  (завжди float)          10 // 3  →  3  (ціла частка)</a:t>
            </a:r>
            <a:endParaRPr lang="en-US" sz="15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718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Перетворення типів: int(), float(), str()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589520" y="164592"/>
            <a:ext cx="1371600" cy="347472"/>
          </a:xfrm>
          <a:prstGeom prst="roundRect">
            <a:avLst>
              <a:gd name="adj" fmla="val 18421"/>
            </a:avLst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7589520" y="16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Теорія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Явне перетворення — ваш головний інструмент після input()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444752"/>
            <a:ext cx="5669280" cy="347472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621792" y="1563624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822960" y="1563624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1024128" y="1563624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594360" y="1764792"/>
            <a:ext cx="53949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str → int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</a:t>
            </a: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4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4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("35")</a:t>
            </a: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35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str → float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</a:t>
            </a: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4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r>
              <a:rPr lang="en-US" sz="14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("29.99")</a:t>
            </a: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29.99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int → str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</a:t>
            </a: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4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r>
              <a:rPr lang="en-US" sz="14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(42)</a:t>
            </a: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# "42"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float → int (відкидає дробову частину)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4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4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(3.99)</a:t>
            </a: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# 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0" y="1444752"/>
            <a:ext cx="2331720" cy="3474720"/>
          </a:xfrm>
          <a:prstGeom prst="rect">
            <a:avLst/>
          </a:prstGeom>
          <a:solidFill>
            <a:srgbClr val="1A1F36"/>
          </a:solidFill>
          <a:ln/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6492240" y="157276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8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Шпаргалка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0" y="2084832"/>
            <a:ext cx="2057400" cy="475488"/>
          </a:xfrm>
          <a:prstGeom prst="roundRect">
            <a:avLst>
              <a:gd name="adj" fmla="val 9615"/>
            </a:avLst>
          </a:prstGeom>
          <a:solidFill>
            <a:srgbClr val="000000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6492240" y="2084832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B8F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92240" y="2743200"/>
            <a:ext cx="2057400" cy="475488"/>
          </a:xfrm>
          <a:prstGeom prst="roundRect">
            <a:avLst>
              <a:gd name="adj" fmla="val 9615"/>
            </a:avLst>
          </a:prstGeom>
          <a:solidFill>
            <a:srgbClr val="00000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6492240" y="2743200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float()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492240" y="3401568"/>
            <a:ext cx="2057400" cy="475488"/>
          </a:xfrm>
          <a:prstGeom prst="roundRect">
            <a:avLst>
              <a:gd name="adj" fmla="val 9615"/>
            </a:avLst>
          </a:prstGeom>
          <a:solidFill>
            <a:srgbClr val="000000"/>
          </a:solidFill>
          <a:ln w="12700">
            <a:solidFill>
              <a:srgbClr val="FF9D6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6492240" y="3401568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str()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492240" y="4059936"/>
            <a:ext cx="2057400" cy="475488"/>
          </a:xfrm>
          <a:prstGeom prst="roundRect">
            <a:avLst>
              <a:gd name="adj" fmla="val 9615"/>
            </a:avLst>
          </a:prstGeom>
          <a:solidFill>
            <a:srgbClr val="000000"/>
          </a:solidFill>
          <a:ln w="12700">
            <a:solidFill>
              <a:srgbClr val="C9A0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6492240" y="405993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bool()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8EEF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⌨️  Практика: калькулятор покупки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Напишіть програму, яка: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572000" cy="502920"/>
          </a:xfrm>
          <a:prstGeom prst="rect">
            <a:avLst/>
          </a:prstGeom>
          <a:solidFill>
            <a:srgbClr val="1A2640"/>
          </a:solidFill>
          <a:ln/>
          <a:effectLst>
            <a:outerShdw blurRad="635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384048" cy="384048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9436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137160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Запитує ціну товару (може бути дробовою)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4572000" cy="502920"/>
          </a:xfrm>
          <a:prstGeom prst="rect">
            <a:avLst/>
          </a:prstGeom>
          <a:solidFill>
            <a:srgbClr val="1A2640"/>
          </a:solidFill>
          <a:ln/>
          <a:effectLst>
            <a:outerShdw blurRad="635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594360" y="2075688"/>
            <a:ext cx="384048" cy="384048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594360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19659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Запитує кількість одиниць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560320"/>
            <a:ext cx="4572000" cy="502920"/>
          </a:xfrm>
          <a:prstGeom prst="rect">
            <a:avLst/>
          </a:prstGeom>
          <a:solidFill>
            <a:srgbClr val="1A2640"/>
          </a:solidFill>
          <a:ln/>
          <a:effectLst>
            <a:outerShdw blurRad="635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594360" y="2670048"/>
            <a:ext cx="384048" cy="384048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594360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256032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Рахує загальну суму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154680"/>
            <a:ext cx="4572000" cy="502920"/>
          </a:xfrm>
          <a:prstGeom prst="rect">
            <a:avLst/>
          </a:prstGeom>
          <a:solidFill>
            <a:srgbClr val="1A2640"/>
          </a:solidFill>
          <a:ln/>
          <a:effectLst>
            <a:outerShdw blurRad="635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7" name="Shape 15"/>
          <p:cNvSpPr/>
          <p:nvPr/>
        </p:nvSpPr>
        <p:spPr>
          <a:xfrm>
            <a:off x="594360" y="3264408"/>
            <a:ext cx="384048" cy="384048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594360" y="3264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97280" y="31546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Рахує суму зі знижкою 10%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749040"/>
            <a:ext cx="4572000" cy="502920"/>
          </a:xfrm>
          <a:prstGeom prst="rect">
            <a:avLst/>
          </a:prstGeom>
          <a:solidFill>
            <a:srgbClr val="1A2640"/>
          </a:solidFill>
          <a:ln/>
          <a:effectLst>
            <a:outerShdw blurRad="635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1" name="Shape 19"/>
          <p:cNvSpPr/>
          <p:nvPr/>
        </p:nvSpPr>
        <p:spPr>
          <a:xfrm>
            <a:off x="594360" y="3858768"/>
            <a:ext cx="384048" cy="384048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Text 20"/>
          <p:cNvSpPr/>
          <p:nvPr/>
        </p:nvSpPr>
        <p:spPr>
          <a:xfrm>
            <a:off x="594360" y="3858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37490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Виводить обидва результати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212080" y="1371600"/>
            <a:ext cx="3566160" cy="178308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Shape 23"/>
          <p:cNvSpPr/>
          <p:nvPr/>
        </p:nvSpPr>
        <p:spPr>
          <a:xfrm>
            <a:off x="5376672" y="1490472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Shape 24"/>
          <p:cNvSpPr/>
          <p:nvPr/>
        </p:nvSpPr>
        <p:spPr>
          <a:xfrm>
            <a:off x="5577840" y="1490472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7" name="Shape 25"/>
          <p:cNvSpPr/>
          <p:nvPr/>
        </p:nvSpPr>
        <p:spPr>
          <a:xfrm>
            <a:off x="5779008" y="1490472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8" name="Text 26"/>
          <p:cNvSpPr/>
          <p:nvPr/>
        </p:nvSpPr>
        <p:spPr>
          <a:xfrm>
            <a:off x="534924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Ціна товару: </a:t>
            </a:r>
            <a:r>
              <a:rPr lang="en-US" sz="13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120.0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Кількість: </a:t>
            </a:r>
            <a:r>
              <a:rPr lang="en-US" sz="13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Сума: </a:t>
            </a:r>
            <a:r>
              <a:rPr lang="en-US" sz="13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360.0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Зі знижкою 10%: </a:t>
            </a:r>
            <a:r>
              <a:rPr lang="en-US" sz="13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324.0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212080" y="327355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Підказка: знижка = total * 0.9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bool: True і False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89520" y="164592"/>
            <a:ext cx="1371600" cy="347472"/>
          </a:xfrm>
          <a:prstGeom prst="roundRect">
            <a:avLst>
              <a:gd name="adj" fmla="val 18421"/>
            </a:avLst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7589520" y="16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Теорія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значення: True (правда) або False (неправда)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1444752"/>
            <a:ext cx="4023360" cy="1920240"/>
          </a:xfrm>
          <a:prstGeom prst="rect">
            <a:avLst/>
          </a:prstGeom>
          <a:solidFill>
            <a:srgbClr val="F0FFF4"/>
          </a:solidFill>
          <a:ln w="19050">
            <a:solidFill>
              <a:srgbClr val="28A74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365760" y="1536192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8A7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Умова виконана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Значення існує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Число не нуль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09160" y="1444752"/>
            <a:ext cx="4023360" cy="1920240"/>
          </a:xfrm>
          <a:prstGeom prst="rect">
            <a:avLst/>
          </a:prstGeom>
          <a:solidFill>
            <a:srgbClr val="FFF0F0"/>
          </a:solidFill>
          <a:ln w="19050">
            <a:solidFill>
              <a:srgbClr val="E8485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4709160" y="1536192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848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892040" y="2377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Умова не виконана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Значення порожнє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Число = 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3520440"/>
            <a:ext cx="5943600" cy="141732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530352" y="3639312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Shape 12"/>
          <p:cNvSpPr/>
          <p:nvPr/>
        </p:nvSpPr>
        <p:spPr>
          <a:xfrm>
            <a:off x="731520" y="3639312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932688" y="3639312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502920" y="384048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is_adult</a:t>
            </a: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400" dirty="0">
                <a:solidFill>
                  <a:srgbClr val="FFD5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has_discount</a:t>
            </a: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400" dirty="0">
                <a:solidFill>
                  <a:srgbClr val="E84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4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r>
              <a:rPr lang="en-US" sz="14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(True))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</a:t>
            </a:r>
            <a:r>
              <a:rPr lang="en-US" sz="1400" dirty="0">
                <a:solidFill>
                  <a:srgbClr val="FFD5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&lt;class 'bool'&gt;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73952" y="3520440"/>
            <a:ext cx="230428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 чекає умовний оператор if — тоді bool стане незамінним!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str: текст, лапки, операції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89520" y="164592"/>
            <a:ext cx="1371600" cy="347472"/>
          </a:xfrm>
          <a:prstGeom prst="roundRect">
            <a:avLst>
              <a:gd name="adj" fmla="val 18421"/>
            </a:avLst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7589520" y="16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Теорія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370332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621792" y="1124712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822960" y="1124712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1024128" y="1124712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594360" y="1325880"/>
            <a:ext cx="7955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Одинарні або подвійні лапки — однаково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name1</a:t>
            </a: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4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"Олена"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name2</a:t>
            </a: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4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'Іван'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Об'єднання рядків (конкатенація)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greeting</a:t>
            </a: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4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"Привіт, "</a:t>
            </a: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+ </a:t>
            </a:r>
            <a:r>
              <a:rPr lang="en-US" sz="14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name1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4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(greeting)</a:t>
            </a: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Привіт, Олена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Повторення рядка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</a:t>
            </a: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4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"─"</a:t>
            </a: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* </a:t>
            </a:r>
            <a:r>
              <a:rPr lang="en-US" sz="14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4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(line)</a:t>
            </a: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────────────────────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Базові операції з рядками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89520" y="164592"/>
            <a:ext cx="1371600" cy="347472"/>
          </a:xfrm>
          <a:prstGeom prst="roundRect">
            <a:avLst>
              <a:gd name="adj" fmla="val 18421"/>
            </a:avLst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7589520" y="16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Практика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40690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4F0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64008" cy="1920240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521208" y="1133856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521208" y="113385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B8F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len()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737360" y="117043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Довжина рядка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21208" y="1600200"/>
            <a:ext cx="3749040" cy="1115568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Shape 9"/>
          <p:cNvSpPr/>
          <p:nvPr/>
        </p:nvSpPr>
        <p:spPr>
          <a:xfrm>
            <a:off x="685800" y="1719072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Shape 10"/>
          <p:cNvSpPr/>
          <p:nvPr/>
        </p:nvSpPr>
        <p:spPr>
          <a:xfrm>
            <a:off x="886968" y="1719072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1088136" y="1719072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658368" y="1920240"/>
            <a:ext cx="3474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4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("Привіт")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7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63440" y="1005840"/>
            <a:ext cx="40690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4F0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4663440" y="1005840"/>
            <a:ext cx="64008" cy="192024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Shape 15"/>
          <p:cNvSpPr/>
          <p:nvPr/>
        </p:nvSpPr>
        <p:spPr>
          <a:xfrm>
            <a:off x="4818888" y="1133856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4818888" y="113385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strip()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035040" y="117043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Прибирає пробіли на краях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18888" y="1600200"/>
            <a:ext cx="3749040" cy="1115568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Shape 19"/>
          <p:cNvSpPr/>
          <p:nvPr/>
        </p:nvSpPr>
        <p:spPr>
          <a:xfrm>
            <a:off x="4983480" y="1719072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Shape 20"/>
          <p:cNvSpPr/>
          <p:nvPr/>
        </p:nvSpPr>
        <p:spPr>
          <a:xfrm>
            <a:off x="5184648" y="1719072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Shape 21"/>
          <p:cNvSpPr/>
          <p:nvPr/>
        </p:nvSpPr>
        <p:spPr>
          <a:xfrm>
            <a:off x="5385816" y="1719072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4956048" y="1920240"/>
            <a:ext cx="3474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 Олена  "</a:t>
            </a:r>
            <a:r>
              <a:rPr lang="en-US" sz="14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.strip()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"Олена"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65760" y="3108960"/>
            <a:ext cx="40690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4F0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6" name="Shape 24"/>
          <p:cNvSpPr/>
          <p:nvPr/>
        </p:nvSpPr>
        <p:spPr>
          <a:xfrm>
            <a:off x="365760" y="3108960"/>
            <a:ext cx="64008" cy="1920240"/>
          </a:xfrm>
          <a:prstGeom prst="rect">
            <a:avLst/>
          </a:prstGeom>
          <a:solidFill>
            <a:srgbClr val="FF9D6C"/>
          </a:solidFill>
          <a:ln w="12700">
            <a:solidFill>
              <a:srgbClr val="FF9D6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7" name="Shape 25"/>
          <p:cNvSpPr/>
          <p:nvPr/>
        </p:nvSpPr>
        <p:spPr>
          <a:xfrm>
            <a:off x="521208" y="3236976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FF9D6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8" name="Text 26"/>
          <p:cNvSpPr/>
          <p:nvPr/>
        </p:nvSpPr>
        <p:spPr>
          <a:xfrm>
            <a:off x="521208" y="323697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lower()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737360" y="327355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Переводить у нижній регістр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21208" y="3703320"/>
            <a:ext cx="3749040" cy="1115568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Shape 29"/>
          <p:cNvSpPr/>
          <p:nvPr/>
        </p:nvSpPr>
        <p:spPr>
          <a:xfrm>
            <a:off x="685800" y="3822192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2" name="Shape 30"/>
          <p:cNvSpPr/>
          <p:nvPr/>
        </p:nvSpPr>
        <p:spPr>
          <a:xfrm>
            <a:off x="886968" y="3822192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3" name="Shape 31"/>
          <p:cNvSpPr/>
          <p:nvPr/>
        </p:nvSpPr>
        <p:spPr>
          <a:xfrm>
            <a:off x="1088136" y="3822192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4" name="Text 32"/>
          <p:cNvSpPr/>
          <p:nvPr/>
        </p:nvSpPr>
        <p:spPr>
          <a:xfrm>
            <a:off x="658368" y="4023360"/>
            <a:ext cx="3474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"HELLO"</a:t>
            </a:r>
            <a:r>
              <a:rPr lang="en-US" sz="14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.lower()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"hello"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663440" y="3108960"/>
            <a:ext cx="40690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4F0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6" name="Shape 34"/>
          <p:cNvSpPr/>
          <p:nvPr/>
        </p:nvSpPr>
        <p:spPr>
          <a:xfrm>
            <a:off x="4663440" y="3108960"/>
            <a:ext cx="64008" cy="1920240"/>
          </a:xfrm>
          <a:prstGeom prst="rect">
            <a:avLst/>
          </a:prstGeom>
          <a:solidFill>
            <a:srgbClr val="C9A0FF"/>
          </a:solidFill>
          <a:ln w="12700">
            <a:solidFill>
              <a:srgbClr val="C9A0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7" name="Shape 35"/>
          <p:cNvSpPr/>
          <p:nvPr/>
        </p:nvSpPr>
        <p:spPr>
          <a:xfrm>
            <a:off x="4818888" y="3236976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C9A0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8" name="Text 36"/>
          <p:cNvSpPr/>
          <p:nvPr/>
        </p:nvSpPr>
        <p:spPr>
          <a:xfrm>
            <a:off x="4818888" y="323697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upper()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6035040" y="327355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Переводить у верхній регістр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818888" y="3703320"/>
            <a:ext cx="3749040" cy="1115568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1" name="Shape 39"/>
          <p:cNvSpPr/>
          <p:nvPr/>
        </p:nvSpPr>
        <p:spPr>
          <a:xfrm>
            <a:off x="4983480" y="3822192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2" name="Shape 40"/>
          <p:cNvSpPr/>
          <p:nvPr/>
        </p:nvSpPr>
        <p:spPr>
          <a:xfrm>
            <a:off x="5184648" y="3822192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3" name="Shape 41"/>
          <p:cNvSpPr/>
          <p:nvPr/>
        </p:nvSpPr>
        <p:spPr>
          <a:xfrm>
            <a:off x="5385816" y="3822192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4" name="Text 42"/>
          <p:cNvSpPr/>
          <p:nvPr/>
        </p:nvSpPr>
        <p:spPr>
          <a:xfrm>
            <a:off x="4956048" y="4023360"/>
            <a:ext cx="3474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"hello"</a:t>
            </a:r>
            <a:r>
              <a:rPr lang="en-US" sz="14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.upper()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"HELLO"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F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61B2E"/>
          </a:solidFill>
          <a:ln w="12700">
            <a:solidFill>
              <a:srgbClr val="161B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EF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✅  Що треба запам'ятати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solidFill>
            <a:srgbClr val="1E2450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54864" cy="54864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658368" y="9601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типи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0" y="96012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int, float, str, bool — головні типи для початку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1581912"/>
            <a:ext cx="8229600" cy="548640"/>
          </a:xfrm>
          <a:prstGeom prst="rect">
            <a:avLst/>
          </a:prstGeom>
          <a:solidFill>
            <a:srgbClr val="202847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457200" y="1581912"/>
            <a:ext cx="54864" cy="54864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658368" y="158191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type()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743200" y="1581912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завжди можна перевірити, який тип у значення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203704"/>
            <a:ext cx="8229600" cy="548640"/>
          </a:xfrm>
          <a:prstGeom prst="rect">
            <a:avLst/>
          </a:prstGeom>
          <a:solidFill>
            <a:srgbClr val="1E2450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4" name="Shape 12"/>
          <p:cNvSpPr/>
          <p:nvPr/>
        </p:nvSpPr>
        <p:spPr>
          <a:xfrm>
            <a:off x="457200" y="2203704"/>
            <a:ext cx="54864" cy="54864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658368" y="220370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input()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743200" y="2203704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повертає str — перетворюйте до int/float перед розрахунками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2825496"/>
            <a:ext cx="8229600" cy="548640"/>
          </a:xfrm>
          <a:prstGeom prst="rect">
            <a:avLst/>
          </a:prstGeom>
          <a:solidFill>
            <a:srgbClr val="202847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8" name="Shape 16"/>
          <p:cNvSpPr/>
          <p:nvPr/>
        </p:nvSpPr>
        <p:spPr>
          <a:xfrm>
            <a:off x="457200" y="2825496"/>
            <a:ext cx="54864" cy="54864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658368" y="2825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int() / float()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743200" y="2825496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явне перетворення типів — ваш основний інструмент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3447288"/>
            <a:ext cx="8229600" cy="548640"/>
          </a:xfrm>
          <a:prstGeom prst="rect">
            <a:avLst/>
          </a:prstGeom>
          <a:solidFill>
            <a:srgbClr val="1E2450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2" name="Shape 20"/>
          <p:cNvSpPr/>
          <p:nvPr/>
        </p:nvSpPr>
        <p:spPr>
          <a:xfrm>
            <a:off x="457200" y="3447288"/>
            <a:ext cx="54864" cy="54864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658368" y="344728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для str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743200" y="3447288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склеює рядки, а не додає числа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solidFill>
            <a:srgbClr val="202847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6" name="Shape 24"/>
          <p:cNvSpPr/>
          <p:nvPr/>
        </p:nvSpPr>
        <p:spPr>
          <a:xfrm>
            <a:off x="457200" y="4069080"/>
            <a:ext cx="54864" cy="54864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7" name="Text 25"/>
          <p:cNvSpPr/>
          <p:nvPr/>
        </p:nvSpPr>
        <p:spPr>
          <a:xfrm>
            <a:off x="658368" y="40690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 / strip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743200" y="40690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базові інструменти обробки тексту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7200" y="47731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Наступне заняття: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200400" y="477316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8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Умовні оператори if / elif / else та логіка прийняття рішень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896</Words>
  <Application>Microsoft Macintosh PowerPoint</Application>
  <PresentationFormat>On-screen Show (16:9)</PresentationFormat>
  <Paragraphs>236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Web — Заняття 2</dc:title>
  <dc:subject>PptxGenJS Presentation</dc:subject>
  <dc:creator>PptxGenJS</dc:creator>
  <cp:lastModifiedBy>Штефан Дмитро</cp:lastModifiedBy>
  <cp:revision>2</cp:revision>
  <dcterms:created xsi:type="dcterms:W3CDTF">2026-05-15T09:23:42Z</dcterms:created>
  <dcterms:modified xsi:type="dcterms:W3CDTF">2026-05-15T20:34:20Z</dcterms:modified>
</cp:coreProperties>
</file>