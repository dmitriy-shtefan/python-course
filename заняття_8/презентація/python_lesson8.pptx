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87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Заняття 7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for і підрахунки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577840" y="1143000"/>
            <a:ext cx="3291840" cy="28346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715000" y="13898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0" y="1719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2048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23774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price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27066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30358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вже знаємо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Списки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[...], append, remove, pop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/ not 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перевірка наявності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03504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довжина списку або рядка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278892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50876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цикл з умовою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278892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34340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434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+ if/elif/else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Сьогоднішня ціль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Розуміти різницю між for і while — коли який застосовувати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94360" y="2093976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Перебирати елементи списку за допомогою for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94360" y="3026664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Використовувати range() для повторення фіксованої кількості разів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Накопичувати суму, рахувати кількість і знаходити середнє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Коли потрібен цикл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ідеальний коли заздалегідь відомо, що саме потрібно перебрати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" cy="71323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53312" y="14630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Пройтися по кожному елементу списку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64008" cy="71323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304288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53312" y="230428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Повторити дію рівно N разів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64008" cy="713232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94360" y="3145536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53312" y="314553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суму або середнє по набору даних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64008" cy="713232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94360" y="3986784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53312" y="398678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або відфільтрувати елементи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solidFill>
            <a:srgbClr val="5B8FF9">
              <a:alpha val="9000"/>
            </a:srgbClr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94360" y="48646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це «для кожного». while — це «поки умова виконується»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for: перебір готових значень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6344" y="7726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бере кожен елемент із колекції і виконує блок для нього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75004"/>
            <a:ext cx="8229600" cy="10515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29387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29387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29387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49504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9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змінна</a:t>
            </a:r>
            <a:r>
              <a:rPr lang="en-US" sz="19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 колекція</a:t>
            </a:r>
            <a:r>
              <a:rPr lang="en-US" sz="19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9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← кожен елемент по черзі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66344" y="2366086"/>
            <a:ext cx="54864" cy="411480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57784" y="234779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 слово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50492" y="2362288"/>
            <a:ext cx="54864" cy="41148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1741932" y="2344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отримує значення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кожному кроці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47238" y="2359812"/>
            <a:ext cx="54864" cy="411480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138678" y="23415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 слово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1438" y="2357336"/>
            <a:ext cx="54864" cy="411480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362878" y="23390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список, рядок,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range(...)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232"/>
            <a:ext cx="8229600" cy="208483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21792" y="304510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22960" y="304510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1024128" y="304510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94360" y="3246272"/>
            <a:ext cx="79552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Список рядків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 = [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"Київ"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"Харків"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"Одеса"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city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cities: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Рядок символів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"Привіт":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Перебір елементів списку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кожній ітерації змінна циклу отримує значення наступного елемента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175564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47548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"яблуко"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"банан"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"вишня"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5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fruit</a:t>
            </a: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fruits: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("Фрукт:", fruit)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3063240" cy="1755648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80644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за кроком: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87568" y="1901952"/>
            <a:ext cx="2999232" cy="34747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779008" y="1984248"/>
            <a:ext cx="201168" cy="20116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053328" y="19019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"яблуко"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87568" y="2286000"/>
            <a:ext cx="2999232" cy="34747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779008" y="2368296"/>
            <a:ext cx="201168" cy="201168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053328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"банан"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87568" y="2670048"/>
            <a:ext cx="2999232" cy="34747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779008" y="2752344"/>
            <a:ext cx="201168" cy="201168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053328" y="26700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"вишня"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5029200" cy="129844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621792" y="341071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822960" y="341071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1024128" y="341071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94360" y="3611880"/>
            <a:ext cx="47548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Виведе: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Фрукт: яблуко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Фрукт: банан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Фрукт: вишня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0644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87568" y="3730752"/>
            <a:ext cx="960120" cy="530352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5687568" y="3730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"яблуко"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61888" y="4261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87568" y="45171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9984" y="3730752"/>
            <a:ext cx="960120" cy="530352"/>
          </a:xfrm>
          <a:prstGeom prst="rect">
            <a:avLst/>
          </a:prstGeom>
          <a:solidFill>
            <a:srgbClr val="E6FAF6"/>
          </a:solidFill>
          <a:ln w="1905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6729984" y="3730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"банан"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04304" y="4261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9984" y="45171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0" y="3730752"/>
            <a:ext cx="960120" cy="530352"/>
          </a:xfrm>
          <a:prstGeom prst="rect">
            <a:avLst/>
          </a:prstGeom>
          <a:solidFill>
            <a:srgbClr val="FFF3E8"/>
          </a:solidFill>
          <a:ln w="1905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7772400" y="373075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"вишня"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426110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0" y="451713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Змінна циклу: що змінюється 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 кожному кроці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змінної циклу довільне — важливо щоб воно відображало зміст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0" cy="26974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price — зрозуміле ім'я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("Ціна:", price)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теж працює, але незрозуміло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("Ціна:", x)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1417320"/>
            <a:ext cx="3017520" cy="269748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85216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price: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33288" y="1920240"/>
            <a:ext cx="2971800" cy="438912"/>
          </a:xfrm>
          <a:prstGeom prst="rect">
            <a:avLst/>
          </a:prstGeom>
          <a:solidFill>
            <a:srgbClr val="1E2450"/>
          </a:solidFill>
          <a:ln w="12700">
            <a:solidFill>
              <a:srgbClr val="1E24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852160" y="19202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Крок 1:  price = 100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33288" y="2423160"/>
            <a:ext cx="2971800" cy="438912"/>
          </a:xfrm>
          <a:prstGeom prst="rect">
            <a:avLst/>
          </a:prstGeom>
          <a:solidFill>
            <a:srgbClr val="5B8FF9">
              <a:alpha val="16000"/>
            </a:srgbClr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852160" y="2423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Крок 2:  price = 250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33288" y="2926080"/>
            <a:ext cx="2971800" cy="438912"/>
          </a:xfrm>
          <a:prstGeom prst="rect">
            <a:avLst/>
          </a:prstGeom>
          <a:solidFill>
            <a:srgbClr val="1E2450"/>
          </a:solidFill>
          <a:ln w="12700">
            <a:solidFill>
              <a:srgbClr val="1E24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852160" y="29260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Крок 3:  price = 75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33288" y="3429000"/>
            <a:ext cx="2971800" cy="438912"/>
          </a:xfrm>
          <a:prstGeom prst="rect">
            <a:avLst/>
          </a:prstGeom>
          <a:solidFill>
            <a:srgbClr val="1E2450"/>
          </a:solidFill>
          <a:ln w="12700">
            <a:solidFill>
              <a:srgbClr val="1E24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852160" y="3429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Крок 4:  price = 400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658368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94360" y="425196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Давайте змінній змістовне ім'я: </a:t>
            </a:r>
            <a:r>
              <a:rPr lang="en-US" sz="14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Уникайте </a:t>
            </a:r>
            <a:r>
              <a:rPr lang="uk-UA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коротких або загальних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en-US" sz="1400" dirty="0"/>
          </a:p>
          <a:p>
            <a:pPr marL="0" indent="0">
              <a:buNone/>
            </a:pPr>
            <a:r>
              <a:rPr lang="uk-UA" sz="14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4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(коли є краща назва)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range(): числа для повторення дій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генерує послідовність чисел — для for без списку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303520" cy="324612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41732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618488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Повторити 5 разів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("Крок:", i)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range(5) = 0, 1, 2, 3, 4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Від 1 до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range(1, 6) = 1, 2, 3, 4, 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1298448"/>
            <a:ext cx="2743200" cy="324612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12648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Варіанти range()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07608" y="1819656"/>
            <a:ext cx="2706624" cy="566928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099048" y="1837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20939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0, 1, 2, 3, 4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7608" y="2478024"/>
            <a:ext cx="2706624" cy="566928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099048" y="2496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6)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2752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1, 2, 3, 4, 5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07608" y="3136392"/>
            <a:ext cx="2706624" cy="566928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099048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10, 2)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9048" y="3410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0, 2, 4, 6, 8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07608" y="3794760"/>
            <a:ext cx="2706624" cy="566928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099048" y="3813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range(5, 0, -1)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9048" y="4069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5, 4, 3, 2, 1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solidFill>
            <a:srgbClr val="5B8FF9">
              <a:alpha val="9000"/>
            </a:srgbClr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94360" y="46817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range(stop)  або  range(start, stop)  або  range(start, stop, step)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Межі range: </a:t>
            </a:r>
            <a:endParaRPr lang="uk-UA" sz="3000" b="1" dirty="0">
              <a:solidFill>
                <a:srgbClr val="1A1F3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чому range(1, 11) → від 1 до 10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Кінцеве значення НЕ включається — як у зрізах рядків і списків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59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11)  →  1, 2, 3, 4, 5, 6, 7, 8, 9, 10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6576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109728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182880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032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56032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29184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2336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02336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75488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48640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621792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49440" y="1734488"/>
            <a:ext cx="685800" cy="548640"/>
          </a:xfrm>
          <a:prstGeom prst="rect">
            <a:avLst/>
          </a:prstGeom>
          <a:solidFill>
            <a:srgbClr val="E8EFFF"/>
          </a:solidFill>
          <a:ln w="1905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94944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80960" y="1734488"/>
            <a:ext cx="685800" cy="548640"/>
          </a:xfrm>
          <a:prstGeom prst="rect">
            <a:avLst/>
          </a:prstGeom>
          <a:solidFill>
            <a:srgbClr val="FFE8EA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7680960" y="173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2356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включається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2356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не включається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2795192"/>
            <a:ext cx="8229600" cy="18288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621792" y="291406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822960" y="291406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1024128" y="291406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94360" y="31152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Числа від 1 до 10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 2 3 ... 10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range(n) завжди = 0, 1, ..., n-1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range(len(list)) — всі індекси списку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715432"/>
            <a:ext cx="8229600" cy="347472"/>
          </a:xfrm>
          <a:prstGeom prst="rect">
            <a:avLst/>
          </a:prstGeom>
          <a:solidFill>
            <a:srgbClr val="3DC9B0">
              <a:alpha val="9000"/>
            </a:srgbClr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594360" y="47154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stop — це перше число, яке вже НЕ потрапляє в послідовність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Крок у range: парні числа </a:t>
            </a:r>
            <a:endParaRPr lang="uk-UA" sz="3000" b="1" dirty="0">
              <a:solidFill>
                <a:srgbClr val="1A1F3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 зворотний відлік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Третій параметр range — це крок: на скільки збільшується число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64008" cy="80467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5B8FF9">
              <a:alpha val="9000"/>
            </a:srgbClr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11, 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1536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Парні числа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92024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  2  4  6  8  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2350008"/>
            <a:ext cx="64008" cy="80467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3DC9B0">
              <a:alpha val="9000"/>
            </a:srgbClr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502920" y="2487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11, 2)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2423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Непарні числа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280720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  3  5  7  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64008" cy="804672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FF9D6C">
              <a:alpha val="9000"/>
            </a:srgbClr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range(10, 0, -1)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3319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Зворотний відлік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703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10  9  8  7  6  5  4  3  2  1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151376"/>
            <a:ext cx="8412480" cy="8891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530352" y="427024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731520" y="427024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932688" y="427024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02920" y="4471416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 end=" ")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10 9 8 7 6 5 4 3 2 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335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Порівняння for і while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4529" y="65028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Обидва цикли повторюють код, але підходять для різних задач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3089" y="1107482"/>
            <a:ext cx="3977640" cy="38404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34529" y="110748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77929" y="1107482"/>
            <a:ext cx="3977640" cy="38404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69369" y="110748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3089" y="1491530"/>
            <a:ext cx="3977640" cy="530352"/>
          </a:xfrm>
          <a:prstGeom prst="rect">
            <a:avLst/>
          </a:prstGeom>
          <a:solidFill>
            <a:srgbClr val="E8EFFF"/>
          </a:solidFill>
          <a:ln w="12700">
            <a:solidFill>
              <a:srgbClr val="D0DB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0249" y="149153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Відома кількість ітерацій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77929" y="1491530"/>
            <a:ext cx="3977640" cy="530352"/>
          </a:xfrm>
          <a:prstGeom prst="rect">
            <a:avLst/>
          </a:prstGeom>
          <a:solidFill>
            <a:srgbClr val="E6FAF6"/>
          </a:solidFill>
          <a:ln w="12700">
            <a:solidFill>
              <a:srgbClr val="C8ED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915089" y="149153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ітерацій невідома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3089" y="2021882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249" y="202188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Перебір колекції (список, рядок)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77929" y="2021882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915089" y="202188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 до виконання умови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3089" y="2552234"/>
            <a:ext cx="3977640" cy="530352"/>
          </a:xfrm>
          <a:prstGeom prst="rect">
            <a:avLst/>
          </a:prstGeom>
          <a:solidFill>
            <a:srgbClr val="E8EFFF"/>
          </a:solidFill>
          <a:ln w="12700">
            <a:solidFill>
              <a:srgbClr val="D0DB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0249" y="255223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Генерація числової послідовності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77929" y="2552234"/>
            <a:ext cx="3977640" cy="530352"/>
          </a:xfrm>
          <a:prstGeom prst="rect">
            <a:avLst/>
          </a:prstGeom>
          <a:solidFill>
            <a:srgbClr val="E6FAF6"/>
          </a:solidFill>
          <a:ln w="12700">
            <a:solidFill>
              <a:srgbClr val="C8ED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915089" y="255223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Очікування введення або події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3089" y="3082586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80249" y="308258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Простіший і коротший запис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77929" y="3082586"/>
            <a:ext cx="3977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D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4915089" y="308258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програми, ігровий цикл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3089" y="3740953"/>
            <a:ext cx="3977640" cy="1237953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07681" y="385982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708849" y="385982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910017" y="385982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0249" y="406099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77929" y="3740954"/>
            <a:ext cx="3977640" cy="123795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4942521" y="385982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5143689" y="385982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5344857" y="385982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4915089" y="4060994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&lt;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+=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Накопичення суми: змінна total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Патерн: ініціалізуємо 0, у циклі додаємо кожен елемент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943600" cy="25146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= [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1. Ініціалізація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prices: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2. Перебір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price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uk-UA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Додавання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("Сума:", total)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770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417320"/>
            <a:ext cx="2148840" cy="251460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720840" y="15361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після кроку: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01968" y="1920240"/>
            <a:ext cx="2084832" cy="27432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старт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2240280"/>
            <a:ext cx="2084832" cy="27432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67512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01968" y="2560320"/>
            <a:ext cx="2084832" cy="27432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67512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4380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01968" y="2880360"/>
            <a:ext cx="2084832" cy="27432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675120" y="2880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01968" y="3200400"/>
            <a:ext cx="2084832" cy="27432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6675120" y="3200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4380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01968" y="3520440"/>
            <a:ext cx="2084832" cy="274320"/>
          </a:xfrm>
          <a:prstGeom prst="rect">
            <a:avLst/>
          </a:prstGeom>
          <a:solidFill>
            <a:srgbClr val="28A745">
              <a:alpha val="16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6675120" y="3520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4380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26060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2606040" cy="640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365760" y="41879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До циклу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182112" y="4096512"/>
            <a:ext cx="26060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3182112" y="4096512"/>
            <a:ext cx="2606040" cy="640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3182112" y="41879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 циклі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82112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+= price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998464" y="4096512"/>
            <a:ext cx="26060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0" name="Shape 38"/>
          <p:cNvSpPr/>
          <p:nvPr/>
        </p:nvSpPr>
        <p:spPr>
          <a:xfrm>
            <a:off x="5998464" y="4096512"/>
            <a:ext cx="2606040" cy="6400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1" name="Text 39"/>
          <p:cNvSpPr/>
          <p:nvPr/>
        </p:nvSpPr>
        <p:spPr>
          <a:xfrm>
            <a:off x="5998464" y="41879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Після циклу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98464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Підрахунок кількості </a:t>
            </a:r>
            <a:endParaRPr lang="uk-UA" sz="3000" b="1" dirty="0">
              <a:solidFill>
                <a:srgbClr val="1A1F36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 середнє значення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патерн — але рахуємо не суму, а кількість елементів за умовою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760720" cy="35204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лічильник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score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score &gt;=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passed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total /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("Середнє:", avg)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74.67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("Склали:", passed)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251460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2514600" cy="640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309360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448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9360" y="2606040"/>
            <a:ext cx="251460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2514600" cy="6400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D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74.67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251460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6309360" y="3794760"/>
            <a:ext cx="2514600" cy="64008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6309360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Склали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8A7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6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31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Практика: витрати і таблиця множення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0360"/>
            <a:ext cx="91440" cy="186139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594360" y="710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Щомісячні витрати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1185848"/>
            <a:ext cx="182880" cy="18288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960120" y="11401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список витрат за 6 місяців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569896"/>
            <a:ext cx="182880" cy="18288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960120" y="152417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Порахуй загальну суму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1953944"/>
            <a:ext cx="182880" cy="18288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960120" y="190822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Знайди середньомісячну витрату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337992"/>
            <a:ext cx="182880" cy="18288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960120" y="2292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Виведи місяці де витрати &gt; середнього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710360"/>
            <a:ext cx="91440" cy="186139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74920" y="710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Таблиця множення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38928" y="1185848"/>
            <a:ext cx="182880" cy="182880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40680" y="1140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Запитай число від користувача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38928" y="1569896"/>
            <a:ext cx="182880" cy="182880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440680" y="15241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Виведи таблицю множення від 1 до 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38928" y="1953944"/>
            <a:ext cx="182880" cy="182880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440680" y="19082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Відформатуй красиво: 3 × 7 = 21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663190"/>
            <a:ext cx="4572000" cy="1088136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21792" y="278206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822960" y="278206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1024128" y="278206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94360" y="2983230"/>
            <a:ext cx="4297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— витрати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 = [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4200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3800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5100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4600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3900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5500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2663190"/>
            <a:ext cx="3749040" cy="1088136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102352" y="278206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5303520" y="278206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504688" y="278206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074920" y="2983230"/>
            <a:ext cx="3474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 — таблиця множення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2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("Число: "))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range(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 "×", i, "=", n*i)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751326"/>
            <a:ext cx="8229600" cy="129446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621792" y="387019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822960" y="387019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1024128" y="387019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94360" y="4071366"/>
            <a:ext cx="8046720" cy="910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Сума: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27100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Середнє: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4516.67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Вище середнього: місяць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місяць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× 1 = 5    5 × 6 = 30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× 2 = 10   5 × 7 = 35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Як використовувати for для повторення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58368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list: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9601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перебрати кожен елемент списку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8368" y="1463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4630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0, 1, ..., n-1; для N повторень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58368" y="1965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range(a, b)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9659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 від a до b-1 включно (b не входить!)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58368" y="2468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range(a, b, step)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4688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своїм кроком: парні, непарні, назад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58368" y="2971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 / +=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29718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патерн накопичення суми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58368" y="34747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 / +=1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4747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патерн підрахунку кількості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58368" y="3977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vs while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0" y="39776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— відомо що перебирати; while — умова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— іменовані блоки коду для повторного використання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1406</Words>
  <Application>Microsoft Macintosh PowerPoint</Application>
  <PresentationFormat>On-screen Show (16:9)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7</dc:title>
  <dc:subject>PptxGenJS Presentation</dc:subject>
  <dc:creator>PptxGenJS</dc:creator>
  <cp:lastModifiedBy>Штефан Дмитро</cp:lastModifiedBy>
  <cp:revision>2</cp:revision>
  <dcterms:created xsi:type="dcterms:W3CDTF">2026-06-06T06:59:41Z</dcterms:created>
  <dcterms:modified xsi:type="dcterms:W3CDTF">2026-06-06T07:11:33Z</dcterms:modified>
</cp:coreProperties>
</file>