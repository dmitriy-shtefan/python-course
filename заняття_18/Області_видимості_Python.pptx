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68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лекції — де Python зберігає та шукає змінні. Сьогодні розбираємо лише дві зони: Local (локальна) і Global (глобальна). Починаємо з головного питання: що таке область видимості взагалі?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Пояснюємо дві зони: local — це кімната функції, global — коридор модуля. Важливо: Python спочатку шукає у local, а потім іде у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 головна ідея: local змінна — тимчасова. Як стакан кави на столі під час пари: прибираємо після заняття. NameError — Python каже «не знаю такої змінної в цьому просторі».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Читати глобальну — легко і природньо, Python сам піднімається у глобальний простір. Підкреслюємо: це читання, не запис. Запис — окрема тема наступного слайду.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Найчастіша плутанина у студентів! Функція створює нову локальну x, не змінює глобальну. Показати ілюстрацію: дві кімнати, одна назва, різні речі.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Пояснюємо UnboundLocalError: Python вже при парсингу функції вирішує, що counter — local, бо бачить присвоєння. Тому читання counter + 1 відбувається до того, як local counter існує. global counter повідомляє Python — не створюй нову, використовуй ту що вже 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Живий приклад на занятті: записуємо разом. Показуємо, що name — завжди нова local змінна в кожному виклику, а call_count зберігається між ними, бо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Таблиця — ключова шпаргалка. Підкреслюємо: global — це інструмент, а не default. Якщо є return — краще return. Домашнє завдання закріплює одночасне використання двох функцій зі спільною global змінною.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1080000">
            <a:off x="365760" y="347472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1046033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</a:t>
            </a:r>
            <a:r>
              <a:rPr lang="uk-UA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94360" y="16276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Області видимості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Python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594360" y="30906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та Global scope — де живуть наші змінні?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94360" y="3730752"/>
            <a:ext cx="7955280" cy="749808"/>
          </a:xfrm>
          <a:prstGeom prst="roundRect">
            <a:avLst>
              <a:gd name="adj" fmla="val 9756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4"/>
          <p:cNvSpPr/>
          <p:nvPr/>
        </p:nvSpPr>
        <p:spPr>
          <a:xfrm>
            <a:off x="822960" y="37307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де Python шукає змінну в момент її читання чи запису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область видимості?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змінна "живе" у певному просторі. Python шукає змінну спочатку у найближчому просторі, а потім ширше.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931920" cy="3154680"/>
          </a:xfrm>
          <a:prstGeom prst="roundRect">
            <a:avLst>
              <a:gd name="adj" fmla="val 2899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04672" y="1901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02082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871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локальна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926080"/>
            <a:ext cx="3520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оголошена всередині функції. Існує лише поки функція виконується. Зовні — недоступна.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4672" y="384048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"Олена"  # local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46320" y="1664208"/>
            <a:ext cx="3931920" cy="3154680"/>
          </a:xfrm>
          <a:prstGeom prst="roundRect">
            <a:avLst>
              <a:gd name="adj" fmla="val 2899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5102352" y="1901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2020824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2352" y="24871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глобальна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102352" y="2926080"/>
            <a:ext cx="3520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оголошена на рівні модуля (поза функціями). Доступна з будь-якого місця файлу.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102352" y="384048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5257800" y="3840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"Олена"  # global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 ...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Scope — локальна змінна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Змінна, оголошена у тілі функції, «народжується» при виклику і «зникає» після return.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4754880" cy="2514600"/>
          </a:xfrm>
          <a:prstGeom prst="roundRect">
            <a:avLst>
              <a:gd name="adj" fmla="val 2909"/>
            </a:avLst>
          </a:prstGeom>
          <a:solidFill>
            <a:srgbClr val="141B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1755648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calculate():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42   # local змінна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print(result) # 42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calculate()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# NameError!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32120" y="1572768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5669280" y="157276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42 існує лише всередині calculate()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32120" y="2414016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5669280" y="241401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завершилась → result видалено з пам'яті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32120" y="325526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5669280" y="325526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print(result) поза функцією — Python її не знаходить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187952"/>
            <a:ext cx="8183880" cy="658368"/>
          </a:xfrm>
          <a:prstGeom prst="roundRect">
            <a:avLst>
              <a:gd name="adj" fmla="val 11111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713232" y="4279392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366260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418795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кожна функція — окрема кімната. Те, що ти оголосив всередині, залишається всередині.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Scope — глобальна змінна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Змінна, оголошена на рівні файлу (поза функціями), видима скрізь у цьому модулі.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4663440" cy="2697480"/>
          </a:xfrm>
          <a:prstGeom prst="roundRect">
            <a:avLst>
              <a:gd name="adj" fmla="val 2712"/>
            </a:avLst>
          </a:prstGeom>
          <a:solidFill>
            <a:srgbClr val="141B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1691640"/>
            <a:ext cx="4206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 = "Привіт"  # global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say_hello():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читаємо глобальну — OK!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print(greeting)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say_hello()   # Привіт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print(greeting)  # Привіт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40680" y="1572768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5559552" y="175564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1828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53328" y="1572768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Читати глобальну в функції — можна, без жодних ключових слів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40680" y="24688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9"/>
          <p:cNvSpPr/>
          <p:nvPr/>
        </p:nvSpPr>
        <p:spPr>
          <a:xfrm>
            <a:off x="5559552" y="26517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72491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53328" y="2468880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зручно для констант: VERSION = "1.0", MAX_SCORE = 100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40680" y="3364992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2"/>
          <p:cNvSpPr/>
          <p:nvPr/>
        </p:nvSpPr>
        <p:spPr>
          <a:xfrm>
            <a:off x="5559552" y="354787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362102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53328" y="3364992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 живе весь час виконання програми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343400"/>
            <a:ext cx="8183880" cy="548640"/>
          </a:xfrm>
          <a:prstGeom prst="roundRect">
            <a:avLst>
              <a:gd name="adj" fmla="val 13333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5"/>
          <p:cNvSpPr/>
          <p:nvPr/>
        </p:nvSpPr>
        <p:spPr>
          <a:xfrm>
            <a:off x="77724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пошуку Python:  </a:t>
            </a:r>
            <a:r>
              <a:rPr lang="en-US" sz="14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 →  Global  →  Built-in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Що, якщо імена однакові?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завжди перемагає Global — якщо всередині функції є змінна з тим самим ім'ям, Python бачить лише її.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4892040" cy="2633472"/>
          </a:xfrm>
          <a:prstGeom prst="roundRect">
            <a:avLst>
              <a:gd name="adj" fmla="val 2778"/>
            </a:avLst>
          </a:prstGeom>
          <a:solidFill>
            <a:srgbClr val="141B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1810512"/>
            <a:ext cx="44348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"глобальна"   # global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show():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"локальна"  # local — нова змінна!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show()    # локальна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# глобальна  ← незмінена!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50992" y="1627632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5806440" y="173736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Всередині функції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2029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"локальна"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06440" y="232257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своя копія, global x не чіпаємо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50992" y="288036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5806440" y="299008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Поза функцією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06440" y="3282696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"глобальна"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06440" y="357530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залишається незмінною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343400"/>
            <a:ext cx="8183880" cy="594360"/>
          </a:xfrm>
          <a:prstGeom prst="roundRect">
            <a:avLst>
              <a:gd name="adj" fmla="val 12308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713232" y="4416552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50342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61872" y="434340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«shadowing» — локальна змінна «затіняє» глобальну з тим самим іменем. Оригінал не постраждав.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Ключове слово global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функція повинна змінити саме глобальну змінну — оголошуємо це явно.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Без global — НЕ змінює глобальну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883664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2C1A1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804672" y="2066544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= 0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increment():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= counter + 1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UnboundLocalError!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50876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475488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 global — змінює правильно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54880" y="1883664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141B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5010912" y="2066544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= 0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increment():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counter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= counter + 1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858768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4F4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731520" y="3886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UnboundLocalError?
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бачить counter = ... і думає, що це local.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 правіше — читання ще до </a:t>
            </a:r>
            <a:r>
              <a:rPr lang="uk-UA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754880" y="385876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4919472" y="4005072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408736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9824" y="3858768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counter — "я маю на увазі ту саму змінну, що вгорі файлу"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8463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лічильник викликів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Завдання: написати функцію, яка рахує, скільки разів її викликали.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141B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173736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call_count = 0        # глобальний лічильник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call_count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call_count += 1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print(f"Привіт, {name}! Виклик #{call_count}")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greet("Олена")  # Привіт, Олена! Виклик #1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greet("Іван")   # Привіт, Іван!  Виклик #2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greet("Марк")   # Привіт, Марк!  Виклик #3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27632"/>
            <a:ext cx="2468880" cy="676656"/>
          </a:xfrm>
          <a:prstGeom prst="roundRect">
            <a:avLst>
              <a:gd name="adj" fmla="val 9459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6400800" y="162763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call_count = 0 — стартуємо з нуля на рівні файлу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395728"/>
            <a:ext cx="2468880" cy="676656"/>
          </a:xfrm>
          <a:prstGeom prst="roundRect">
            <a:avLst>
              <a:gd name="adj" fmla="val 9459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6400800" y="2395728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call_count — функція працюватиме з глобальною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3163824"/>
            <a:ext cx="2468880" cy="676656"/>
          </a:xfrm>
          <a:prstGeom prst="roundRect">
            <a:avLst>
              <a:gd name="adj" fmla="val 9459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6400800" y="3163824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call_count += 1 — модифікуємо глобальну змінну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3931920"/>
            <a:ext cx="2468880" cy="676656"/>
          </a:xfrm>
          <a:prstGeom prst="roundRect">
            <a:avLst>
              <a:gd name="adj" fmla="val 9459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6400800" y="3931920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це локальна; call_count — глобальна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498080" y="34747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Підсумуємо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7406640" cy="2377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 оголошена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всередині функції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поза функціями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Хто бачить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лише ця функція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весь модуль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Скільки живе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 виклику функції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весь час програми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Змінити в функції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потрібен global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730752"/>
            <a:ext cx="7406640" cy="1051560"/>
          </a:xfrm>
          <a:prstGeom prst="roundRect">
            <a:avLst>
              <a:gd name="adj" fmla="val 6957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2"/>
          <p:cNvSpPr/>
          <p:nvPr/>
        </p:nvSpPr>
        <p:spPr>
          <a:xfrm>
            <a:off x="713232" y="3858768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945636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61872" y="3730752"/>
            <a:ext cx="59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уникати global?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функція і так повертає результат через return — використовуйте return, не global. Global — лише коли треба спільний стан між кількома викликами.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994</Words>
  <Application>Microsoft Macintosh PowerPoint</Application>
  <PresentationFormat>On-screen Show (16:9)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Області видимості в Python</dc:title>
  <dc:subject>PptxGenJS Presentation</dc:subject>
  <dc:creator>Python AI Course</dc:creator>
  <cp:lastModifiedBy>Штефан Дмитро</cp:lastModifiedBy>
  <cp:revision>2</cp:revision>
  <dcterms:created xsi:type="dcterms:W3CDTF">2026-07-11T06:55:18Z</dcterms:created>
  <dcterms:modified xsi:type="dcterms:W3CDTF">2026-07-11T07:05:37Z</dcterms:modified>
</cp:coreProperties>
</file>