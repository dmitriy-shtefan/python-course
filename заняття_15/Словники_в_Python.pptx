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565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Вітання. Сьогодні розбираємо словники — одну з найважливіших структур даних у Python. Пояснюємо на простих прикладах і одразу переходимо до 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Пояснюємо аналогію зі звичайним словником: шукаємо слово (ключ) — отримуємо переклад (значення). Підкреслюємо унікальність ключів і швидкість пошуку.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Показуємо два способи створення словника. Підкреслюємо, що {} — швидкий і найпопулярніший варіант. dict() корисний, коли ключі — рядки без пробілів.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Важливий момент для студентів: [] викликає виняток KeyError, якщо ключа нема, а .get() повертає None або значення за замовчуванням. Радимо .get() для невпевнених випадків.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Розбираємо три операції: присвоєння за ключем (додає або змінює), del (видаляє, але може впасти) та pop() з резервним значенням як безпечніша альтернатива.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методи, якими найчастіше перебирають словник. items() — найкорисніший, бо одразу дає і ключ, і значення в циклі.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Демонструємо найпоширеніший паттерн у реальному коді: for key, value in dict.items(). Звертаємо увагу студентів, що це розпаковка тапла.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Розбираємо завдання покроково, як на занятті: спочатку split(), потім порожній словник, потім логіка if/else. Наприкінці показуємо компактніший варіант через get().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Закриваємо тему типовими помилками — це гарний привід ще раз закріпити різницю між [] та get(), а також логіку items().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Підсумовуємо ключові моменти лекції та даємо домашнє завдання для закріплення матеріалу.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7040880" y="548640"/>
            <a:ext cx="1828800" cy="18288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tretch>
            <a:fillRect/>
          </a:stretch>
        </p:blipFill>
        <p:spPr>
          <a:xfrm rot="1500000">
            <a:off x="365760" y="3566160"/>
            <a:ext cx="1188720" cy="11887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• СТРУКТУРИ ДАНИХ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Словники в Python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548640" y="26974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зберігати дані за ключами та працювати з ними на практиці</a:t>
            </a:r>
            <a:endParaRPr lang="en-US" sz="1700" dirty="0"/>
          </a:p>
        </p:txBody>
      </p:sp>
      <p:sp>
        <p:nvSpPr>
          <p:cNvPr id="7" name="Shape 3"/>
          <p:cNvSpPr/>
          <p:nvPr/>
        </p:nvSpPr>
        <p:spPr>
          <a:xfrm>
            <a:off x="548640" y="365760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141B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4"/>
          <p:cNvSpPr/>
          <p:nvPr/>
        </p:nvSpPr>
        <p:spPr>
          <a:xfrm>
            <a:off x="822960" y="36576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18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{"ключ": "значення"}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таке словник?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Уявіть звичайний словник: ви шукаєте слово (ключ) і отримуєте його переклад (значення). У Python — так само.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" y="213512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01168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 «ключ → значення»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724912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284835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249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унікальні в межах словника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48640" y="3438144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3561588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43814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Швидкий пошук за ключем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394960" y="1051560"/>
            <a:ext cx="3291840" cy="3246120"/>
          </a:xfrm>
          <a:prstGeom prst="roundRect">
            <a:avLst>
              <a:gd name="adj" fmla="val 2817"/>
            </a:avLst>
          </a:prstGeom>
          <a:solidFill>
            <a:srgbClr val="F4F7FE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9"/>
          <p:cNvSpPr/>
          <p:nvPr/>
        </p:nvSpPr>
        <p:spPr>
          <a:xfrm>
            <a:off x="5623560" y="1234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словник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62356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яблуко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62356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</a:t>
            </a: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кіт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23560" y="2514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пес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623560" y="3063240"/>
            <a:ext cx="28346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4"/>
          <p:cNvSpPr/>
          <p:nvPr/>
        </p:nvSpPr>
        <p:spPr>
          <a:xfrm>
            <a:off x="5623560" y="31821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в Python: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623560" y="345643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 = 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"apple": "яблуко"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41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Створення словника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0" y="41148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4" y="53492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0058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 кілька способів — почнемо з найпростішого, фігурні дужки { }.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804672" y="17373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Спосіб 1 — літерал словника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= {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"Олена",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"age": 20,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"city": "Київ"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3840480" cy="2194560"/>
          </a:xfrm>
          <a:prstGeom prst="roundRect">
            <a:avLst>
              <a:gd name="adj" fmla="val 3333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5010912" y="173736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Спосіб 2 — функція dict()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= dict(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name="Олена",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age=20,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city="Київ"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93192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713232" y="4041648"/>
            <a:ext cx="411480" cy="41148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413766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80160" y="393192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Порожній словник створюється так: my_dict = {} — далі наповнюємо його кроками.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Доступ до значень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0" y="41148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4" y="53492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0058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шляхи отримати значення за ключем — і вони поводяться по-різному, якщо ключа немає.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4023360" cy="2606040"/>
          </a:xfrm>
          <a:prstGeom prst="roundRect">
            <a:avLst>
              <a:gd name="adj" fmla="val 2807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804672" y="1737360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= {"name": "Олена", "age": 20}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print(student["name"])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Олена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print(student["email"])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KeyError !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5010912" y="1737360"/>
            <a:ext cx="3383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print(student.get("name"))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Олена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print(student.get("email"))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9BE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 — без помилки!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student.get("email", "немає")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швидко, але ризиковано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75488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.get()</a:t>
            </a: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безпечно, з резервним значенням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Додаємо, змінюємо, видаляємо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Словник — змінювана (mutable) структура: ми вільно редагуємо його після створення.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79192" cy="283464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19522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42316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/ змінити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2880360"/>
            <a:ext cx="2221992" cy="777240"/>
          </a:xfrm>
          <a:prstGeom prst="roundRect">
            <a:avLst>
              <a:gd name="adj" fmla="val 7059"/>
            </a:avLst>
          </a:prstGeom>
          <a:solidFill>
            <a:srgbClr val="141B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914400" y="288036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student["age"] = 21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3749040"/>
            <a:ext cx="22219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ключа нема — додасть; якщо є — оновить.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600200"/>
            <a:ext cx="2679192" cy="283464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9"/>
          <p:cNvSpPr/>
          <p:nvPr/>
        </p:nvSpPr>
        <p:spPr>
          <a:xfrm>
            <a:off x="3575304" y="182880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8748" y="195224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75304" y="242316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Видалити ключ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575304" y="2880360"/>
            <a:ext cx="2221992" cy="777240"/>
          </a:xfrm>
          <a:prstGeom prst="roundRect">
            <a:avLst>
              <a:gd name="adj" fmla="val 7059"/>
            </a:avLst>
          </a:prstGeom>
          <a:solidFill>
            <a:srgbClr val="141B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2"/>
          <p:cNvSpPr/>
          <p:nvPr/>
        </p:nvSpPr>
        <p:spPr>
          <a:xfrm>
            <a:off x="3712464" y="288036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student["city"]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575304" y="3749040"/>
            <a:ext cx="22219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Викине помилку, якщо ключа немає.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600200"/>
            <a:ext cx="2679192" cy="283464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5"/>
          <p:cNvSpPr/>
          <p:nvPr/>
        </p:nvSpPr>
        <p:spPr>
          <a:xfrm>
            <a:off x="6373368" y="182880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952244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73368" y="242316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Видалити безпечно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6312912" y="2880360"/>
            <a:ext cx="2379556" cy="777240"/>
          </a:xfrm>
          <a:prstGeom prst="roundRect">
            <a:avLst>
              <a:gd name="adj" fmla="val 7059"/>
            </a:avLst>
          </a:prstGeom>
          <a:solidFill>
            <a:srgbClr val="141B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3" name="Text 18"/>
          <p:cNvSpPr/>
          <p:nvPr/>
        </p:nvSpPr>
        <p:spPr>
          <a:xfrm>
            <a:off x="6412816" y="2880360"/>
            <a:ext cx="22796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student.pop("city", None)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373368" y="3749040"/>
            <a:ext cx="22219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падає, навіть якщо ключа нема.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keys(), values(), items()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863840" y="41148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4" y="53492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005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методи, які повертають усі ключі, усі значення або пари одночасно.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4846320" cy="3291840"/>
          </a:xfrm>
          <a:prstGeom prst="roundRect">
            <a:avLst>
              <a:gd name="adj" fmla="val 2222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804672" y="169164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= {"name": "Олена", "age": 20}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student.keys()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dict_keys(['name', 'age'])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student.values()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dict_values(['Олена', 20])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student.items()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dict_items([('name','Олена'), ('age',20)])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0" y="1691640"/>
            <a:ext cx="3017520" cy="868680"/>
          </a:xfrm>
          <a:prstGeom prst="roundRect">
            <a:avLst>
              <a:gd name="adj" fmla="val 8421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5897880" y="169164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.keys()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ключі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0" y="2743200"/>
            <a:ext cx="3017520" cy="868680"/>
          </a:xfrm>
          <a:prstGeom prst="roundRect">
            <a:avLst>
              <a:gd name="adj" fmla="val 8421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5897880" y="27432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.values()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значення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0" y="3794760"/>
            <a:ext cx="3017520" cy="868680"/>
          </a:xfrm>
          <a:prstGeom prst="roundRect">
            <a:avLst>
              <a:gd name="adj" fmla="val 8421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/>
          <p:nvPr/>
        </p:nvSpPr>
        <p:spPr>
          <a:xfrm>
            <a:off x="5897880" y="379476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.items()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 (ключ, значення)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Перебір словника у циклі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863840" y="41148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4" y="534924"/>
            <a:ext cx="256032" cy="2560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2331720"/>
          </a:xfrm>
          <a:prstGeom prst="roundRect">
            <a:avLst>
              <a:gd name="adj" fmla="val 3137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3"/>
          <p:cNvSpPr/>
          <p:nvPr/>
        </p:nvSpPr>
        <p:spPr>
          <a:xfrm>
            <a:off x="804672" y="1600200"/>
            <a:ext cx="7589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{"Олена": 95, "Іван": 88, "Марк": 72}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name, score in scores.items():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print(f"{name}: {score}")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BE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Олена: 95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BE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Іван: 88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BE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Марк: 72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93192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5"/>
          <p:cNvSpPr/>
          <p:nvPr/>
        </p:nvSpPr>
        <p:spPr>
          <a:xfrm>
            <a:off x="731520" y="41605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2702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931920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Зверніть</a:t>
            </a: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увагу: </a:t>
            </a: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name, score in scores.items() — це розпаковка пари у дві змінні одночасно.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93776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36576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Практика: рахуємо слова в тексті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Завдання: підрахувати, скільки разів кожне слово зустрічається у фразі.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4846320" cy="3246120"/>
          </a:xfrm>
          <a:prstGeom prst="roundRect">
            <a:avLst>
              <a:gd name="adj" fmla="val 2254"/>
            </a:avLst>
          </a:prstGeom>
          <a:solidFill>
            <a:srgbClr val="141B4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804672" y="1691640"/>
            <a:ext cx="43891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 = "кіт спить кіт грає кіт їсть"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words = text.split()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= {}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w in words: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w in counts: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BE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counts[w] += 1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BE7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counts[w] = 1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print(counts)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9B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{'кіт': 3, 'спить': 1, 'грає': 1, 'їсть': 1}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23560" y="1417320"/>
            <a:ext cx="3063240" cy="621792"/>
          </a:xfrm>
          <a:prstGeom prst="roundRect">
            <a:avLst>
              <a:gd name="adj" fmla="val 10294"/>
            </a:avLst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5760720" y="1417320"/>
            <a:ext cx="2834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Розбиваємо текст на слова — split()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23560" y="2130552"/>
            <a:ext cx="3063240" cy="621792"/>
          </a:xfrm>
          <a:prstGeom prst="roundRect">
            <a:avLst>
              <a:gd name="adj" fmla="val 10294"/>
            </a:avLst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5760720" y="2130552"/>
            <a:ext cx="2834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Створюємо порожній словник counts = {}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23560" y="2843784"/>
            <a:ext cx="3063240" cy="621792"/>
          </a:xfrm>
          <a:prstGeom prst="roundRect">
            <a:avLst>
              <a:gd name="adj" fmla="val 10294"/>
            </a:avLst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/>
          <p:nvPr/>
        </p:nvSpPr>
        <p:spPr>
          <a:xfrm>
            <a:off x="5760720" y="2843784"/>
            <a:ext cx="2834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Для кожного слова перевіряємо: вже є в словнику?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23560" y="3557016"/>
            <a:ext cx="3063240" cy="621792"/>
          </a:xfrm>
          <a:prstGeom prst="roundRect">
            <a:avLst>
              <a:gd name="adj" fmla="val 10294"/>
            </a:avLst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5760720" y="3557016"/>
            <a:ext cx="2834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Є → +1 до значення. Нема → додаємо з 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23560" y="4343400"/>
            <a:ext cx="3346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Підказка: </a:t>
            </a: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коротше робить counts.get(w, 0) + 1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Типові помилки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863840" y="411480"/>
            <a:ext cx="502920" cy="502920"/>
          </a:xfrm>
          <a:prstGeom prst="ellipse">
            <a:avLst/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4" y="534924"/>
            <a:ext cx="256032" cy="2560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14300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731520" y="13075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99032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121615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до неіснуючого ключа через [ ]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280160" y="16002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Рішення: </a:t>
            </a:r>
            <a:r>
              <a:rPr lang="en-US" sz="12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Використовуйте .get(), якщо не впевнені, що ключ існує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24028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Shape 7"/>
          <p:cNvSpPr/>
          <p:nvPr/>
        </p:nvSpPr>
        <p:spPr>
          <a:xfrm>
            <a:off x="731520" y="240487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96312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31343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Плутанина між ключами і значеннями в циклі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80160" y="26974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Рішення: </a:t>
            </a:r>
            <a:r>
              <a:rPr lang="en-US" sz="12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k, v in d.items() — k завжди перший, v завжди другий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33756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4F7F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Shape 11"/>
          <p:cNvSpPr/>
          <p:nvPr/>
        </p:nvSpPr>
        <p:spPr>
          <a:xfrm>
            <a:off x="731520" y="35021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93592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41071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словника під час перебору for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80160" y="379476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Рішення: </a:t>
            </a:r>
            <a:r>
              <a:rPr lang="en-US" sz="1250" dirty="0">
                <a:solidFill>
                  <a:srgbClr val="5B6B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зберіть зміни, потім застосуйте їх після циклу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7315200" y="33832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Підсумуємо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1453896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97280" y="1371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Словник зберігає дані як пари «ключ → значення»</a:t>
            </a:r>
            <a:endParaRPr lang="en-US" sz="1550" dirty="0"/>
          </a:p>
        </p:txBody>
      </p:sp>
      <p:sp>
        <p:nvSpPr>
          <p:cNvPr id="7" name="Shape 3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048256"/>
            <a:ext cx="219456" cy="21945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9728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Створення: {} або dict()</a:t>
            </a:r>
            <a:endParaRPr lang="en-US" sz="1550" dirty="0"/>
          </a:p>
        </p:txBody>
      </p:sp>
      <p:sp>
        <p:nvSpPr>
          <p:cNvPr id="10" name="Shape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642616"/>
            <a:ext cx="219456" cy="21945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9728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Доступ: [ ] (швидко) або .get() (безпечно)</a:t>
            </a:r>
            <a:endParaRPr lang="en-US" sz="1550" dirty="0"/>
          </a:p>
        </p:txBody>
      </p:sp>
      <p:sp>
        <p:nvSpPr>
          <p:cNvPr id="13" name="Shape 7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236976"/>
            <a:ext cx="219456" cy="21945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97280" y="3154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Зміна: присвоєння за ключем, del, pop()</a:t>
            </a:r>
            <a:endParaRPr lang="en-US" sz="1550" dirty="0"/>
          </a:p>
        </p:txBody>
      </p:sp>
      <p:sp>
        <p:nvSpPr>
          <p:cNvPr id="16" name="Shape 9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27306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831336"/>
            <a:ext cx="219456" cy="219456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97280" y="3749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Перебір: for k, v in d.items()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1043</Words>
  <Application>Microsoft Macintosh PowerPoint</Application>
  <PresentationFormat>On-screen Show (16:9)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Словники в Python</dc:title>
  <dc:subject>PptxGenJS Presentation</dc:subject>
  <dc:creator>Python AI Course</dc:creator>
  <cp:lastModifiedBy>Штефан Дмитро</cp:lastModifiedBy>
  <cp:revision>2</cp:revision>
  <dcterms:created xsi:type="dcterms:W3CDTF">2026-06-28T08:32:30Z</dcterms:created>
  <dcterms:modified xsi:type="dcterms:W3CDTF">2026-06-28T08:53:00Z</dcterms:modified>
</cp:coreProperties>
</file>