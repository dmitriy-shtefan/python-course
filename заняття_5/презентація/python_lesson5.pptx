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22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web-додатків з використанням Python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Заняття 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while і меню програми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816352"/>
            <a:ext cx="3200400" cy="36576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669280" y="1097280"/>
            <a:ext cx="3200400" cy="27432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80644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running: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6642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cmd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("&gt;")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06440" y="2002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"q"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False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06440" y="2679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(cmd)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Що вже знаємо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Повторення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Порівняння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&lt; &gt;= &lt;= == !=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320040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if/elif/else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вибір за умовою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035040" y="10972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350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/ or / not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2029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логічні оператори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150876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Хибні знач.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0, "", None → False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2788920"/>
            <a:ext cx="256032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4343400" y="28346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43400" y="3401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Валідація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перевірка введених даних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Сьогоднішня ціль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Зрозуміти, як цикл while повторює дії поки умова True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84248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594360" y="2093976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94360" y="20939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9842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Навчитись правильно зупиняти цикл без зависання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916936"/>
            <a:ext cx="8229600" cy="777240"/>
          </a:xfrm>
          <a:prstGeom prst="rect">
            <a:avLst/>
          </a:prstGeom>
          <a:solidFill>
            <a:srgbClr val="1E2450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594360" y="3026664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9436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291693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Повторювати введення до отримання коректних даних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21294F"/>
          </a:solidFill>
          <a:ln/>
          <a:effectLst>
            <a:outerShdw blurRad="762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502920" cy="502920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84962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Побудувати текстове меню програми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Навіщо програмам повторювати дії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циклів програма виконується лише один раз і завершується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Запитувати пароль поки не введуть правильно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30428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2304288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Показувати меню програми знову після кожної дії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3145536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25880" y="3145536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Обробляти дані доки є що обробляти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64008" cy="71323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94360" y="398678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325880" y="3986784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Повторювати введення доки не пройде валідацію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solidFill>
            <a:srgbClr val="000000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594360" y="48646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— це спосіб сказати Python: «повторюй це, доки умова виконується»</a:t>
            </a:r>
            <a:endParaRPr lang="en-US" sz="13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Цикл: повторення поки умова True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 з реального життя — все, що ми робимо «поки не виконається умова»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🍵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325880" y="164592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8EFFF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1389888" y="16459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 </a:t>
            </a: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Поки чай гарячий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1444752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8BB5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66360" y="164592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6FAF6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230368" y="1645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Дути на нього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2542032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325880" y="274320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8EFFF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1389888" y="27432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 </a:t>
            </a: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Поки є товари у списку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542032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8BB5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166360" y="27432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6FAF6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5230368" y="2743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Класти в кошик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639312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48640" y="3639312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📲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325880" y="3840480"/>
            <a:ext cx="3200400" cy="457200"/>
          </a:xfrm>
          <a:prstGeom prst="roundRect">
            <a:avLst>
              <a:gd name="adj" fmla="val 12000"/>
            </a:avLst>
          </a:prstGeom>
          <a:solidFill>
            <a:srgbClr val="E8EFFF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1389888" y="38404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 </a:t>
            </a: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Поки не натиснули «вийти»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440" y="3639312"/>
            <a:ext cx="411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A8BB5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166360" y="384048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E6FAF6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4"/>
          <p:cNvSpPr/>
          <p:nvPr/>
        </p:nvSpPr>
        <p:spPr>
          <a:xfrm>
            <a:off x="5230368" y="38404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Показувати меню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Синтаксис while: умова, двокрапка, відступи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точно така сама, як у if — тільки виконується багато разів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205740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22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умова</a:t>
            </a:r>
            <a:r>
              <a:rPr lang="en-US" sz="22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тіло циклу</a:t>
            </a:r>
            <a:r>
              <a:rPr lang="en-US" sz="18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виконується поки умова True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тіло циклу</a:t>
            </a:r>
            <a:r>
              <a:rPr lang="en-US" sz="18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ще один рядок циклу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54864" cy="47548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66928" y="3813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
</a:t>
            </a: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ключове слово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965960" y="3840480"/>
            <a:ext cx="54864" cy="47548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2075688" y="3813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
</a:t>
            </a: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вираз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11880" y="3840480"/>
            <a:ext cx="54864" cy="475488"/>
          </a:xfrm>
          <a:prstGeom prst="rect">
            <a:avLst/>
          </a:prstGeom>
          <a:solidFill>
            <a:srgbClr val="A9D4FF"/>
          </a:solidFill>
          <a:ln w="12700">
            <a:solidFill>
              <a:srgbClr val="A9D4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3721608" y="3813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
</a:t>
            </a: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3840480"/>
            <a:ext cx="54864" cy="47548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413248" y="38130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D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пробіли
</a:t>
            </a:r>
            <a:r>
              <a:rPr lang="en-US" sz="12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тіла циклу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Приклад while: лічильник від 1 до 5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Найпростіший цикл: повторювати поки лічильник не досягне межі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943600" cy="24231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початкове значення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# умова продовження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</a:t>
            </a:r>
            <a:r>
              <a:rPr lang="en-US" sz="15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i = i + 1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Виведе: 1  2  3  4  5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83680" y="1417320"/>
            <a:ext cx="2148840" cy="242316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72084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Ітерації: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01968" y="1938528"/>
            <a:ext cx="2084832" cy="402336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6675120" y="19385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19385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 1, i=2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2395728"/>
            <a:ext cx="2084832" cy="402336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675120" y="23957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3957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 2, i=3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01968" y="2852928"/>
            <a:ext cx="2084832" cy="402336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6675120" y="28529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28529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друк 5, i=6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01968" y="3310128"/>
            <a:ext cx="2084832" cy="402336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675120" y="331012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69480" y="331012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2514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4005072"/>
            <a:ext cx="2514600" cy="640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457200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0" y="4005072"/>
            <a:ext cx="2514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3200400" y="4005072"/>
            <a:ext cx="251460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200400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040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&lt;= 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0" y="4005072"/>
            <a:ext cx="2514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5943600" y="4005072"/>
            <a:ext cx="251460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943600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0" y="4434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+= 1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Зміна змінної всередині циклу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зміни змінної умова ніколи не стане False — цикл не зупиниться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2606040" cy="6400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+= 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 = i + 1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збільшити на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4173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218688" y="1417320"/>
            <a:ext cx="2606040" cy="6400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218688" y="15361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-= 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18688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 = i - 1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18688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зменшити на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71616" y="14173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06040" cy="6400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6071616" y="15361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*=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71616" y="20848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i = i *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71616" y="24231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подвоїти значення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4572000" cy="19659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530352" y="306324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731520" y="306324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932688" y="306324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326440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Зворотній відлік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 &gt;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("Старт!")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2944368"/>
            <a:ext cx="3657600" cy="1965960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525780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Вивід: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3456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3685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39136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41422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4370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45994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Старт!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Нескінченний цикл: чому він виникає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Увага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умова ніколи не стає False — програма зависає назавжди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Змінна не змінюється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069080" cy="15727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30352" y="19293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31520" y="19293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932688" y="19293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&lt;=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 += 1 забуто! 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06908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Умова завжди True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810512"/>
            <a:ext cx="4069080" cy="1572768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919472" y="19293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120640" y="19293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321808" y="19293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892040" y="2130552"/>
            <a:ext cx="37947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("нескінченно")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немає break або зміни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384048"/>
          </a:xfrm>
          <a:prstGeom prst="rect">
            <a:avLst/>
          </a:prstGeom>
          <a:solidFill>
            <a:srgbClr val="1A1F36"/>
          </a:solidFill>
          <a:ln w="12700">
            <a:solidFill>
              <a:srgbClr val="1A1F3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зупинити нескінченний цикл вручну: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8412480" cy="329184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502920" y="4032504"/>
            <a:ext cx="201168" cy="20116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777240" y="395935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Ctrl + C у терміналі — перервати виконання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325112"/>
            <a:ext cx="841248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02920" y="4398264"/>
            <a:ext cx="201168" cy="20116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777240" y="432511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Перезапустити kernel / середовище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690872"/>
            <a:ext cx="8412480" cy="329184"/>
          </a:xfrm>
          <a:prstGeom prst="rect">
            <a:avLst/>
          </a:prstGeom>
          <a:solidFill>
            <a:srgbClr val="EEF2F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502920" y="4764024"/>
            <a:ext cx="201168" cy="20116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777240" y="469087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Правильне рішення — завжди змінювати змінну або мати вихід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Як правильно зупиняти цикл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надійні способи завершити while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77640" cy="365760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Прапорець (flag змінна)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3977640" cy="21945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530352" y="19476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932688" y="19476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running: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("&gt;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417320"/>
            <a:ext cx="3977640" cy="36576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Оператор break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3977640" cy="219456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4965192" y="19476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5166360" y="19476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5367528" y="19476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703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cmd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("&gt; 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cmd ==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вийти з циклу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1A1F3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Прапорець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краще для меню: зрозуміліше що означає змінна.  </a:t>
            </a:r>
            <a:r>
              <a:rPr lang="en-US" sz="1400" dirty="0">
                <a:solidFill>
                  <a:srgbClr val="3DC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r>
              <a:rPr lang="en-US" sz="14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коротше, але треба стежити, щоб вихід був лише один.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Повторне введення до коректного значення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89520" y="164592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589520" y="1645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ідеальний інструмент для валідації: просто повторюємо запит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2852399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53619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53619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53619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795528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Запитувати вік поки не введуть коректне значення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невалідне початкове значення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&lt;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 вік (0–120): "))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&lt;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 &gt; </a:t>
            </a:r>
            <a:r>
              <a:rPr lang="en-US" sz="14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4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("Помилка: вік має бути від 0 до 120")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("Вік:", age)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453128"/>
            <a:ext cx="8229600" cy="566928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445312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Помилка → &gt; </a:t>
            </a:r>
            <a:r>
              <a:rPr lang="en-US" sz="14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r>
              <a:rPr lang="en-US" sz="14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Помилка → &gt; </a:t>
            </a:r>
            <a:r>
              <a:rPr lang="en-US" sz="14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 ✓ Вік: 35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1: пароль або вихід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Напишіть програму, яка: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5669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Запитує пароль у циклі while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4864" cy="56692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94360" y="2139696"/>
            <a:ext cx="384048" cy="38404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02996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пароль = "1234" — виводить "Вітаю!" і виходить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88336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54864" cy="56692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2798064"/>
            <a:ext cx="384048" cy="384048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68833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введено "exit" — виводить "До побачення" і виходить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46704"/>
            <a:ext cx="45720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54864" cy="566928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456432"/>
            <a:ext cx="384048" cy="384048"/>
          </a:xfrm>
          <a:prstGeom prst="ellipse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34670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будь-якому іншому випадку — повторює запит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1371600"/>
            <a:ext cx="3566160" cy="162763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5376672" y="149047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5577840" y="149047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5779008" y="149047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349240" y="1691640"/>
            <a:ext cx="3291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Пароль: 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Невірний, спробуйте ще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Пароль: </a:t>
            </a: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  → Вітаю!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Пароль: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 → До побачення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Текстове меню через while і if/elif/else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10432" y="64008"/>
            <a:ext cx="1371600" cy="347472"/>
          </a:xfrm>
          <a:prstGeom prst="roundRect">
            <a:avLst>
              <a:gd name="adj" fmla="val 18421"/>
            </a:avLst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7710432" y="640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41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Класичний патерн: цикл while тримає меню, if/elif обробляє вибір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1308"/>
            <a:ext cx="5486400" cy="3639312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621792" y="1440180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1440180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1024128" y="1440180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94360" y="1641348"/>
            <a:ext cx="5212080" cy="3227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running: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("\n1. Привітати  2. Час  q. Вихід")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choice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("Ваш вибір: 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 ==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("Привіт!")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 ==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("Зараз...")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choice ==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"q"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("Невідома команда")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21308"/>
            <a:ext cx="2606040" cy="3639312"/>
          </a:xfrm>
          <a:prstGeom prst="rect">
            <a:avLst/>
          </a:prstGeom>
          <a:solidFill>
            <a:srgbClr val="1A1F36"/>
          </a:solidFill>
          <a:ln/>
          <a:effectLst>
            <a:outerShdw blurRad="889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6263640" y="14401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меню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4768" y="1869948"/>
            <a:ext cx="2560320" cy="53035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6144768" y="1869948"/>
            <a:ext cx="54864" cy="53035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236208" y="186994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71232" y="18699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тримає все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2482596"/>
            <a:ext cx="2560320" cy="53035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6144768" y="2482596"/>
            <a:ext cx="54864" cy="5303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236208" y="2482596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"1"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71232" y="248259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44768" y="3095244"/>
            <a:ext cx="2560320" cy="53035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6144768" y="3095244"/>
            <a:ext cx="54864" cy="530352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236208" y="3095244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F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"2"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71232" y="30952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44768" y="3707892"/>
            <a:ext cx="2560320" cy="53035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6144768" y="3707892"/>
            <a:ext cx="54864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36208" y="370789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"q"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71232" y="37078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зупинити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4320540"/>
            <a:ext cx="2560320" cy="53035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6144768" y="4320540"/>
            <a:ext cx="54864" cy="530352"/>
          </a:xfrm>
          <a:prstGeom prst="rect">
            <a:avLst/>
          </a:prstGeom>
          <a:solidFill>
            <a:srgbClr val="7A8BB5"/>
          </a:solidFill>
          <a:ln w="12700">
            <a:solidFill>
              <a:srgbClr val="7A8BB5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236208" y="432054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else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71232" y="432054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невідомо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 Практика 2: меню калькулятора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Побудувати текстовий калькулятор з меню: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06424"/>
            <a:ext cx="82296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457200" y="1106424"/>
            <a:ext cx="54864" cy="566928"/>
          </a:xfrm>
          <a:prstGeom prst="rect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594360" y="1216152"/>
            <a:ext cx="384048" cy="384048"/>
          </a:xfrm>
          <a:prstGeom prst="ellipse">
            <a:avLst/>
          </a:prstGeom>
          <a:solidFill>
            <a:srgbClr val="5B8FF9"/>
          </a:solidFill>
          <a:ln w="12700">
            <a:solidFill>
              <a:srgbClr val="5B8FF9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94360" y="1216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106424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Показувати меню: 1-Сума, 2-Різниця, 3-Добуток, 4-Частка, q-Вихід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4864" cy="566928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94360" y="1874520"/>
            <a:ext cx="384048" cy="384048"/>
          </a:xfrm>
          <a:prstGeom prst="ellipse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76479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виборі числової дії — запитати два числа і вивести результат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54864" cy="566928"/>
          </a:xfrm>
          <a:prstGeom prst="rect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94360" y="2532888"/>
            <a:ext cx="384048" cy="384048"/>
          </a:xfrm>
          <a:prstGeom prst="ellipse">
            <a:avLst/>
          </a:prstGeom>
          <a:solidFill>
            <a:srgbClr val="FF9D6C"/>
          </a:solidFill>
          <a:ln w="12700">
            <a:solidFill>
              <a:srgbClr val="FF9D6C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4231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кожної дії знову показувати меню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81528"/>
            <a:ext cx="8229600" cy="566928"/>
          </a:xfrm>
          <a:prstGeom prst="rect">
            <a:avLst/>
          </a:prstGeom>
          <a:solidFill>
            <a:srgbClr val="1A264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457200" y="3081528"/>
            <a:ext cx="54864" cy="566928"/>
          </a:xfrm>
          <a:prstGeom prst="rect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C9A0FF"/>
          </a:solidFill>
          <a:ln w="12700">
            <a:solidFill>
              <a:srgbClr val="C9A0FF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08152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q — виводити "До побачення" і завершувати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739896"/>
            <a:ext cx="8229600" cy="1348740"/>
          </a:xfrm>
          <a:prstGeom prst="rect">
            <a:avLst/>
          </a:prstGeom>
          <a:solidFill>
            <a:srgbClr val="161B2E"/>
          </a:solidFill>
          <a:ln w="12700">
            <a:solidFill>
              <a:srgbClr val="2A335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5" name="Shape 23"/>
          <p:cNvSpPr/>
          <p:nvPr/>
        </p:nvSpPr>
        <p:spPr>
          <a:xfrm>
            <a:off x="621792" y="3858768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822960" y="3858768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25"/>
          <p:cNvSpPr/>
          <p:nvPr/>
        </p:nvSpPr>
        <p:spPr>
          <a:xfrm>
            <a:off x="1024128" y="3858768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6"/>
          <p:cNvSpPr/>
          <p:nvPr/>
        </p:nvSpPr>
        <p:spPr>
          <a:xfrm>
            <a:off x="594360" y="4059936"/>
            <a:ext cx="7955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Сума  2. Різниця  3. Добуток  4. Частка  q. Вихід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Вибір: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b=</a:t>
            </a:r>
            <a:r>
              <a:rPr lang="en-US" sz="1300" dirty="0">
                <a:solidFill>
                  <a:srgbClr val="C9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A9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Сума: </a:t>
            </a:r>
            <a:r>
              <a:rPr lang="en-US" sz="1300" dirty="0">
                <a:solidFill>
                  <a:srgbClr val="28A7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Вибір: </a:t>
            </a:r>
            <a:r>
              <a:rPr lang="en-US" sz="1300" dirty="0">
                <a:solidFill>
                  <a:srgbClr val="6DDC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9D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До побачення 👋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E"/>
          </a:solidFill>
          <a:ln w="12700">
            <a:solidFill>
              <a:srgbClr val="161B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Як думати про цикли і меню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658368" y="9601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умова: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9601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виконує тіло поки умова True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658368" y="14630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складові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630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ініціалізація → умова → оновлення (не забудь!)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658368" y="1965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Прапорець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196596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= True / False — зрозумілий спосіб зупинити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658368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46888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негайно виходить з циклу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658368" y="297180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Валідація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297180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не пройшла перевірка: повторити запит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8229600" cy="438912"/>
          </a:xfrm>
          <a:prstGeom prst="rect">
            <a:avLst/>
          </a:prstGeom>
          <a:solidFill>
            <a:srgbClr val="2028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58368" y="3474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Меню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47472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+ if/elif/else = інтерактивна програма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438912"/>
          </a:xfrm>
          <a:prstGeom prst="rect">
            <a:avLst/>
          </a:prstGeom>
          <a:solidFill>
            <a:srgbClr val="1E2450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Shape 28"/>
          <p:cNvSpPr/>
          <p:nvPr/>
        </p:nvSpPr>
        <p:spPr>
          <a:xfrm>
            <a:off x="457200" y="3977640"/>
            <a:ext cx="54864" cy="438912"/>
          </a:xfrm>
          <a:prstGeom prst="rect">
            <a:avLst/>
          </a:prstGeom>
          <a:solidFill>
            <a:srgbClr val="3DC9B0"/>
          </a:solidFill>
          <a:ln w="12700">
            <a:solidFill>
              <a:srgbClr val="3DC9B0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658368" y="397764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 цикл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926080" y="3977640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виникає коли умова ніколи не стає False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0" y="4828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8F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for і списки — перебір колекцій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1128</Words>
  <Application>Microsoft Macintosh PowerPoint</Application>
  <PresentationFormat>On-screen Show (16:9)</PresentationFormat>
  <Paragraphs>256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Web — Заняття 5</dc:title>
  <dc:subject>PptxGenJS Presentation</dc:subject>
  <dc:creator>PptxGenJS</dc:creator>
  <cp:lastModifiedBy>Штефан Дмитро</cp:lastModifiedBy>
  <cp:revision>2</cp:revision>
  <dcterms:created xsi:type="dcterms:W3CDTF">2026-05-24T06:19:14Z</dcterms:created>
  <dcterms:modified xsi:type="dcterms:W3CDTF">2026-05-24T06:32:31Z</dcterms:modified>
</cp:coreProperties>
</file>