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5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805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E"/>
          </a:solidFill>
          <a:ln w="1270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web-додатків з використанням Python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44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Функції в </a:t>
            </a:r>
            <a:r>
              <a:rPr lang="en-US" sz="44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параметри, аргументи, return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2761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Пишемо код, який не повторюється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82112"/>
            <a:ext cx="3200400" cy="36576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5422392" y="946404"/>
            <a:ext cx="3459437" cy="29718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5586984" y="106527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5788152" y="106527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989320" y="106527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559552" y="1266444"/>
            <a:ext cx="3246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calculate_area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(width, height):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width * height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calculate_area(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(room)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20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 без функцій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886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749808" y="1143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 функції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1572768"/>
            <a:ext cx="3337560" cy="20574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941832" y="169164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143000" y="169164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1344168" y="169164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914400" y="1892808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area1</a:t>
            </a: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area2</a:t>
            </a: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area3</a:t>
            </a: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(area1)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(area2)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(area3)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886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010912" y="1143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A7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 функцією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0" y="1572768"/>
            <a:ext cx="3337560" cy="20574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5193792" y="169164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394960" y="169164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5596128" y="169164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166360" y="1892808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0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calculate_area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(width, height):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width * height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(calculate_area(</a:t>
            </a:r>
            <a:r>
              <a:rPr lang="en-US" sz="105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(calculate_area(</a:t>
            </a:r>
            <a:r>
              <a:rPr lang="en-US" sz="105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(calculate_area(</a:t>
            </a:r>
            <a:r>
              <a:rPr lang="en-US" sz="105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0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446227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— це спосіб дати ім'я шматку коду і використовувати його багато разів.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Анатомія функції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932688"/>
            <a:ext cx="7818120" cy="13716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22960" y="105156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024128" y="105156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225296" y="105156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795528" y="1252728"/>
            <a:ext cx="7543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5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greet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(name):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def, ім'я, параметр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"Привіт, "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name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тіло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message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# що повертаємо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" y="2633472"/>
            <a:ext cx="1234440" cy="310896"/>
          </a:xfrm>
          <a:prstGeom prst="roundRect">
            <a:avLst/>
          </a:prstGeom>
          <a:solidFill>
            <a:srgbClr val="FF9D6C">
              <a:alpha val="92000"/>
            </a:srgbClr>
          </a:solidFill>
          <a:ln w="12700">
            <a:solidFill>
              <a:srgbClr val="FF9D6C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841248" y="2685619"/>
            <a:ext cx="1234440" cy="1791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ключове слово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40280" y="2642616"/>
            <a:ext cx="1234440" cy="310896"/>
          </a:xfrm>
          <a:prstGeom prst="roundRect">
            <a:avLst/>
          </a:prstGeom>
          <a:solidFill>
            <a:srgbClr val="3DC9B0">
              <a:alpha val="92000"/>
            </a:srgbClr>
          </a:solidFill>
          <a:ln w="12700">
            <a:solidFill>
              <a:srgbClr val="3DC9B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2226564" y="2662856"/>
            <a:ext cx="1234440" cy="2412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ім'я функції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39312" y="2642616"/>
            <a:ext cx="1051560" cy="310896"/>
          </a:xfrm>
          <a:prstGeom prst="roundRect">
            <a:avLst/>
          </a:prstGeom>
          <a:solidFill>
            <a:srgbClr val="5B8FF9">
              <a:alpha val="92000"/>
            </a:srgbClr>
          </a:solidFill>
          <a:ln w="12700">
            <a:solidFill>
              <a:srgbClr val="5B8FF9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3639312" y="2666420"/>
            <a:ext cx="1051560" cy="223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2642616"/>
            <a:ext cx="749808" cy="310896"/>
          </a:xfrm>
          <a:prstGeom prst="roundRect">
            <a:avLst/>
          </a:prstGeom>
          <a:solidFill>
            <a:srgbClr val="C9A0FF">
              <a:alpha val="92000"/>
            </a:srgbClr>
          </a:solidFill>
          <a:ln w="12700">
            <a:solidFill>
              <a:srgbClr val="C9A0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846320" y="2697446"/>
            <a:ext cx="749808" cy="18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тіло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51576" y="2642616"/>
            <a:ext cx="1005840" cy="310896"/>
          </a:xfrm>
          <a:prstGeom prst="roundRect">
            <a:avLst/>
          </a:prstGeom>
          <a:solidFill>
            <a:srgbClr val="28A745">
              <a:alpha val="92000"/>
            </a:srgbClr>
          </a:solidFill>
          <a:ln w="12700">
            <a:solidFill>
              <a:srgbClr val="28A74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751576" y="2682820"/>
            <a:ext cx="1005840" cy="18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3246120"/>
            <a:ext cx="7315200" cy="310896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914400" y="3246120"/>
            <a:ext cx="54864" cy="310896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1143000" y="332841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331720" y="331927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починає оголошення функції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3639312"/>
            <a:ext cx="7315200" cy="310896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914400" y="3639312"/>
            <a:ext cx="54864" cy="310896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1143000" y="372160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ім'я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331720" y="3712464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 пояснює, що робить функція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4032504"/>
            <a:ext cx="7315200" cy="310896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914400" y="4032504"/>
            <a:ext cx="54864" cy="310896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1143000" y="411480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параметри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331720" y="4105656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дані, які функція отримує на вході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4400" y="4425696"/>
            <a:ext cx="7315200" cy="310896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3" name="Shape 31"/>
          <p:cNvSpPr/>
          <p:nvPr/>
        </p:nvSpPr>
        <p:spPr>
          <a:xfrm>
            <a:off x="914400" y="4425696"/>
            <a:ext cx="54864" cy="310896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1143000" y="450799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331720" y="4498848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повертає результат туди, де функцію викликали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Параметри vs аргументи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960120"/>
            <a:ext cx="3749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868680" y="1143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8F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Параметр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5727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змінна у визначенні функції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у def greet(name)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3749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074920" y="1143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C9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Аргумент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74920" y="15727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конкретне значення при виклику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20574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"Олег" у greet("Олег")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70832" y="1691640"/>
            <a:ext cx="411480" cy="320040"/>
          </a:xfrm>
          <a:prstGeom prst="chevron">
            <a:avLst/>
          </a:prstGeom>
          <a:solidFill>
            <a:srgbClr val="3DC9B0">
              <a:alpha val="94000"/>
            </a:srgbClr>
          </a:solidFill>
          <a:ln w="12700">
            <a:solidFill>
              <a:srgbClr val="3DC9B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960120" y="3246120"/>
            <a:ext cx="3886200" cy="15087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1124712" y="33649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1325880" y="33649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1527048" y="33649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1097280" y="35661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greet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"Привіт, " + name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(greet(</a:t>
            </a:r>
            <a:r>
              <a:rPr lang="en-US" sz="115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"Олег"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(greet(</a:t>
            </a:r>
            <a:r>
              <a:rPr lang="en-US" sz="115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"Аня"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(greet(</a:t>
            </a:r>
            <a:r>
              <a:rPr lang="en-US" sz="115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"Іра"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230368" y="3337560"/>
            <a:ext cx="2971800" cy="1207008"/>
          </a:xfrm>
          <a:prstGeom prst="rect">
            <a:avLst/>
          </a:prstGeom>
          <a:solidFill>
            <a:srgbClr val="EEF3FF"/>
          </a:solidFill>
          <a:ln w="12700">
            <a:solidFill>
              <a:srgbClr val="D8DEE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440680" y="36210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 — порожня коробка з підписом.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 — те, що ми туди кладемо.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Кілька параметрів і значення за замовчуванням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71016"/>
            <a:ext cx="39776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Кілька параметрів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1956816"/>
            <a:ext cx="3429000" cy="146304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987552" y="207568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188720" y="207568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1389888" y="207568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960120" y="2276856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power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(base, exponent):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base ** exponent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125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271016"/>
            <a:ext cx="39776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983480" y="1481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Значення за замовчуванням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83480" y="1956816"/>
            <a:ext cx="3429000" cy="146304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5148072" y="207568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349240" y="207568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5550408" y="207568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120640" y="2276856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power</a:t>
            </a:r>
            <a:r>
              <a:rPr lang="en-US" sz="11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(base, exponent=</a:t>
            </a:r>
            <a:r>
              <a:rPr lang="en-US" sz="11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1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base ** exponent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r>
              <a:rPr lang="en-US" sz="11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1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25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</a:t>
            </a:r>
            <a:r>
              <a:rPr lang="en-US" sz="11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1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1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125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187952"/>
            <a:ext cx="7589520" cy="384048"/>
          </a:xfrm>
          <a:prstGeom prst="rect">
            <a:avLst/>
          </a:prstGeom>
          <a:solidFill>
            <a:srgbClr val="FF9D6C">
              <a:alpha val="12000"/>
            </a:srgbClr>
          </a:solidFill>
          <a:ln w="12700">
            <a:solidFill>
              <a:srgbClr val="FF9D6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960120" y="4297680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 зі значенням за замовчуванням — завжди в кінці.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return: що і навіщо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932688"/>
            <a:ext cx="2487168" cy="621792"/>
          </a:xfrm>
          <a:prstGeom prst="rect">
            <a:avLst/>
          </a:prstGeom>
          <a:solidFill>
            <a:srgbClr val="202847"/>
          </a:solidFill>
          <a:ln w="12700">
            <a:solidFill>
              <a:srgbClr val="313A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749808" y="106984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Без return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298448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показує текст, але не дає результат назад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932688"/>
            <a:ext cx="2487168" cy="621792"/>
          </a:xfrm>
          <a:prstGeom prst="rect">
            <a:avLst/>
          </a:prstGeom>
          <a:solidFill>
            <a:srgbClr val="26315C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3538728" y="106984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8A7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З return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38728" y="1298448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можна зберегти результат у змінну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932688"/>
            <a:ext cx="2487168" cy="621792"/>
          </a:xfrm>
          <a:prstGeom prst="rect">
            <a:avLst/>
          </a:prstGeom>
          <a:solidFill>
            <a:srgbClr val="202847"/>
          </a:solidFill>
          <a:ln w="12700">
            <a:solidFill>
              <a:srgbClr val="313A6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327648" y="106984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return зупиняє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27648" y="1298448"/>
            <a:ext cx="2176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return функція завершується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1856232"/>
            <a:ext cx="7589520" cy="254203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941832" y="197510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1143000" y="197510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1344168" y="197510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914400" y="2176272"/>
            <a:ext cx="7315200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Без return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92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say_hello</a:t>
            </a:r>
            <a:r>
              <a:rPr lang="en-US" sz="92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(name):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92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("Привіт, " + name)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З return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92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make_greeting</a:t>
            </a:r>
            <a:r>
              <a:rPr lang="en-US" sz="92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(name):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92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"Привіт, " + name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en-US" sz="92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make_greeting(</a:t>
            </a:r>
            <a:r>
              <a:rPr lang="en-US" sz="92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"Аня"</a:t>
            </a:r>
            <a:r>
              <a:rPr lang="en-US" sz="92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return зупиняє функцію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92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check_age</a:t>
            </a:r>
            <a:r>
              <a:rPr lang="en-US" sz="92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(age):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92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&lt; </a:t>
            </a:r>
            <a:r>
              <a:rPr lang="en-US" sz="92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92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r>
              <a:rPr lang="en-US" sz="92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"Неповнолітній"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92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"Повнолітній"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85800" y="4617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показує. return повертає значення для подальшої роботи.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Практика: функція для середнього бала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1571" y="1163782"/>
            <a:ext cx="3429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755307" y="1246078"/>
            <a:ext cx="338328" cy="33832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55307" y="1364950"/>
            <a:ext cx="338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21651" y="125522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Оголошуємо функцію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21651" y="1456390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average_grade(grades):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81571" y="1867870"/>
            <a:ext cx="3429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755307" y="1950166"/>
            <a:ext cx="338328" cy="338328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755307" y="2069038"/>
            <a:ext cx="338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21651" y="195931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Пишемо логіку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21651" y="2160478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+ len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81571" y="2571958"/>
            <a:ext cx="3429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755307" y="2654254"/>
            <a:ext cx="338328" cy="33832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755307" y="2773126"/>
            <a:ext cx="338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21651" y="266339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Повертаємо результат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21651" y="2864566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total / count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581571" y="3276046"/>
            <a:ext cx="3429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755307" y="3358342"/>
            <a:ext cx="338328" cy="338328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746163" y="3477214"/>
            <a:ext cx="338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21651" y="336748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Викликаємо і перевіряємо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21651" y="3568654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print(average_grade(...))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376331" y="1182070"/>
            <a:ext cx="4160520" cy="26517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4540923" y="130094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4742091" y="130094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Shape 26"/>
          <p:cNvSpPr/>
          <p:nvPr/>
        </p:nvSpPr>
        <p:spPr>
          <a:xfrm>
            <a:off x="4943259" y="130094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7"/>
          <p:cNvSpPr/>
          <p:nvPr/>
        </p:nvSpPr>
        <p:spPr>
          <a:xfrm>
            <a:off x="4513491" y="1502110"/>
            <a:ext cx="3886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average_grade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(grades):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</a:t>
            </a:r>
            <a:r>
              <a:rPr lang="en-US" sz="11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(grades)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</a:t>
            </a:r>
            <a:r>
              <a:rPr lang="en-US" sz="11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1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(grades)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/ count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my_grades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115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5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5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5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5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(average_grade(my_grades))</a:t>
            </a:r>
            <a:r>
              <a:rPr lang="en-US" sz="115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86.6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13491" y="4163014"/>
            <a:ext cx="3886200" cy="502920"/>
          </a:xfrm>
          <a:prstGeom prst="rect">
            <a:avLst/>
          </a:prstGeom>
          <a:solidFill>
            <a:srgbClr val="EEF3FF"/>
          </a:solidFill>
          <a:ln w="12700">
            <a:solidFill>
              <a:srgbClr val="D8DEE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4696371" y="4163015"/>
            <a:ext cx="3520440" cy="447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Питання: що буде, якщо список порожній?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Типові помилки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2606040" cy="731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76072" y="11704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Забули return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" y="15727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повертає None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76072" y="1874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додати return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" y="2331720"/>
            <a:ext cx="2194560" cy="132588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777240" y="24505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978408" y="24505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1179576" y="24505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749808" y="2651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86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</a:t>
            </a:r>
            <a:r>
              <a:rPr lang="en-US" sz="86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b):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+ b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треба: return a + b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3291840" y="96012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3291840" y="960120"/>
            <a:ext cx="2606040" cy="73152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3456432" y="11704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 той порядок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56432" y="15727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не той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56432" y="1874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іменовані аргументи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93008" y="2331720"/>
            <a:ext cx="2194560" cy="132588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3657600" y="24505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3858768" y="24505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4059936" y="24505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3630168" y="2651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86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repeat</a:t>
            </a:r>
            <a:r>
              <a:rPr lang="en-US" sz="86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(text, times):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86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 * times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r>
              <a:rPr lang="en-US" sz="86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(times=</a:t>
            </a:r>
            <a:r>
              <a:rPr lang="en-US" sz="86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86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text=</a:t>
            </a:r>
            <a:r>
              <a:rPr lang="en-US" sz="86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"Hi"</a:t>
            </a:r>
            <a:r>
              <a:rPr lang="en-US" sz="86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172200" y="96012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F5">
                <a:alpha val="70000"/>
              </a:srgbClr>
            </a:solidFill>
            <a:prstDash val="solid"/>
          </a:ln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6172200" y="960120"/>
            <a:ext cx="2606040" cy="7315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336792" y="11704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Змінна з тіла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36792" y="15727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NameError ззовні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36792" y="1874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повертати значення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73368" y="2331720"/>
            <a:ext cx="2194560" cy="132588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Shape 29"/>
          <p:cNvSpPr/>
          <p:nvPr/>
        </p:nvSpPr>
        <p:spPr>
          <a:xfrm>
            <a:off x="6537960" y="24505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30"/>
          <p:cNvSpPr/>
          <p:nvPr/>
        </p:nvSpPr>
        <p:spPr>
          <a:xfrm>
            <a:off x="6739128" y="24505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3" name="Shape 31"/>
          <p:cNvSpPr/>
          <p:nvPr/>
        </p:nvSpPr>
        <p:spPr>
          <a:xfrm>
            <a:off x="6940296" y="24505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6510528" y="2651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86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</a:t>
            </a:r>
            <a:r>
              <a:rPr lang="en-US" sz="86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</a:t>
            </a:r>
            <a:r>
              <a:rPr lang="en-US" sz="86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86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60" dirty="0"/>
          </a:p>
          <a:p>
            <a:pPr marL="0" indent="0">
              <a:buNone/>
            </a:pPr>
            <a:r>
              <a:rPr lang="en-US" sz="86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r>
              <a:rPr lang="en-US" sz="86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731520" y="4718304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uk-UA" sz="125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програміст бачить помилки щодня. Різниця лише в тому, як швидко він їх знаходить.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E"/>
          </a:solidFill>
          <a:ln w="1270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Підсумок заняття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03020"/>
            <a:ext cx="8001000" cy="41148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48640" y="1303020"/>
            <a:ext cx="54864" cy="41148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786384" y="142189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70632" y="141274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оголошуємо функцію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1833372"/>
            <a:ext cx="8001000" cy="411480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548640" y="1833372"/>
            <a:ext cx="54864" cy="41148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786384" y="195224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параметри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70632" y="194310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вхідні змінні у визначенні функції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363724"/>
            <a:ext cx="8001000" cy="41148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548640" y="2363724"/>
            <a:ext cx="54864" cy="41148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786384" y="248259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аргументи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70632" y="2473452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конкретні значення при виклику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894076"/>
            <a:ext cx="8001000" cy="411480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548640" y="2894076"/>
            <a:ext cx="54864" cy="41148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786384" y="3012948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70632" y="300380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повертає результат для подальшого використання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424428"/>
            <a:ext cx="8001000" cy="411480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548640" y="3424428"/>
            <a:ext cx="54864" cy="41148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786384" y="35433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значення за замовчуванням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70632" y="3534156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роблять функцію гнучкішою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40280" y="482803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функцій і структура програми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709</Words>
  <Application>Microsoft Macintosh PowerPoint</Application>
  <PresentationFormat>On-screen Show (16:9)</PresentationFormat>
  <Paragraphs>155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Web — Заняття 10</dc:title>
  <dc:subject>Функції, параметри, аргументи і return</dc:subject>
  <dc:creator>Python Web Course</dc:creator>
  <cp:lastModifiedBy>Штефан Дмитро</cp:lastModifiedBy>
  <cp:revision>4</cp:revision>
  <dcterms:created xsi:type="dcterms:W3CDTF">2026-06-13T07:04:24Z</dcterms:created>
  <dcterms:modified xsi:type="dcterms:W3CDTF">2026-06-13T07:57:27Z</dcterms:modified>
</cp:coreProperties>
</file>