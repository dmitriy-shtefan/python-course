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2013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Вітаємо студентів. Сьогодні розбираємо два найпоширеніші формати обміну даними — CSV та JSON. Мета заняття: навчитись читати, обробляти і записувати обидва формати за допомогою стандартних модулів Python, а також зрозуміти, коли який формат обирати.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Пояснюємо студентам різницю на прикладах: CSV — це як таблиця в Excel, а JSON — як вкладена структура: об'єкт всередині об'єкта. Наводимо приклад: файл з оцінками студентів (CSV) проти профілю користувача з масивом захоплень (JSON).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Показуємо на екрані живий приклад: файл students.csv з колонками name, grade. Наголошуємо: DictReader зручніший за звичайний reader, бо звертання по назві колонки читабельніше, ніж по індексу row[0], row[1]. Питаємо студентів: що станеться, якщо забути encoding='utf-8'?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Тут варто зробити демонстрацію «живої помилки»: спочатку відкрити файл без newline='' на Windows і показати порожні рядки, потім виправити. Це запам'ятовується краще, ніж просто сказати правило.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Ключовий момент, який студенти часто плутають: load/dump працюють з файлом, loads/dumps — з рядком (s = string). Обов'язково пояснити ensure_ascii=False, інакше кирилиця в файлі перетвориться на послідовності \u0410\u0431...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Ця таблиця — гарний момент для дискусії: попросити студентів навести власний приклад, коли вони обрали б CSV, а коли JSON. Наприклад: експорт списку товарів для бухгалтерії — CSV; налаштування додатку або відповідь від погодного API —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Даємо студентам 5-7 хвилин виконати це самостійно. Звертаємо увагу: значення з CSV завжди рядки (навіть grade='92' — це рядок, не число), тому якщо потрібні числа — треба явно застосувати int() при читанні.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Завершуємо заняття коротким рекапом цих чотирьох пунктів — це саме ті помилки, які найчастіше зустрічаються в домашніх завданнях. Даємо домашнє завдання: написати скрипт, який читає CSV з товарами та зберігає його як JSON для умовного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914400"/>
            <a:ext cx="3840480" cy="384048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7955280" y="-274320"/>
            <a:ext cx="2377440" cy="237744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587181" y="774973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300" b="1" kern="0" spc="200" dirty="0">
                <a:solidFill>
                  <a:srgbClr val="02C39A"/>
                </a:solidFill>
              </a:rPr>
              <a:t>Створення </a:t>
            </a:r>
            <a:r>
              <a:rPr lang="en-US" sz="1300" b="1" kern="0" spc="200" dirty="0">
                <a:solidFill>
                  <a:srgbClr val="02C39A"/>
                </a:solidFill>
              </a:rPr>
              <a:t>WEB-</a:t>
            </a:r>
            <a:r>
              <a:rPr lang="ru-RU" sz="1300" b="1" kern="0" spc="200" dirty="0">
                <a:solidFill>
                  <a:srgbClr val="02C39A"/>
                </a:solidFill>
              </a:rPr>
              <a:t>додатків з використанням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1461" y="1140733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Робота з CSV та JSON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Python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8893" y="2878093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</a:rPr>
              <a:t>Як читати, обробляти та зберігати структуровані дані: від таблиць до вкладених об'єктів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8893" y="3701053"/>
            <a:ext cx="457200" cy="457200"/>
          </a:xfrm>
          <a:prstGeom prst="ellipse">
            <a:avLst/>
          </a:prstGeom>
          <a:solidFill>
            <a:srgbClr val="232C57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763" y="3803923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31733" y="4176541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3BE"/>
                </a:solidFill>
              </a:rPr>
              <a:t>CSV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254693" y="3701053"/>
            <a:ext cx="457200" cy="457200"/>
          </a:xfrm>
          <a:prstGeom prst="ellipse">
            <a:avLst/>
          </a:prstGeom>
          <a:solidFill>
            <a:srgbClr val="232C57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7563" y="3803923"/>
            <a:ext cx="251460" cy="2514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940493" y="3701053"/>
            <a:ext cx="457200" cy="457200"/>
          </a:xfrm>
          <a:prstGeom prst="ellipse">
            <a:avLst/>
          </a:prstGeom>
          <a:solidFill>
            <a:srgbClr val="232C57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3363" y="3803923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03333" y="4176541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3BE"/>
                </a:solidFill>
              </a:rPr>
              <a:t>JSON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ВСТУП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Навіщо взагалі потрібні ці формати?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07A"/>
                </a:solidFill>
              </a:rPr>
              <a:t>Програми постійно обмінюються даними — з файлами, іншими сервісами, базами даних. CSV і JSON — це два «спільні мови», які розуміє майже будь-яка система.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79476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227228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</a:rPr>
              <a:t>CSV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508760" y="2496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494"/>
                </a:solidFill>
              </a:rPr>
              <a:t>Comma-Separated Values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960" y="28803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370"/>
                </a:solidFill>
              </a:rPr>
              <a:t>Простий текстовий формат для табличних даних — рядки й колонки, розділені комами.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36118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4370"/>
                </a:solidFill>
              </a:rPr>
              <a:t>Відкривається в Excel/Google Sheets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4370"/>
                </a:solidFill>
              </a:rPr>
              <a:t>Ідеально для однорідних таблиць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4370"/>
                </a:solidFill>
              </a:rPr>
              <a:t>Немає вкладеності — тільки «плоска» структура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00600" y="1874520"/>
            <a:ext cx="379476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10"/>
          <p:cNvSpPr/>
          <p:nvPr/>
        </p:nvSpPr>
        <p:spPr>
          <a:xfrm>
            <a:off x="5074920" y="21488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364" y="2272284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60720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</a:rPr>
              <a:t>JSON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5760720" y="2496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494"/>
                </a:solidFill>
              </a:rPr>
              <a:t>JavaScript Object Notation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074920" y="28803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370"/>
                </a:solidFill>
              </a:rPr>
              <a:t>Формат для структурованих і вкладених даних — об'єкти, списки, будь-яка глибина вкладеності.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074920" y="36118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4370"/>
                </a:solidFill>
              </a:rPr>
              <a:t>Мова обміну даними для API та вебу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4370"/>
                </a:solidFill>
              </a:rPr>
              <a:t>Підтримує вкладені структури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uk-UA" sz="1100" dirty="0">
                <a:solidFill>
                  <a:srgbClr val="3A4370"/>
                </a:solidFill>
              </a:rPr>
              <a:t>Природно</a:t>
            </a:r>
            <a:r>
              <a:rPr lang="en-US" sz="1100" dirty="0">
                <a:solidFill>
                  <a:srgbClr val="3A4370"/>
                </a:solidFill>
              </a:rPr>
              <a:t> </a:t>
            </a:r>
            <a:r>
              <a:rPr lang="uk-UA" sz="1100" dirty="0">
                <a:solidFill>
                  <a:srgbClr val="3A4370"/>
                </a:solidFill>
              </a:rPr>
              <a:t>переноситься</a:t>
            </a:r>
            <a:r>
              <a:rPr lang="en-US" sz="1100" dirty="0">
                <a:solidFill>
                  <a:srgbClr val="3A4370"/>
                </a:solidFill>
              </a:rPr>
              <a:t> на словники Python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8732520" y="482803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BE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КРОК 1 · CSV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Читаємо CSV-файл модулем csv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955" y="1405890"/>
            <a:ext cx="4846320" cy="2331720"/>
          </a:xfrm>
          <a:prstGeom prst="roundRect">
            <a:avLst>
              <a:gd name="adj" fmla="val 2353"/>
            </a:avLst>
          </a:prstGeom>
          <a:solidFill>
            <a:srgbClr val="0D133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604259" y="1533906"/>
            <a:ext cx="82296" cy="82296"/>
          </a:xfrm>
          <a:prstGeom prst="ellipse">
            <a:avLst/>
          </a:prstGeom>
          <a:solidFill>
            <a:srgbClr val="E5533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768851" y="1533906"/>
            <a:ext cx="82296" cy="82296"/>
          </a:xfrm>
          <a:prstGeom prst="ellipse">
            <a:avLst/>
          </a:prstGeom>
          <a:solidFill>
            <a:srgbClr val="E5B93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933443" y="1533906"/>
            <a:ext cx="82296" cy="82296"/>
          </a:xfrm>
          <a:prstGeom prst="ellipse">
            <a:avLst/>
          </a:prstGeom>
          <a:solidFill>
            <a:srgbClr val="3DBF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1006595" y="150647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read_csv.py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987" y="1771650"/>
            <a:ext cx="43342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csv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open('students.csv', encoding='utf-8') as f: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reader = csv.DictReader(f)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row in reader: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print(row['name'], row['grade'])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532875" y="1405890"/>
            <a:ext cx="384048" cy="384048"/>
          </a:xfrm>
          <a:prstGeom prst="ellipse">
            <a:avLst/>
          </a:prstGeom>
          <a:solidFill>
            <a:srgbClr val="232C57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286" y="1492301"/>
            <a:ext cx="211226" cy="21122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054083" y="138760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open() відкриває файл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054083" y="166192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3BE"/>
                </a:solidFill>
              </a:rPr>
              <a:t>Завжди вказуємо encoding='utf-8' — інакше українські літери можуть «зламатись».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532875" y="2247138"/>
            <a:ext cx="384048" cy="384048"/>
          </a:xfrm>
          <a:prstGeom prst="ellipse">
            <a:avLst/>
          </a:prstGeom>
          <a:solidFill>
            <a:srgbClr val="232C57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286" y="2333549"/>
            <a:ext cx="211226" cy="21122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054083" y="222885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DictReader читає рядок як словник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054083" y="250317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3BE"/>
                </a:solidFill>
              </a:rPr>
              <a:t>Кожен рядок стає dict, де ключі — назви колонок з першого рядка файлу.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532875" y="3088386"/>
            <a:ext cx="384048" cy="384048"/>
          </a:xfrm>
          <a:prstGeom prst="ellipse">
            <a:avLst/>
          </a:prstGeom>
          <a:solidFill>
            <a:srgbClr val="232C57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286" y="3174797"/>
            <a:ext cx="211226" cy="21122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054083" y="307009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Ітеруємось у циклі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054083" y="334441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3BE"/>
                </a:solidFill>
              </a:rPr>
              <a:t>reader — це ітератор: обробляємо рядки один за одним, не завантажуючи все у пам'ять.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705843" y="48332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BE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КРОК 2 · CSV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Записуємо дані у CSV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07A"/>
                </a:solidFill>
              </a:rPr>
              <a:t>Той самий модуль csv, тільки замість Reader використовуємо Writer. Головне правило — newline=''.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4846320" cy="3200400"/>
          </a:xfrm>
          <a:prstGeom prst="roundRect">
            <a:avLst>
              <a:gd name="adj" fmla="val 1714"/>
            </a:avLst>
          </a:prstGeom>
          <a:solidFill>
            <a:srgbClr val="0D133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694944" y="1728216"/>
            <a:ext cx="82296" cy="82296"/>
          </a:xfrm>
          <a:prstGeom prst="ellipse">
            <a:avLst/>
          </a:prstGeom>
          <a:solidFill>
            <a:srgbClr val="E5533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859536" y="1728216"/>
            <a:ext cx="82296" cy="82296"/>
          </a:xfrm>
          <a:prstGeom prst="ellipse">
            <a:avLst/>
          </a:prstGeom>
          <a:solidFill>
            <a:srgbClr val="E5B93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1024128" y="1728216"/>
            <a:ext cx="82296" cy="82296"/>
          </a:xfrm>
          <a:prstGeom prst="ellipse">
            <a:avLst/>
          </a:prstGeom>
          <a:solidFill>
            <a:srgbClr val="3DBF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1335024" y="169621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write_csv.py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" y="1965960"/>
            <a:ext cx="459028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csv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 = [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{'name': 'Оля', 'grade': 92},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{'name': 'Іван', 'grade': 85},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open('out.csv', 'w', newline='',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encoding='utf-8') as f: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writer = csv.DictWriter(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f, fieldnames=['name', 'grade'])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writer.writeheader()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writer.writerows(rows)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23560" y="1600200"/>
            <a:ext cx="2971800" cy="1371600"/>
          </a:xfrm>
          <a:prstGeom prst="roundRect">
            <a:avLst>
              <a:gd name="adj" fmla="val 5333"/>
            </a:avLst>
          </a:prstGeom>
          <a:solidFill>
            <a:srgbClr val="FFF4E9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5852160" y="181051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571" y="1896923"/>
            <a:ext cx="211226" cy="21122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355080" y="17922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4E12"/>
                </a:solidFill>
              </a:rPr>
              <a:t>newline=''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852160" y="22128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4E12"/>
                </a:solidFill>
              </a:rPr>
              <a:t>Без цього параметра Windows додає зайві порожні рядки між записами.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623560" y="3154680"/>
            <a:ext cx="29718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Shape 14"/>
          <p:cNvSpPr/>
          <p:nvPr/>
        </p:nvSpPr>
        <p:spPr>
          <a:xfrm>
            <a:off x="5852160" y="336499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8571" y="3451403"/>
            <a:ext cx="211226" cy="21122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355080" y="334670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DictWriter vs writer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5852160" y="37947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370"/>
                </a:solidFill>
              </a:rPr>
              <a:t>DictWriter зручний, коли дані вже у вигляді словників — не треба стежити за порядком колонок вручну.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8732520" y="482803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BE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КРОК 3 · JSON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json: load, loads, dump, dumps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029200" cy="2880360"/>
          </a:xfrm>
          <a:prstGeom prst="roundRect">
            <a:avLst>
              <a:gd name="adj" fmla="val 1905"/>
            </a:avLst>
          </a:prstGeom>
          <a:solidFill>
            <a:srgbClr val="0D133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694944" y="1362456"/>
            <a:ext cx="82296" cy="82296"/>
          </a:xfrm>
          <a:prstGeom prst="ellipse">
            <a:avLst/>
          </a:prstGeom>
          <a:solidFill>
            <a:srgbClr val="E5533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859536" y="1362456"/>
            <a:ext cx="82296" cy="82296"/>
          </a:xfrm>
          <a:prstGeom prst="ellipse">
            <a:avLst/>
          </a:prstGeom>
          <a:solidFill>
            <a:srgbClr val="E5B93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1024128" y="1362456"/>
            <a:ext cx="82296" cy="82296"/>
          </a:xfrm>
          <a:prstGeom prst="ellipse">
            <a:avLst/>
          </a:prstGeom>
          <a:solidFill>
            <a:srgbClr val="3DBF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1207008" y="131779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json_demo.py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" y="1600200"/>
            <a:ext cx="451713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читання з файлу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open('user.json', encoding='utf-8') as f: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json.load(f)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print(data['name'], data['hobbies'][0])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запис у файл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open('out.json', 'w', encoding='utf-8') as f: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json.dump(data, f, ensure_ascii=False, indent=2)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06440" y="1234440"/>
            <a:ext cx="2788920" cy="658368"/>
          </a:xfrm>
          <a:prstGeom prst="roundRect">
            <a:avLst>
              <a:gd name="adj" fmla="val 8333"/>
            </a:avLst>
          </a:prstGeom>
          <a:solidFill>
            <a:srgbClr val="232C5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971032" y="1298448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load(file)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71032" y="1554480"/>
            <a:ext cx="2459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BE"/>
                </a:solidFill>
              </a:rPr>
              <a:t>Читає JSON з файлового об'єкта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06440" y="2011680"/>
            <a:ext cx="2788920" cy="658368"/>
          </a:xfrm>
          <a:prstGeom prst="roundRect">
            <a:avLst>
              <a:gd name="adj" fmla="val 8333"/>
            </a:avLst>
          </a:prstGeom>
          <a:solidFill>
            <a:srgbClr val="232C5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971032" y="2075688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loads(str)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71032" y="2331720"/>
            <a:ext cx="2459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BE"/>
                </a:solidFill>
              </a:rPr>
              <a:t>Читає JSON з рядка (String)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06440" y="2788920"/>
            <a:ext cx="2788920" cy="658368"/>
          </a:xfrm>
          <a:prstGeom prst="roundRect">
            <a:avLst>
              <a:gd name="adj" fmla="val 8333"/>
            </a:avLst>
          </a:prstGeom>
          <a:solidFill>
            <a:srgbClr val="232C5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971032" y="2852928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dump(obj, file)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71032" y="3108960"/>
            <a:ext cx="2459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BE"/>
                </a:solidFill>
              </a:rPr>
              <a:t>Записує об'єкт у файл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06440" y="3566160"/>
            <a:ext cx="2788920" cy="658368"/>
          </a:xfrm>
          <a:prstGeom prst="roundRect">
            <a:avLst>
              <a:gd name="adj" fmla="val 8333"/>
            </a:avLst>
          </a:prstGeom>
          <a:solidFill>
            <a:srgbClr val="232C5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5971032" y="3630168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dumps(obj)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71032" y="3886200"/>
            <a:ext cx="2459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BE"/>
                </a:solidFill>
              </a:rPr>
              <a:t>Перетворює об'єкт у рядок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39720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2C39A"/>
                </a:solidFill>
              </a:rPr>
              <a:t>d </a:t>
            </a:r>
            <a:r>
              <a:rPr lang="en-US" sz="1050" i="1" dirty="0">
                <a:solidFill>
                  <a:srgbClr val="8A93BE"/>
                </a:solidFill>
              </a:rPr>
              <a:t>= dict/list у Python  •  ensure_ascii=False зберігає кирилицю читабельною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732520" y="482803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BE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ПОРІВНЯННЯ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обирати CSV, а коли JSON?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3127248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Критерій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Структура даних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Тільки таблиці (плоска)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Будь-яка вкладеність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Читабельність людиною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Висока в Excel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Висока у вигляді тексту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Розмір файлу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Компактніший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Більший (є ключі-назви)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Типова сфера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Таблиці, вивантаження з БД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API, конфігурації, вебдодатки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Підтримка типів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Все — текст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Числа, bool, null, масиви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732520" y="482803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BE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Практичне завдання: CSV → JSON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93BE"/>
                </a:solidFill>
              </a:rPr>
              <a:t>Типова задача на співбесіді й у реальних проєктах: перетворити таблицю в структуру для API.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4663440" cy="3017520"/>
          </a:xfrm>
          <a:prstGeom prst="roundRect">
            <a:avLst>
              <a:gd name="adj" fmla="val 1818"/>
            </a:avLst>
          </a:prstGeom>
          <a:solidFill>
            <a:srgbClr val="0D133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694944" y="1728216"/>
            <a:ext cx="82296" cy="82296"/>
          </a:xfrm>
          <a:prstGeom prst="ellipse">
            <a:avLst/>
          </a:prstGeom>
          <a:solidFill>
            <a:srgbClr val="E5533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859536" y="1728216"/>
            <a:ext cx="82296" cy="82296"/>
          </a:xfrm>
          <a:prstGeom prst="ellipse">
            <a:avLst/>
          </a:prstGeom>
          <a:solidFill>
            <a:srgbClr val="E5B93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1024128" y="1728216"/>
            <a:ext cx="82296" cy="82296"/>
          </a:xfrm>
          <a:prstGeom prst="ellipse">
            <a:avLst/>
          </a:prstGeom>
          <a:solidFill>
            <a:srgbClr val="3DBF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1207008" y="1696212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convert.py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" y="1965960"/>
            <a:ext cx="415137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csv, json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open('students.csv', encoding='utf-8') as f: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reader = csv.DictReader(f)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students = list(reader)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open('students.json', 'w’,</a:t>
            </a:r>
            <a:r>
              <a:rPr lang="uk-UA" sz="1100" dirty="0"/>
              <a:t> </a:t>
            </a: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encoding='utf-8') as f: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json.dump(students, f,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ensure_ascii=False, indent=2)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32120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93BE"/>
                </a:solidFill>
              </a:rPr>
              <a:t>До: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32120" y="1920240"/>
            <a:ext cx="3063240" cy="777240"/>
          </a:xfrm>
          <a:prstGeom prst="roundRect">
            <a:avLst>
              <a:gd name="adj" fmla="val 5882"/>
            </a:avLst>
          </a:prstGeom>
          <a:solidFill>
            <a:srgbClr val="232C5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5669280" y="1984248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name,grade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Оля,92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Іван,85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80860" y="2871216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3156" y="2953512"/>
            <a:ext cx="201168" cy="20116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532120" y="3246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93BE"/>
                </a:solidFill>
              </a:rPr>
              <a:t>Після: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532120" y="3520440"/>
            <a:ext cx="3063240" cy="1051560"/>
          </a:xfrm>
          <a:prstGeom prst="roundRect">
            <a:avLst>
              <a:gd name="adj" fmla="val 4348"/>
            </a:avLst>
          </a:prstGeom>
          <a:solidFill>
            <a:srgbClr val="232C5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Text 15"/>
          <p:cNvSpPr/>
          <p:nvPr/>
        </p:nvSpPr>
        <p:spPr>
          <a:xfrm>
            <a:off x="5669280" y="356616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{"name": "Оля", "grade": "92"},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{"name": "Іван", "grade": "85"}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732520" y="482803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BE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ПІДСУМОК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Головне, що варто запам'ятати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7947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174879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1848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Завжди вказуйте encoding='utf-8'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1945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370"/>
                </a:solidFill>
              </a:rPr>
              <a:t>Захищає від «кракозябр» з українським текстом при читанні й записі.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1417320"/>
            <a:ext cx="37947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4937760" y="16459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630" y="174879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61848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CSV — усі значення це рядки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37760" y="21945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370"/>
                </a:solidFill>
              </a:rPr>
              <a:t>Числа з CSV потрібно явно перетворювати через int() або float().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2880360"/>
            <a:ext cx="37947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1"/>
          <p:cNvSpPr/>
          <p:nvPr/>
        </p:nvSpPr>
        <p:spPr>
          <a:xfrm>
            <a:off x="777240" y="3108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10" y="321183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0815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ensure_ascii=False для JSON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77240" y="36576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370"/>
                </a:solidFill>
              </a:rPr>
              <a:t>Без цього кирилиця запишеться як послідовності \uXXXX.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09160" y="2880360"/>
            <a:ext cx="37947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0" name="Shape 15"/>
          <p:cNvSpPr/>
          <p:nvPr/>
        </p:nvSpPr>
        <p:spPr>
          <a:xfrm>
            <a:off x="4937760" y="3108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0630" y="321183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30815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newline='' при записі CSV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937760" y="36576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370"/>
                </a:solidFill>
              </a:rPr>
              <a:t>Запобігає появі порожніх рядків у Windows.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8732520" y="482803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BE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1166</Words>
  <Application>Microsoft Macintosh PowerPoint</Application>
  <PresentationFormat>On-screen Show (16:9)</PresentationFormat>
  <Paragraphs>155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Робота з CSV та JSON в Python</dc:title>
  <dc:subject>PptxGenJS Presentation</dc:subject>
  <dc:creator>Дмитро</dc:creator>
  <cp:lastModifiedBy>Штефан Дмитро</cp:lastModifiedBy>
  <cp:revision>2</cp:revision>
  <dcterms:created xsi:type="dcterms:W3CDTF">2026-07-04T06:11:15Z</dcterms:created>
  <dcterms:modified xsi:type="dcterms:W3CDTF">2026-07-04T06:57:15Z</dcterms:modified>
</cp:coreProperties>
</file>