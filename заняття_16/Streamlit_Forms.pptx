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0609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E"/>
          </a:solidFill>
          <a:ln w="1270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web-додатків з використанням Python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13486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 </a:t>
            </a:r>
            <a:r>
              <a:rPr lang="uk-UA" sz="36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та форми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76148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web-сторінка приймає дані від користувача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82112"/>
            <a:ext cx="3200400" cy="36576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5166360" y="960120"/>
            <a:ext cx="3776472" cy="30175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5330952" y="10789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5532120" y="10789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733288" y="10789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303520" y="1280160"/>
            <a:ext cx="3575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streamlit </a:t>
            </a:r>
            <a:r>
              <a:rPr lang="en-US" sz="12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st.title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("Анкета студента")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2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st.form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("profile"):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</a:t>
            </a:r>
            <a:r>
              <a:rPr lang="en-US" sz="12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st.text_input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("Імʼя")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</a:t>
            </a:r>
            <a:r>
              <a:rPr lang="en-US" sz="12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st.selectbox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("Місто", cities)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sent</a:t>
            </a:r>
            <a:r>
              <a:rPr lang="en-US" sz="12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st.form_submit_button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("Надіслати")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Форма перетворює інтерфейс на діалог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461504" y="164592"/>
            <a:ext cx="1444752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61504" y="1645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потрібна, коли додаток не просто показує інформацію, а збирає її від користувача.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46888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289304" y="1737360"/>
            <a:ext cx="868680" cy="868680"/>
          </a:xfrm>
          <a:prstGeom prst="ellipse">
            <a:avLst/>
          </a:prstGeom>
          <a:solidFill>
            <a:srgbClr val="5B8FF9">
              <a:alpha val="92000"/>
            </a:srgbClr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1289304" y="2033973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7614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Поля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952" y="3154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 вводить значення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37560" y="1536192"/>
            <a:ext cx="246888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4123944" y="1737360"/>
            <a:ext cx="868680" cy="868680"/>
          </a:xfrm>
          <a:prstGeom prst="ellipse">
            <a:avLst/>
          </a:prstGeom>
          <a:solidFill>
            <a:srgbClr val="FF9D6C">
              <a:alpha val="92000"/>
            </a:srgbClr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123944" y="204153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0440" y="27614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Перевірка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93592" y="3154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 відсікає порожні або неправильні дані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1536192"/>
            <a:ext cx="246888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6958584" y="1737360"/>
            <a:ext cx="868680" cy="868680"/>
          </a:xfrm>
          <a:prstGeom prst="ellipse">
            <a:avLst/>
          </a:prstGeom>
          <a:solidFill>
            <a:srgbClr val="3DC9B0">
              <a:alpha val="92000"/>
            </a:srgbClr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6961305" y="2033973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27614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Дія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46520" y="316208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зберігаються, фільтруються або відправляються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224528"/>
            <a:ext cx="8046720" cy="438912"/>
          </a:xfrm>
          <a:prstGeom prst="rect">
            <a:avLst/>
          </a:prstGeom>
          <a:solidFill>
            <a:srgbClr val="5B8FF9">
              <a:alpha val="9000"/>
            </a:srgbClr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731520" y="4361688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 питання форми: які дані ми просимо і що робимо після натискання кнопки?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26680" y="48828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Заняття 16 ·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Form описує, що браузер має надіслати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461504" y="164592"/>
            <a:ext cx="1444752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61504" y="1645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4709160" cy="352044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667512" y="112471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868680" y="112471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069848" y="112471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640080" y="1503848"/>
            <a:ext cx="4434840" cy="2930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</a:t>
            </a:r>
            <a:r>
              <a:rPr lang="en-US" sz="12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action=</a:t>
            </a:r>
            <a:r>
              <a:rPr lang="en-US" sz="123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"/contact"</a:t>
            </a:r>
            <a:r>
              <a:rPr lang="en-US" sz="12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method=</a:t>
            </a:r>
            <a:r>
              <a:rPr lang="en-US" sz="123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"post"</a:t>
            </a: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&lt;label&gt;</a:t>
            </a:r>
            <a:r>
              <a:rPr lang="en-US" sz="12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Імʼя</a:t>
            </a: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&lt;/label&gt;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</a:t>
            </a:r>
            <a:r>
              <a:rPr lang="en-US" sz="12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type=</a:t>
            </a:r>
            <a:r>
              <a:rPr lang="en-US" sz="123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r>
              <a:rPr lang="en-US" sz="12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name=</a:t>
            </a:r>
            <a:r>
              <a:rPr lang="en-US" sz="123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&lt;label&gt;</a:t>
            </a:r>
            <a:r>
              <a:rPr lang="en-US" sz="12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Місто</a:t>
            </a: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&lt;/label&gt;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&lt;select</a:t>
            </a:r>
            <a:r>
              <a:rPr lang="en-US" sz="12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name=</a:t>
            </a:r>
            <a:r>
              <a:rPr lang="en-US" sz="123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"city"</a:t>
            </a: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&lt;option&gt;</a:t>
            </a:r>
            <a:r>
              <a:rPr lang="en-US" sz="12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Київ</a:t>
            </a: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&lt;/option&gt;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&lt;/select&gt;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</a:t>
            </a:r>
            <a:r>
              <a:rPr lang="en-US" sz="12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type=</a:t>
            </a:r>
            <a:r>
              <a:rPr lang="en-US" sz="123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"submit"</a:t>
            </a: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Надіслати</a:t>
            </a: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5532120" y="1024128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5532120" y="1024128"/>
            <a:ext cx="64008" cy="56692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715000" y="11978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12280" y="1167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межі форми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32120" y="1773936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5532120" y="1773936"/>
            <a:ext cx="64008" cy="56692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715000" y="1938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/ select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22935" y="19110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 введення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532120" y="2523744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5532120" y="2523744"/>
            <a:ext cx="64008" cy="566928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725655" y="27157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22935" y="27111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для даних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532120" y="3273552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5532120" y="3273552"/>
            <a:ext cx="64008" cy="566928"/>
          </a:xfrm>
          <a:prstGeom prst="rect">
            <a:avLst/>
          </a:prstGeom>
          <a:solidFill>
            <a:srgbClr val="C9A0FF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715000" y="34472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22558" y="3429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момент відправки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577840" y="41879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сам не зберігає дані. Він лише збирає їх і передає далі серверу або JavaScript-коду.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726680" y="48828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Заняття 16 ·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Форма має життєвий цикл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61504" y="164592"/>
            <a:ext cx="1444752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61504" y="1645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Логіка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7955280" cy="566928"/>
          </a:xfrm>
          <a:prstGeom prst="rect">
            <a:avLst/>
          </a:prstGeom>
          <a:solidFill>
            <a:srgbClr val="1E2450"/>
          </a:solidFill>
          <a:ln w="12700">
            <a:solidFill>
              <a:srgbClr val="2A335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749808" y="1033272"/>
            <a:ext cx="365760" cy="36576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49808" y="116091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27845" y="11430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8F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Показати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73765" y="1143000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Заголовки, підказки, поля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1682496"/>
            <a:ext cx="7955280" cy="566928"/>
          </a:xfrm>
          <a:prstGeom prst="rect">
            <a:avLst/>
          </a:prstGeom>
          <a:solidFill>
            <a:srgbClr val="202847"/>
          </a:solidFill>
          <a:ln w="12700">
            <a:solidFill>
              <a:srgbClr val="2A335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749808" y="1783080"/>
            <a:ext cx="365760" cy="365760"/>
          </a:xfrm>
          <a:prstGeom prst="ellipse">
            <a:avLst/>
          </a:prstGeom>
          <a:solidFill>
            <a:srgbClr val="C9A0FF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749808" y="191071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7845" y="18928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Ввести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73765" y="1892808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 заповнює дані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2432304"/>
            <a:ext cx="7955280" cy="566928"/>
          </a:xfrm>
          <a:prstGeom prst="rect">
            <a:avLst/>
          </a:prstGeom>
          <a:solidFill>
            <a:srgbClr val="1E2450"/>
          </a:solidFill>
          <a:ln w="12700">
            <a:solidFill>
              <a:srgbClr val="2A335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749808" y="2532888"/>
            <a:ext cx="365760" cy="365760"/>
          </a:xfrm>
          <a:prstGeom prst="ellipse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749808" y="2660526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27845" y="26426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D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Натиснути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973765" y="2642616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Подія submit або button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94360" y="3182112"/>
            <a:ext cx="7955280" cy="566928"/>
          </a:xfrm>
          <a:prstGeom prst="rect">
            <a:avLst/>
          </a:prstGeom>
          <a:solidFill>
            <a:srgbClr val="202847"/>
          </a:solidFill>
          <a:ln w="12700">
            <a:solidFill>
              <a:srgbClr val="2A335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749808" y="3282696"/>
            <a:ext cx="365760" cy="36576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749808" y="3402777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27845" y="339242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Перевірити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973765" y="3392424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strip, діапазони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94360" y="3931920"/>
            <a:ext cx="7955280" cy="566928"/>
          </a:xfrm>
          <a:prstGeom prst="rect">
            <a:avLst/>
          </a:prstGeom>
          <a:solidFill>
            <a:srgbClr val="1E2450"/>
          </a:solidFill>
          <a:ln w="12700">
            <a:solidFill>
              <a:srgbClr val="2A335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749808" y="4032504"/>
            <a:ext cx="365760" cy="365760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749808" y="4152585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27845" y="41422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C9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Відповісти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973765" y="4142232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error, info, warning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594360" y="4617720"/>
            <a:ext cx="7955280" cy="329184"/>
          </a:xfrm>
          <a:prstGeom prst="rect">
            <a:avLst/>
          </a:prstGeom>
          <a:solidFill>
            <a:srgbClr val="5B8FF9">
              <a:alpha val="12000"/>
            </a:srgbClr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768096" y="4663440"/>
            <a:ext cx="7635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Погана форма питає все підряд. Хороша форма питає тільки те, що потрібно для наступної дії.</a:t>
            </a:r>
            <a:endParaRPr lang="en-US" sz="1100" i="1" dirty="0"/>
          </a:p>
        </p:txBody>
      </p:sp>
      <p:sp>
        <p:nvSpPr>
          <p:cNvPr id="32" name="Text 30"/>
          <p:cNvSpPr/>
          <p:nvPr/>
        </p:nvSpPr>
        <p:spPr>
          <a:xfrm>
            <a:off x="7726680" y="48828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Заняття 16 ·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 Form групує поля в один submit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461504" y="164592"/>
            <a:ext cx="1444752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61504" y="1645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Streamlit форма оголошується через with st.form(...), а відправка відбувається через st.form_submit_button(...).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166360" cy="3401568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67512" y="1536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68680" y="1536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69848" y="1536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640080" y="1874142"/>
            <a:ext cx="4892040" cy="2853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2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st.form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("contact_form"):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st.subheader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("Новий контакт")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</a:t>
            </a:r>
            <a:r>
              <a:rPr lang="en-US" sz="12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st.text_input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("Імʼя")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phone</a:t>
            </a:r>
            <a:r>
              <a:rPr lang="en-US" sz="12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st.text_input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("Телефон", value="+380")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</a:t>
            </a:r>
            <a:r>
              <a:rPr lang="en-US" sz="12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st.selectbox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("Місто", cities)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submitted</a:t>
            </a:r>
            <a:r>
              <a:rPr lang="en-US" sz="12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st.form_submit_button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("Зберегти")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submitted: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st.success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("Контакт збережено")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9320" y="1444752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149529" y="164592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Усі поля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82801" y="164592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належать до одного блоку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9320" y="2194560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149529" y="23957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82801" y="239572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лише після натискання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2944368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6149529" y="314553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submitted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82801" y="314553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місце для перевірки і збереження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3694176"/>
            <a:ext cx="2651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6149529" y="389534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name.strip()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82801" y="389534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прибирає зайві пробіли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26680" y="48828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Заняття 16 ·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Текст задає ієрархію сторінки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461504" y="164592"/>
            <a:ext cx="1444752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61504" y="1645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896112"/>
            <a:ext cx="8138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02920" y="896112"/>
            <a:ext cx="64008" cy="512064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77240" y="1101853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st.title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450592" y="1074421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головний заголовок сторінки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51626" y="110642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візуальна вага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221474" y="1152144"/>
            <a:ext cx="1257300" cy="6400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502920" y="1517904"/>
            <a:ext cx="8138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02920" y="1517904"/>
            <a:ext cx="64008" cy="512064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777240" y="1723645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st.header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450592" y="1696213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великий розділ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51626" y="1728216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візуальна вага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1474" y="1773936"/>
            <a:ext cx="1085850" cy="6400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502920" y="2139696"/>
            <a:ext cx="8138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502920" y="2139696"/>
            <a:ext cx="64008" cy="512064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777240" y="2345437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st.subheader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450592" y="2318005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підрозділ або назва блоку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51626" y="2350008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візуальна вага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1474" y="2395728"/>
            <a:ext cx="914400" cy="64008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502920" y="2761488"/>
            <a:ext cx="8138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502920" y="2761488"/>
            <a:ext cx="64008" cy="512064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777240" y="2967229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st.write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450592" y="2939797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звичайний текст, дані, списки, словники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151626" y="2971800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візуальна вага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21474" y="3017520"/>
            <a:ext cx="800100" cy="6400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502920" y="3383280"/>
            <a:ext cx="8138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502920" y="3383280"/>
            <a:ext cx="64008" cy="512064"/>
          </a:xfrm>
          <a:prstGeom prst="rect">
            <a:avLst/>
          </a:prstGeom>
          <a:solidFill>
            <a:srgbClr val="7A8BB5"/>
          </a:solidFill>
          <a:ln w="12700">
            <a:solidFill>
              <a:srgbClr val="7A8BB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777240" y="3589021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st.caption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450592" y="3561589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малий підпис або додаткова примітка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151626" y="359359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візуальна вага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21474" y="3639312"/>
            <a:ext cx="628650" cy="64008"/>
          </a:xfrm>
          <a:prstGeom prst="rect">
            <a:avLst/>
          </a:prstGeom>
          <a:solidFill>
            <a:srgbClr val="7A8BB5"/>
          </a:solidFill>
          <a:ln w="12700">
            <a:solidFill>
              <a:srgbClr val="7A8BB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Shape 33"/>
          <p:cNvSpPr/>
          <p:nvPr/>
        </p:nvSpPr>
        <p:spPr>
          <a:xfrm>
            <a:off x="502920" y="4041648"/>
            <a:ext cx="8138160" cy="786384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Shape 34"/>
          <p:cNvSpPr/>
          <p:nvPr/>
        </p:nvSpPr>
        <p:spPr>
          <a:xfrm>
            <a:off x="667512" y="41605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Shape 3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Shape 36"/>
          <p:cNvSpPr/>
          <p:nvPr/>
        </p:nvSpPr>
        <p:spPr>
          <a:xfrm>
            <a:off x="1069848" y="41605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/>
          <p:nvPr/>
        </p:nvSpPr>
        <p:spPr>
          <a:xfrm>
            <a:off x="640080" y="4361688"/>
            <a:ext cx="7863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st.title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("Контакти")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st.header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("Новий запис")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st.write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("Заповніть форму нижче")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726680" y="48828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Заняття 16 ·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Статуси пояснюють результат дії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461504" y="164592"/>
            <a:ext cx="1444752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61504" y="1645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7033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73152" cy="969264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58952" y="13258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st.success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16733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дія виконана успішно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37033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73152" cy="9692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919472" y="13258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st.error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6733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помилка або неможлива дія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2496312"/>
            <a:ext cx="37033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02920" y="2496312"/>
            <a:ext cx="73152" cy="969264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758952" y="26791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st.info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" y="302666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нейтральна інформація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2496312"/>
            <a:ext cx="37033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4663440" y="2496312"/>
            <a:ext cx="73152" cy="969264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919472" y="26791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st.warning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02666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увага, потрібна перевірка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2920" y="3566160"/>
            <a:ext cx="8138160" cy="117043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667512" y="36850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868680" y="36850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1069848" y="36850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640080" y="3886200"/>
            <a:ext cx="7863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8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name.strip() </a:t>
            </a:r>
            <a:r>
              <a:rPr lang="en-US" sz="108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08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phone.strip():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st.success</a:t>
            </a:r>
            <a:r>
              <a:rPr lang="en-US" sz="108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("Контакт збережено")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8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st.error</a:t>
            </a:r>
            <a:r>
              <a:rPr lang="en-US" sz="108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("Заповніть обовʼязкові поля")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7726680" y="48828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Заняття 16 ·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Widgets повертають значення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61504" y="164592"/>
            <a:ext cx="1444752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61504" y="1645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42032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621792" y="1207008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5B8FF9">
              <a:alpha val="92000"/>
            </a:srgbClr>
          </a:solidFill>
          <a:ln w="12700">
            <a:solidFill>
              <a:srgbClr val="5B8FF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621792" y="1280160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рядок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6184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st.text_input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" y="185623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...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542032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3456432" y="1207008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C9A0FF">
              <a:alpha val="92000"/>
            </a:srgbClr>
          </a:solidFill>
          <a:ln w="12700">
            <a:solidFill>
              <a:srgbClr val="C9A0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3456432" y="1280160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56432" y="16184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st.number_input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56432" y="185623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...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542032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6291072" y="1207008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FF9D6C">
              <a:alpha val="92000"/>
            </a:srgbClr>
          </a:solidFill>
          <a:ln w="12700">
            <a:solidFill>
              <a:srgbClr val="FF9D6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291072" y="1280160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варіант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91072" y="16184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st.selectbox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91072" y="185623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...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441448"/>
            <a:ext cx="2542032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621792" y="2596896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28A745">
              <a:alpha val="92000"/>
            </a:srgbClr>
          </a:solidFill>
          <a:ln w="12700">
            <a:solidFill>
              <a:srgbClr val="28A74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621792" y="2670048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1792" y="30083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st.checkbox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" y="324612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= ...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2441448"/>
            <a:ext cx="2542032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3456432" y="2596896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3DC9B0">
              <a:alpha val="92000"/>
            </a:srgbClr>
          </a:solidFill>
          <a:ln w="12700">
            <a:solidFill>
              <a:srgbClr val="3DC9B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3456432" y="2670048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з діапазону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56432" y="30083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st.slider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56432" y="324612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...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2441448"/>
            <a:ext cx="2542032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1" name="Shape 29"/>
          <p:cNvSpPr/>
          <p:nvPr/>
        </p:nvSpPr>
        <p:spPr>
          <a:xfrm>
            <a:off x="6291072" y="2596896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E84855">
              <a:alpha val="92000"/>
            </a:srgbClr>
          </a:solidFill>
          <a:ln w="12700">
            <a:solidFill>
              <a:srgbClr val="E8485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6291072" y="2670048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подія натискання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91072" y="30083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st.button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91072" y="324612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clicked = ...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3611880"/>
            <a:ext cx="8229600" cy="1115568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Shape 34"/>
          <p:cNvSpPr/>
          <p:nvPr/>
        </p:nvSpPr>
        <p:spPr>
          <a:xfrm>
            <a:off x="621792" y="373075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Shape 35"/>
          <p:cNvSpPr/>
          <p:nvPr/>
        </p:nvSpPr>
        <p:spPr>
          <a:xfrm>
            <a:off x="822960" y="373075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8" name="Shape 36"/>
          <p:cNvSpPr/>
          <p:nvPr/>
        </p:nvSpPr>
        <p:spPr>
          <a:xfrm>
            <a:off x="1024128" y="373075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9" name="Text 37"/>
          <p:cNvSpPr/>
          <p:nvPr/>
        </p:nvSpPr>
        <p:spPr>
          <a:xfrm>
            <a:off x="594360" y="3931920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08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8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st.text_input</a:t>
            </a:r>
            <a:r>
              <a:rPr lang="en-US" sz="108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("Імʼя")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08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8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st.number_input</a:t>
            </a:r>
            <a:r>
              <a:rPr lang="en-US" sz="108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("Вік", min_value=0)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r>
              <a:rPr lang="en-US" sz="108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8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st.selectbox</a:t>
            </a:r>
            <a:r>
              <a:rPr lang="en-US" sz="108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("Місто", cities)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accepted</a:t>
            </a:r>
            <a:r>
              <a:rPr lang="en-US" sz="108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8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st.checkbox</a:t>
            </a:r>
            <a:r>
              <a:rPr lang="en-US" sz="108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("Погоджуюсь")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7726680" y="48828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Заняття 16 ·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Кнопка запускає дію, але не замінює перевірку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607808" y="91440"/>
            <a:ext cx="1444752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607808" y="9144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3840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749808" y="120700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st.button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86384" y="1682496"/>
            <a:ext cx="3246120" cy="16002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950976" y="180136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152144" y="180136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1353312" y="180136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923544" y="2002536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2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2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st.text_input</a:t>
            </a:r>
            <a:r>
              <a:rPr lang="en-US" sz="112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("Імʼя")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2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st.button</a:t>
            </a:r>
            <a:r>
              <a:rPr lang="en-US" sz="112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("Привітатися"):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12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name.strip():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st.write</a:t>
            </a:r>
            <a:r>
              <a:rPr lang="en-US" sz="112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(f"Привіт, {name}!")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804672" y="361188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Підходить для одиночної дії без групування полів.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00600" y="1024128"/>
            <a:ext cx="3840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047488" y="120700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st.form_submit_button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084064" y="1682496"/>
            <a:ext cx="3246120" cy="16002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248656" y="180136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5449824" y="180136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5650992" y="180136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221224" y="2002536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0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st.form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("profile"):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</a:t>
            </a:r>
            <a:r>
              <a:rPr lang="en-US" sz="10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st.text_input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("Імʼя")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</a:t>
            </a:r>
            <a:r>
              <a:rPr lang="en-US" sz="10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st.text_input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("Email")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sent</a:t>
            </a:r>
            <a:r>
              <a:rPr lang="en-US" sz="10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st.form_submit_button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("OK")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st.success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("Дані прийнято")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02352" y="361188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Підходить, коли кілька полів мають обробитися разом.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4453128"/>
            <a:ext cx="8138160" cy="329184"/>
          </a:xfrm>
          <a:prstGeom prst="rect">
            <a:avLst/>
          </a:prstGeom>
          <a:solidFill>
            <a:srgbClr val="E84855">
              <a:alpha val="10000"/>
            </a:srgbClr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731520" y="445312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Навіть після submit дані треба перевірити: порожній рядок теж є рядком.</a:t>
            </a:r>
            <a:endParaRPr lang="en-US" sz="1250" i="1" dirty="0"/>
          </a:p>
        </p:txBody>
      </p:sp>
      <p:sp>
        <p:nvSpPr>
          <p:cNvPr id="23" name="Text 21"/>
          <p:cNvSpPr/>
          <p:nvPr/>
        </p:nvSpPr>
        <p:spPr>
          <a:xfrm>
            <a:off x="7726680" y="48828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Заняття 16 ·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E"/>
          </a:solidFill>
          <a:ln w="1270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Організація інтерфейсу допомагає читати форму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4069080" cy="21945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667512" y="114300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868680" y="114300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069848" y="114300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640080" y="1344168"/>
            <a:ext cx="3794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left, right</a:t>
            </a:r>
            <a:r>
              <a:rPr lang="en-US" sz="12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st.columns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left: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st.header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("Форма")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right: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</a:t>
            </a:r>
            <a:r>
              <a:rPr lang="en-US" sz="12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st.expander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("Деталі"):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st.write</a:t>
            </a:r>
            <a:r>
              <a:rPr lang="en-US" sz="12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(contact)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92040" y="1024128"/>
            <a:ext cx="3657600" cy="393192"/>
          </a:xfrm>
          <a:prstGeom prst="rect">
            <a:avLst/>
          </a:prstGeom>
          <a:solidFill>
            <a:srgbClr val="1E2450"/>
          </a:solidFill>
          <a:ln w="12700">
            <a:solidFill>
              <a:srgbClr val="2A335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892040" y="1024128"/>
            <a:ext cx="54864" cy="39319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097780" y="1161288"/>
            <a:ext cx="1143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st.columns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6286500" y="1152144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розділяє сторінку на логічні зони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892040" y="1536192"/>
            <a:ext cx="3657600" cy="393192"/>
          </a:xfrm>
          <a:prstGeom prst="rect">
            <a:avLst/>
          </a:prstGeom>
          <a:solidFill>
            <a:srgbClr val="202847"/>
          </a:solidFill>
          <a:ln w="12700">
            <a:solidFill>
              <a:srgbClr val="2A335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892040" y="1536192"/>
            <a:ext cx="54864" cy="39319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097780" y="1673352"/>
            <a:ext cx="1143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st.expander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6286500" y="1595628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ховає деталі, щоб сторінка не була перевантажена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892040" y="2048256"/>
            <a:ext cx="3657600" cy="393192"/>
          </a:xfrm>
          <a:prstGeom prst="rect">
            <a:avLst/>
          </a:prstGeom>
          <a:solidFill>
            <a:srgbClr val="1E2450"/>
          </a:solidFill>
          <a:ln w="12700">
            <a:solidFill>
              <a:srgbClr val="2A335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892040" y="2048256"/>
            <a:ext cx="54864" cy="39319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093208" y="2153261"/>
            <a:ext cx="1143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st.title/header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6286500" y="2176272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створює зрозумілу структуру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892040" y="2560320"/>
            <a:ext cx="3657600" cy="393192"/>
          </a:xfrm>
          <a:prstGeom prst="rect">
            <a:avLst/>
          </a:prstGeom>
          <a:solidFill>
            <a:srgbClr val="202847"/>
          </a:solidFill>
          <a:ln w="12700">
            <a:solidFill>
              <a:srgbClr val="2A335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4892040" y="2560320"/>
            <a:ext cx="54864" cy="39319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074920" y="2656483"/>
            <a:ext cx="1143000" cy="1735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st.success/error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6286500" y="268833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пояснює результат дії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892040" y="3072384"/>
            <a:ext cx="3657600" cy="393192"/>
          </a:xfrm>
          <a:prstGeom prst="rect">
            <a:avLst/>
          </a:prstGeom>
          <a:solidFill>
            <a:srgbClr val="1E2450"/>
          </a:solidFill>
          <a:ln w="12700">
            <a:solidFill>
              <a:srgbClr val="2A335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892040" y="3072384"/>
            <a:ext cx="54864" cy="39319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097780" y="31546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widgets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6286500" y="31272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перетворюють вибір користувача на змінні Python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02920" y="3977640"/>
            <a:ext cx="8046720" cy="438912"/>
          </a:xfrm>
          <a:prstGeom prst="rect">
            <a:avLst/>
          </a:prstGeom>
          <a:solidFill>
            <a:srgbClr val="202847"/>
          </a:solidFill>
          <a:ln w="12700">
            <a:solidFill>
              <a:srgbClr val="5B8FF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777240" y="4000500"/>
            <a:ext cx="7498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Підсумок: HTML Form описує стандарт web-форми, а Streamlit дає готові Python-команди для тієї самої ідеї.</a:t>
            </a:r>
            <a:endParaRPr lang="en-US" sz="1250" i="1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Наступний крок: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20240" y="482803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r>
              <a:rPr lang="ru-RU" sz="10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uk-UA" sz="10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застосунок «Список контактів»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953</Words>
  <Application>Microsoft Macintosh PowerPoint</Application>
  <PresentationFormat>On-screen Show (16:9)</PresentationFormat>
  <Paragraphs>202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Web - Заняття 16</dc:title>
  <dc:subject>Streamlit, HTML forms, Streamlit forms and UI widgets</dc:subject>
  <dc:creator>Python Web Course</dc:creator>
  <cp:lastModifiedBy>Штефан Дмитро</cp:lastModifiedBy>
  <cp:revision>3</cp:revision>
  <dcterms:created xsi:type="dcterms:W3CDTF">2026-07-04T07:52:35Z</dcterms:created>
  <dcterms:modified xsi:type="dcterms:W3CDTF">2026-07-04T08:07:51Z</dcterms:modified>
</cp:coreProperties>
</file>