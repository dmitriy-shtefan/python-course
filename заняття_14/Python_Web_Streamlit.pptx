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17"/>
    <p:restoredTop sz="94610"/>
  </p:normalViewPr>
  <p:slideViewPr>
    <p:cSldViewPr snapToGrid="0" snapToObjects="1">
      <p:cViewPr>
        <p:scale>
          <a:sx n="132" d="100"/>
          <a:sy n="132" d="100"/>
        </p:scale>
        <p:origin x="-13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32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Підсумувати ключові ідеї заняття. Наголосити, що Streamlit — це лише точка входу у web з Python, і що ті самі концепції (запит-відповідь, стан, віджети) зустрінуться і в Flask/FastAPI/Django. Домашнє завдання можна виконати локально, без деплою.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097280"/>
            <a:ext cx="3840480" cy="3840480"/>
          </a:xfrm>
          <a:prstGeom prst="ellipse">
            <a:avLst/>
          </a:prstGeom>
          <a:solidFill>
            <a:srgbClr val="2A2F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10698480" y="1828800"/>
            <a:ext cx="1828800" cy="1828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10835640" y="1920240"/>
            <a:ext cx="914400" cy="91440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8520" y="21031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71600"/>
            <a:ext cx="733314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r>
              <a:rPr lang="uk-UA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-додатків з використанням </a:t>
            </a:r>
            <a:r>
              <a:rPr lang="en-US" sz="1600" b="1" kern="0" spc="3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686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Вступ до web і перший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Streamlit-додаток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640080" y="38862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ідеї до інтерактивного веб-застосунку — без HTML чи JavaScript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4846320"/>
            <a:ext cx="457200" cy="4572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Що таке web-розробка?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 надсилає запит, сервер обробляє і повертає відповідь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897380" y="2510028"/>
            <a:ext cx="777240" cy="777240"/>
          </a:xfrm>
          <a:prstGeom prst="ellipse">
            <a:avLst/>
          </a:prstGeom>
          <a:solidFill>
            <a:srgbClr val="2A2F55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072259" y="2684907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 (клієнт)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відображає сторінку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503920" y="23317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0E7C7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9486900" y="2510028"/>
            <a:ext cx="777240" cy="777240"/>
          </a:xfrm>
          <a:prstGeom prst="ellipse">
            <a:avLst/>
          </a:prstGeom>
          <a:solidFill>
            <a:srgbClr val="0A5F5E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1779" y="2684907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503920" y="3383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(Python)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503920" y="37490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обробляє логіку,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DFF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повертає дані/HTML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829300" y="27203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457" y="283349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749040" y="32461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HTTP-запит (request)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829300" y="35890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5942457" y="370217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749040" y="41148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HTTP-відповідь (response)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40080" y="4846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бере на себе серверну частину: </a:t>
            </a: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логіку, бази даних, API — а фреймворки допомагають швидко зібрати все разом.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Фреймворки Python для web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шляхи від ідеї до робочого застосунку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8590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4460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Django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«Все включено»: ORM, адмінка, аутентифікація. Для великих проєктів.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7472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432054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4460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365760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Мінімалістичний. Повний контроль, але багато налаштувань вручну.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30936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7155180" y="2240280"/>
            <a:ext cx="914400" cy="91440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24460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936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649224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 асинхронні API з автоматичною документацією.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44000" y="1920240"/>
            <a:ext cx="2606040" cy="3657600"/>
          </a:xfrm>
          <a:prstGeom prst="roundRect">
            <a:avLst>
              <a:gd name="adj" fmla="val 3509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9989820" y="2240280"/>
            <a:ext cx="914400" cy="91440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195560" y="244602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33756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9326880" y="3840480"/>
            <a:ext cx="2240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Лише Python-код → готовий інтерактивний UI за хвилини.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44000" y="512064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uk-UA" sz="1000" b="1" kern="0" spc="1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ЗНАЙОМИМОСЬ</a:t>
            </a:r>
            <a:r>
              <a:rPr lang="en-US" sz="1000" b="1" kern="0" spc="100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СЬОГОДНІ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Чому саме Streamlit для старту?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00100" y="1531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1748790"/>
            <a:ext cx="434340" cy="4343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20240" y="1618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Швидкість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920240" y="1984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Робочий додаток за 10 рядків коду, без HTML/CSS/JS.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800100" y="2674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2891790"/>
            <a:ext cx="434340" cy="4343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20240" y="2761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Чистий Python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920240" y="3127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Пишете звичні функції та змінні — Streamlit сам малює інтерфейс.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00100" y="3817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17270" y="4034790"/>
            <a:ext cx="434340" cy="4343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2024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віджети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920240" y="4270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Слайдери, кнопки, графіки, завантаження файлів — "з коробки".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0100" y="4960620"/>
            <a:ext cx="868680" cy="86868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17270" y="5177790"/>
            <a:ext cx="434340" cy="4343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20240" y="5047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Легкий деплой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920240" y="54132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клік до Streamlit Community Cloud — і застосунок у мережі.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486400" y="1645920"/>
            <a:ext cx="6035040" cy="2194560"/>
          </a:xfrm>
          <a:prstGeom prst="roundRect">
            <a:avLst>
              <a:gd name="adj" fmla="val 333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4"/>
          <p:cNvSpPr/>
          <p:nvPr/>
        </p:nvSpPr>
        <p:spPr>
          <a:xfrm>
            <a:off x="5650992" y="18105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5"/>
          <p:cNvSpPr/>
          <p:nvPr/>
        </p:nvSpPr>
        <p:spPr>
          <a:xfrm>
            <a:off x="5852160" y="18105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Shape 16"/>
          <p:cNvSpPr/>
          <p:nvPr/>
        </p:nvSpPr>
        <p:spPr>
          <a:xfrm>
            <a:off x="6053328" y="18105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17"/>
          <p:cNvSpPr/>
          <p:nvPr/>
        </p:nvSpPr>
        <p:spPr>
          <a:xfrm>
            <a:off x="5715000" y="205740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st.title('Привіт, світ!')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st.text_input('Ім'я')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st.write(f'Радий бачити, {name}')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0" y="39776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...і ось вже працює веб-додаток із заголовком та полем вводу.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0" y="4572000"/>
            <a:ext cx="6035040" cy="1417320"/>
          </a:xfrm>
          <a:prstGeom prst="roundRect">
            <a:avLst>
              <a:gd name="adj" fmla="val 6452"/>
            </a:avLst>
          </a:prstGeom>
          <a:solidFill>
            <a:srgbClr val="FDEDED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20"/>
          <p:cNvSpPr/>
          <p:nvPr/>
        </p:nvSpPr>
        <p:spPr>
          <a:xfrm>
            <a:off x="5806440" y="4956048"/>
            <a:ext cx="640080" cy="6400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50458" y="5100066"/>
            <a:ext cx="352044" cy="35204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48463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потрібно знати </a:t>
            </a:r>
            <a:r>
              <a:rPr lang="en-US" sz="14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чи JavaScript</a:t>
            </a:r>
            <a:r>
              <a:rPr lang="en-US" sz="14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лише базовий Python.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Крок 1: готуємо середовище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команди — і Streamlit готовий до роботи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6868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6868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проєкт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5448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Створюємо нову папку для додатку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17620" y="2189988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484" y="2244852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9"/>
          <p:cNvSpPr/>
          <p:nvPr/>
        </p:nvSpPr>
        <p:spPr>
          <a:xfrm>
            <a:off x="438912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0"/>
          <p:cNvSpPr/>
          <p:nvPr/>
        </p:nvSpPr>
        <p:spPr>
          <a:xfrm>
            <a:off x="438912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07492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Віртуальне середовище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507492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Ізолюємо залежності цього проєкту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38060" y="2189988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244852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80960" y="1687068"/>
            <a:ext cx="32004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5"/>
          <p:cNvSpPr/>
          <p:nvPr/>
        </p:nvSpPr>
        <p:spPr>
          <a:xfrm>
            <a:off x="7909560" y="191566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6"/>
          <p:cNvSpPr/>
          <p:nvPr/>
        </p:nvSpPr>
        <p:spPr>
          <a:xfrm>
            <a:off x="7909560" y="19156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8595360" y="18882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Встановити Streamlit</a:t>
            </a:r>
            <a:endParaRPr lang="en-US" sz="1450" dirty="0"/>
          </a:p>
        </p:txBody>
      </p:sp>
      <p:sp>
        <p:nvSpPr>
          <p:cNvPr id="22" name="Text 18"/>
          <p:cNvSpPr/>
          <p:nvPr/>
        </p:nvSpPr>
        <p:spPr>
          <a:xfrm>
            <a:off x="8595360" y="2253996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streamlit — і все готово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40080" y="3401568"/>
            <a:ext cx="10881360" cy="2834640"/>
          </a:xfrm>
          <a:prstGeom prst="roundRect">
            <a:avLst>
              <a:gd name="adj" fmla="val 2581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0"/>
          <p:cNvSpPr/>
          <p:nvPr/>
        </p:nvSpPr>
        <p:spPr>
          <a:xfrm>
            <a:off x="804672" y="3566160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Shape 21"/>
          <p:cNvSpPr/>
          <p:nvPr/>
        </p:nvSpPr>
        <p:spPr>
          <a:xfrm>
            <a:off x="1005840" y="3566160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6" name="Shape 22"/>
          <p:cNvSpPr/>
          <p:nvPr/>
        </p:nvSpPr>
        <p:spPr>
          <a:xfrm>
            <a:off x="1207008" y="3566160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7" name="Text 23"/>
          <p:cNvSpPr/>
          <p:nvPr/>
        </p:nvSpPr>
        <p:spPr>
          <a:xfrm>
            <a:off x="868680" y="3813048"/>
            <a:ext cx="10424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Створюємо та активуємо venv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venv venv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venv\Scripts\activate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Встановлюємо Streamlit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streamlit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Перевіряємо встановлення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hello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Анатомія Streamlit-додатку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рядок коду — це окремий елемент на сторінці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760720" cy="3108960"/>
          </a:xfrm>
          <a:prstGeom prst="roundRect">
            <a:avLst>
              <a:gd name="adj" fmla="val 235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18562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05840" y="18562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07008" y="18562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st.title('Мій перший додаток')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st.header('Дані про студентів')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st.write('Це звичайний текст.')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st.metric('Середній бал', 87)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st.button('Натисни мене')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75120" y="16459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Великий заголовок сторінки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221284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st.header()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Підзаголовок розділу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75120" y="277977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Універсальний вивід тексту, чисел, таблиць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334670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st.metric()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Велике число-показник з підписом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391363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st.button()  </a:t>
            </a: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Інтерактивна кнопка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960120" y="530352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138" y="5447538"/>
            <a:ext cx="352044" cy="35204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920240" y="521208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Принцип Streamlit: </a:t>
            </a: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виконується зверху вниз заново при кожній взаємодії користувача.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Практика: пишемо перший додаток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 app.py — простий калькулятор знижки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400800" cy="4526280"/>
          </a:xfrm>
          <a:prstGeom prst="roundRect">
            <a:avLst>
              <a:gd name="adj" fmla="val 1616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804672" y="162763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005840" y="162763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1207008" y="162763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59436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AB4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streamlit as st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st.title('Калькулятор знижки')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= st.number_input('Ціна, грн', min_value=0.0)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= st.slider('Знижка, %', 0, 100, 10)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final_price = price * (1 - discount / 100)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st.write(f'Фінальна ціна: {final_price:.2f} грн')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0" y="155448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731520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149047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number_input()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для введення ціни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0" y="256032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7315200" y="2560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863840" y="249631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slider()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слайдер для відсотка знижки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0" y="356616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7315200" y="3566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0" y="35021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Python-логіка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звичайна формула розрахунку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0" y="4572000"/>
            <a:ext cx="411480" cy="41148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7315200" y="4572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450799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write()
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результат на сторінку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15200" y="562356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FDEDE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7498080" y="56235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зміна слайдера миттєво перераховує і оновлює результат!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Як Streamlit обробляє взаємодію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Реактивна модель: будь-яка дія користувача = повторний запуск скрипту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48590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210" y="25031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Дія користувача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рух слайдера, клік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8610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0964" y="29809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8"/>
          <p:cNvSpPr/>
          <p:nvPr/>
        </p:nvSpPr>
        <p:spPr>
          <a:xfrm>
            <a:off x="427482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130" y="2503170"/>
            <a:ext cx="388620" cy="3886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6616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Скрипт запускається знову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6616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увесь файл .py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87502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298094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1792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3"/>
          <p:cNvSpPr/>
          <p:nvPr/>
        </p:nvSpPr>
        <p:spPr>
          <a:xfrm>
            <a:off x="7063740" y="2308860"/>
            <a:ext cx="777240" cy="777240"/>
          </a:xfrm>
          <a:prstGeom prst="ellipse">
            <a:avLst/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8050" y="2503170"/>
            <a:ext cx="388620" cy="3886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5508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Віджети читають нові значення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35508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slider, button...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663940" y="2926080"/>
            <a:ext cx="365760" cy="365760"/>
          </a:xfrm>
          <a:prstGeom prst="ellipse">
            <a:avLst/>
          </a:prstGeom>
          <a:solidFill>
            <a:srgbClr val="F7F8F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804" y="298094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06840" y="210312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6" name="Shape 18"/>
          <p:cNvSpPr/>
          <p:nvPr/>
        </p:nvSpPr>
        <p:spPr>
          <a:xfrm>
            <a:off x="9852660" y="2308860"/>
            <a:ext cx="777240" cy="77724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0046970" y="2503170"/>
            <a:ext cx="388620" cy="3886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0" y="31546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Інтерфейс оновлюється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144000" y="365760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миттєво, без перезавантаження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640080" y="4526280"/>
            <a:ext cx="10881360" cy="1600200"/>
          </a:xfrm>
          <a:prstGeom prst="roundRect">
            <a:avLst>
              <a:gd name="adj" fmla="val 5714"/>
            </a:avLst>
          </a:prstGeom>
          <a:solidFill>
            <a:srgbClr val="EFF1F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2"/>
          <p:cNvSpPr/>
          <p:nvPr/>
        </p:nvSpPr>
        <p:spPr>
          <a:xfrm>
            <a:off x="914400" y="4709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Корисні інструменти layout: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91440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st.columns() — колонки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621792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st.sidebar — бічна панель</a:t>
            </a:r>
            <a:endParaRPr lang="en-US" sz="1250" dirty="0"/>
          </a:p>
        </p:txBody>
      </p:sp>
      <p:sp>
        <p:nvSpPr>
          <p:cNvPr id="34" name="Text 25"/>
          <p:cNvSpPr/>
          <p:nvPr/>
        </p:nvSpPr>
        <p:spPr>
          <a:xfrm>
            <a:off x="91440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st.tabs() — вкладки</a:t>
            </a:r>
            <a:endParaRPr lang="en-US" sz="1250" dirty="0"/>
          </a:p>
        </p:txBody>
      </p:sp>
      <p:sp>
        <p:nvSpPr>
          <p:cNvPr id="35" name="Text 26"/>
          <p:cNvSpPr/>
          <p:nvPr/>
        </p:nvSpPr>
        <p:spPr>
          <a:xfrm>
            <a:off x="621792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st.container() — групування</a:t>
            </a:r>
            <a:endParaRPr lang="en-US" sz="1250" dirty="0"/>
          </a:p>
        </p:txBody>
      </p:sp>
      <p:sp>
        <p:nvSpPr>
          <p:cNvPr id="36" name="Text 27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Запускаємо та публікуємо додаток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760720" cy="2331720"/>
          </a:xfrm>
          <a:prstGeom prst="roundRect">
            <a:avLst>
              <a:gd name="adj" fmla="val 3137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804672" y="17190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1005840" y="17190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207008" y="17190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5303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7FE0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streamlit run app.py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You can now view your Streamlit app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90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your browser.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DC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 URL: http://localhost:8501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5760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Локальний запуск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streamlit run відкриває застосунок у браузері на localhost — це зручно для розробки та тестування.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675120" y="1554480"/>
            <a:ext cx="4846320" cy="3749040"/>
          </a:xfrm>
          <a:prstGeom prst="roundRect">
            <a:avLst>
              <a:gd name="adj" fmla="val 2927"/>
            </a:avLst>
          </a:prstGeom>
          <a:solidFill>
            <a:srgbClr val="1B1F3B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8595360" y="1828800"/>
            <a:ext cx="1005840" cy="1005840"/>
          </a:xfrm>
          <a:prstGeom prst="ellipse">
            <a:avLst/>
          </a:prstGeom>
          <a:solidFill>
            <a:srgbClr val="33396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1674" y="2055114"/>
            <a:ext cx="553212" cy="5532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0" y="297180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Community Cloud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995160" y="3520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391400" y="35433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Завантажуємо код у GitHub-репозиторій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9516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391400" y="40462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Підключаємо репозиторій на share.streamlit.io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99516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4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406640" y="456117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DC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Отримуємо публічне посилання за хвилини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06424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• Web • Streamlit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297680"/>
            <a:ext cx="4114800" cy="4114800"/>
          </a:xfrm>
          <a:prstGeom prst="ellipse">
            <a:avLst/>
          </a:prstGeom>
          <a:solidFill>
            <a:srgbClr val="2A2F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Підсумуємо заняття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00100" y="145846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1551051"/>
            <a:ext cx="226314" cy="2263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Web-розробка = клієнт + сервер, що обмінюються HTTP-запитами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00100" y="205282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2145411"/>
            <a:ext cx="226314" cy="2263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пропонує кілька шляхів: Django, Flask, FastAPI, Streamlit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00100" y="264718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2739771"/>
            <a:ext cx="226314" cy="2263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2651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перетворює Python-скрипт на інтерактивний веб-додаток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800100" y="324154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3334131"/>
            <a:ext cx="226314" cy="22631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st.title, st.write, st.slider — будівельні блоки інтерфейсу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800100" y="3835908"/>
            <a:ext cx="411480" cy="41148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3" y="3928491"/>
            <a:ext cx="226314" cy="22631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1732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4E7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 — і додаток працює локально та в хмарі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9052560" y="1417320"/>
            <a:ext cx="2468880" cy="3657600"/>
          </a:xfrm>
          <a:prstGeom prst="roundRect">
            <a:avLst>
              <a:gd name="adj" fmla="val 3704"/>
            </a:avLst>
          </a:prstGeom>
          <a:solidFill>
            <a:srgbClr val="2A2F5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0" name="Shape 13"/>
          <p:cNvSpPr/>
          <p:nvPr/>
        </p:nvSpPr>
        <p:spPr>
          <a:xfrm>
            <a:off x="9875520" y="1783080"/>
            <a:ext cx="822960" cy="822960"/>
          </a:xfrm>
          <a:prstGeom prst="ellipse">
            <a:avLst/>
          </a:prstGeom>
          <a:solidFill>
            <a:srgbClr val="FF4B4B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0686" y="1968246"/>
            <a:ext cx="452628" cy="4526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235440" y="283464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Домашнє</a:t>
            </a:r>
            <a:endParaRPr lang="en-US" sz="15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завдання</a:t>
            </a:r>
            <a:endParaRPr lang="en-US" sz="1500" dirty="0"/>
          </a:p>
        </p:txBody>
      </p:sp>
      <p:sp>
        <p:nvSpPr>
          <p:cNvPr id="23" name="Text 15"/>
          <p:cNvSpPr/>
          <p:nvPr/>
        </p:nvSpPr>
        <p:spPr>
          <a:xfrm>
            <a:off x="9281160" y="35661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Streamlit-додаток із трьома віджетами та власною логікою обробки даних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907</Words>
  <Application>Microsoft Macintosh PowerPoint</Application>
  <PresentationFormat>Widescreen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Python: вступ до web і перший Streamlit-додаток</dc:title>
  <dc:subject>PptxGenJS Presentation</dc:subject>
  <dc:creator>Gameloft AI Course</dc:creator>
  <cp:lastModifiedBy>Штефан Дмитро</cp:lastModifiedBy>
  <cp:revision>2</cp:revision>
  <dcterms:created xsi:type="dcterms:W3CDTF">2026-06-26T20:38:20Z</dcterms:created>
  <dcterms:modified xsi:type="dcterms:W3CDTF">2026-06-26T21:03:23Z</dcterms:modified>
</cp:coreProperties>
</file>