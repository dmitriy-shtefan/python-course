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02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822960"/>
            <a:ext cx="1554480" cy="1554480"/>
          </a:xfrm>
          <a:prstGeom prst="ellipse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030" y="1242670"/>
            <a:ext cx="715061" cy="71506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55280" y="2651760"/>
            <a:ext cx="1097280" cy="1097280"/>
          </a:xfrm>
          <a:prstGeom prst="ellipse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546" y="2948026"/>
            <a:ext cx="504749" cy="5047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5F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77240" y="27889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Робота з файлами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D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Відкриття, читання, запис та обробка файлів у Python: практичне заняття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22960" y="4617720"/>
            <a:ext cx="0" cy="0"/>
          </a:xfrm>
          <a:prstGeom prst="line">
            <a:avLst/>
          </a:prstGeom>
          <a:noFill/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6F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200" dirty="0">
                <a:solidFill>
                  <a:srgbClr val="6F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</a:t>
            </a:r>
            <a:r>
              <a:rPr lang="ru-RU" sz="1200" dirty="0">
                <a:solidFill>
                  <a:srgbClr val="6F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200" dirty="0">
                <a:solidFill>
                  <a:srgbClr val="6F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Навіщо працювати з файлами?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без файлів «забуває» все після завершення роботи. Файли — це спосіб зберегти дані назавжди: між запусками, для обміну з іншими програмами, для звітів і логів.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40180" y="2834640"/>
            <a:ext cx="822960" cy="822960"/>
          </a:xfrm>
          <a:prstGeom prst="ellipse">
            <a:avLst/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379" y="3056839"/>
            <a:ext cx="378562" cy="378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Збереження даних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роботи програми не зникають після закриття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366260" y="2834640"/>
            <a:ext cx="822960" cy="822960"/>
          </a:xfrm>
          <a:prstGeom prst="ellipse">
            <a:avLst/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459" y="305683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Обмін інформацією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4343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TXT — формати для обміну між системами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7292340" y="2834640"/>
            <a:ext cx="822960" cy="822960"/>
          </a:xfrm>
          <a:prstGeom prst="ellipse">
            <a:avLst/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539" y="305683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Логи та звіти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29400" y="4343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історії подій, помилок, статистики роботи програми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326880" y="2468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10218420" y="2834640"/>
            <a:ext cx="822960" cy="822960"/>
          </a:xfrm>
          <a:prstGeom prst="ellipse">
            <a:avLst/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0619" y="305683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0" y="3840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Конфігурації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55480" y="4343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 програми зберігаються окремо від коду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Відкриття файлу: функція open()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Щоб працювати з файлом, спочатку потрібно його відкрити. Функція open() повертає об'єкт файлу, з яким далі працюємо.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247802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59536" y="247802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247802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71576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open('notes.txt', 'r')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8C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'r' — режим читання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file.read()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file.close()  # важливо закрити!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Параметри: open(шлях, режим, encoding)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Рекомендація: завжди вказуйте encoding='utf-8' — особливо для українського тексту.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212080" cy="324612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D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Означає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D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читання (за замовч.), файл має існувати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запис, перезаписує файл повністю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дозапис у кінець файлу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створити новий, помилка якщо існує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читання і запис одночасно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Оператор with: безпечна робота з файлами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забути закрити файл або станеться помилка до file.close() — файл залишиться відкритим. Конструкція with закриває файл автоматично, навіть якщо виникла помилка.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560320"/>
            <a:ext cx="548640" cy="548640"/>
          </a:xfrm>
          <a:prstGeom prst="ellipse">
            <a:avLst/>
          </a:prstGeom>
          <a:solidFill>
            <a:srgbClr val="5A2A2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27084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3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Без with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2918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941832" y="34381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1088136" y="34381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1234440" y="34381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1005840" y="3675888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open('a.txt', 'r')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file.read()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7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якщо тут помилка —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7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close() не виконається!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file.close()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228600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6537960" y="2560320"/>
            <a:ext cx="548640" cy="548640"/>
          </a:xfrm>
          <a:prstGeom prst="ellipse">
            <a:avLst/>
          </a:prstGeom>
          <a:solidFill>
            <a:srgbClr val="1E5A4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093" y="270845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0C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 with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46520" y="32918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4"/>
          <p:cNvSpPr/>
          <p:nvPr/>
        </p:nvSpPr>
        <p:spPr>
          <a:xfrm>
            <a:off x="6611112" y="34381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6757416" y="34381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6903720" y="34381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7"/>
          <p:cNvSpPr/>
          <p:nvPr/>
        </p:nvSpPr>
        <p:spPr>
          <a:xfrm>
            <a:off x="6675120" y="3675888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open('a.txt', 'r') as f: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8C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працюємо з даними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FD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файл вже закритий автоматично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Читання файлу: три способи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Обирайте спосіб залежно від задачі: весь текст одразу, по одному рядку, чи список усіх рядків.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EAF4F6"/>
          </a:solidFill>
          <a:ln/>
          <a:effectLst>
            <a:outerShdw blurRad="76200" dist="25400" dir="5400000" algn="bl" rotWithShape="0">
              <a:srgbClr val="0B1E33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777240" y="2167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весь зміст файлу одним рядком (строкою)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96112" y="36667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42416" y="36667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188720" y="36667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60120" y="3904488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open('f.txt') as f: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f.read()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196596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EAF4F6"/>
          </a:solidFill>
          <a:ln/>
          <a:effectLst>
            <a:outerShdw blurRad="76200" dist="25400" dir="5400000" algn="bl" rotWithShape="0">
              <a:srgbClr val="0B1E33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readline()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один рядок файлу за раз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828032" y="36667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974336" y="36667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120640" y="36667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92040" y="3904488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open('f.txt') as f: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f.readline()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0" y="196596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EAF4F6"/>
          </a:solidFill>
          <a:ln/>
          <a:effectLst>
            <a:outerShdw blurRad="76200" dist="25400" dir="5400000" algn="bl" rotWithShape="0">
              <a:srgbClr val="0B1E33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8641080" y="2167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4108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Найзручніше: цикл по рядках файлу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95360" y="35204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8759952" y="36667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8906256" y="36667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9052560" y="36667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8823960" y="3904488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open('f.txt') as f: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Запис у файл: write() та writelines()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записує один рядок (текст) у файл. Не додає перенесення рядка автоматично — пишемо \n самі. writelines() записує список рядків одразу.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261518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59536" y="261518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261518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852928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open('result.txt', 'w') as 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f.write('Перший рядок\n')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f.write('Другий рядок\n')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['Один\n', 'Два\n', 'Три\n']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open('result.txt', 'a') as 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f.writelines(lines)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E33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6629400" y="1463040"/>
            <a:ext cx="502920" cy="502920"/>
          </a:xfrm>
          <a:prstGeom prst="ellipse">
            <a:avLst/>
          </a:prstGeom>
          <a:solidFill>
            <a:srgbClr val="FBE6D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188" y="1598828"/>
            <a:ext cx="231343" cy="23134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'w' — перезаписує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1783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файл уже існує — весь старий вміст буде втрачено!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324612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1E33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6629400" y="3429000"/>
            <a:ext cx="502920" cy="502920"/>
          </a:xfrm>
          <a:prstGeom prst="ellipse">
            <a:avLst/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188" y="3564788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'a' — дописує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15200" y="3749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текст додається у кінець, старий вміст залишається.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Робота</a:t>
            </a: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з CSV-файлами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csv дозволяє читати й записувати табличні дані рядок за рядком — зручно для списків студентів, товарів, результатів тощо.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215798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59536" y="215798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215798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open('students.csv', encoding='utf-8') as 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csv.reader(f)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8C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next(reader)  # пропустити заголовок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reader: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print(row[0], row[1])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students.csv: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31720"/>
          <a:ext cx="4297680" cy="169164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ім'я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D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оцінка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D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Іван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Марія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98348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E3F4F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777240" y="5166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536387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51663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csv.writer(f).writerow([...]) — записує один рядок у CSV. Для словників: csv.DictReader / csv.DictWriter.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Обробка помилок при роботі з файлами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може не існувати, бути недоступним або зайнятим іншою програмою. try/except дозволяє обробити це коректно, без аварійного завершення програми.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0E2233"/>
          </a:solidFill>
          <a:ln w="12700">
            <a:solidFill>
              <a:srgbClr val="16384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713232" y="2295144"/>
            <a:ext cx="91440" cy="91440"/>
          </a:xfrm>
          <a:prstGeom prst="ellipse">
            <a:avLst/>
          </a:prstGeom>
          <a:solidFill>
            <a:srgbClr val="E073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59536" y="2295144"/>
            <a:ext cx="91440" cy="91440"/>
          </a:xfrm>
          <a:prstGeom prst="ellipse">
            <a:avLst/>
          </a:prstGeom>
          <a:solidFill>
            <a:srgbClr val="E0C8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05840" y="2295144"/>
            <a:ext cx="91440" cy="91440"/>
          </a:xfrm>
          <a:prstGeom prst="ellipse">
            <a:avLst/>
          </a:prstGeom>
          <a:solidFill>
            <a:srgbClr val="5FD0C2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777240" y="2532888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open('data.txt') as f: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 = f.read()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07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print('Файл не знайдено')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07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PermissionError: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print('Немає доступу до файлу')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2194560"/>
            <a:ext cx="502920" cy="502920"/>
          </a:xfrm>
          <a:prstGeom prst="ellipse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788" y="2330348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0" y="21945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 — файл не існує за вказаним шляхом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0" y="3246120"/>
            <a:ext cx="502920" cy="502920"/>
          </a:xfrm>
          <a:prstGeom prst="ellipse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788" y="338190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32461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PermissionError — недостатньо прав доступу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0" y="4297680"/>
            <a:ext cx="502920" cy="502920"/>
          </a:xfrm>
          <a:prstGeom prst="ellipse">
            <a:avLst/>
          </a:prstGeom>
          <a:solidFill>
            <a:srgbClr val="0E3A52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788" y="443346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43800" y="4297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— код, що виконається в будь-якому разі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Підсумок та практичне завдання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Що ми вивчили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663440" cy="277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open() та режими доступу ('r', 'w', 'a', 'x')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— безпечне автоматичне закриття файлу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read(), readline(), цикл for line in 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write(), writelines()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csv для табличних даних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4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для обробки помилок файлів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B1E33"/>
          </a:solidFill>
          <a:ln/>
          <a:effectLst>
            <a:outerShdw blurRad="101600" dist="38100" dir="5400000" algn="bl" rotWithShape="0">
              <a:srgbClr val="0B1E33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rgbClr val="1C9DA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179405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9480" y="1719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Завдання на практику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23774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9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програму, яка зчитує файл students.csv, рахує середню оцінку, і записує результат у новий файл report.txt. Передбачте обробку помилки, якщо students.csv не знайдено.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0" y="4160520"/>
            <a:ext cx="4663440" cy="1691640"/>
          </a:xfrm>
          <a:prstGeom prst="roundRect">
            <a:avLst>
              <a:gd name="adj" fmla="val 5405"/>
            </a:avLst>
          </a:prstGeom>
          <a:solidFill>
            <a:srgbClr val="12283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68122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E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csv.reader + try/except FileNotFoundError + open(..., 'w') для запису звіту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робота з файлами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933</Words>
  <Application>Microsoft Macintosh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робота з файлами</dc:title>
  <dc:subject>PptxGenJS Presentation</dc:subject>
  <dc:creator>Python Course</dc:creator>
  <cp:lastModifiedBy>Штефан Дмитро</cp:lastModifiedBy>
  <cp:revision>2</cp:revision>
  <dcterms:created xsi:type="dcterms:W3CDTF">2026-06-19T20:29:53Z</dcterms:created>
  <dcterms:modified xsi:type="dcterms:W3CDTF">2026-06-20T15:53:40Z</dcterms:modified>
</cp:coreProperties>
</file>