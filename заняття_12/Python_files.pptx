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822960"/>
            <a:ext cx="1554480" cy="1554480"/>
          </a:xfrm>
          <a:prstGeom prst="ellipse">
            <a:avLst/>
          </a:prstGeom>
          <a:solidFill>
            <a:srgbClr val="0E3A5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8030" y="1242670"/>
            <a:ext cx="715061" cy="71506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955280" y="2651760"/>
            <a:ext cx="1097280" cy="1097280"/>
          </a:xfrm>
          <a:prstGeom prst="ellipse">
            <a:avLst/>
          </a:prstGeom>
          <a:solidFill>
            <a:srgbClr val="0E3A52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1546" y="2948026"/>
            <a:ext cx="504749" cy="50474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22960" y="23317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5FD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777240" y="278892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Робота з файлами</a:t>
            </a:r>
            <a:endParaRPr lang="en-US" sz="5000" dirty="0"/>
          </a:p>
        </p:txBody>
      </p:sp>
      <p:sp>
        <p:nvSpPr>
          <p:cNvPr id="8" name="Text 4"/>
          <p:cNvSpPr/>
          <p:nvPr/>
        </p:nvSpPr>
        <p:spPr>
          <a:xfrm>
            <a:off x="822960" y="39776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D7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Відкриття, читання, запис та обробка файлів у Python: практичне заняття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822960" y="4617720"/>
            <a:ext cx="0" cy="0"/>
          </a:xfrm>
          <a:prstGeom prst="line">
            <a:avLst/>
          </a:prstGeom>
          <a:noFill/>
          <a:ln w="12700">
            <a:solidFill>
              <a:srgbClr val="0B1E33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22960" y="6035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8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Курс з Python та веб-розробки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E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Навіщо працювати з файлами?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Програма без файлів «забуває» все після завершення роботи. Файли — це спосіб зберегти дані назавжди: між запусками, для обміну з іншими програмами, для звітів і логів.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4688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B1E3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40180" y="2834640"/>
            <a:ext cx="822960" cy="822960"/>
          </a:xfrm>
          <a:prstGeom prst="ellipse">
            <a:avLst/>
          </a:prstGeom>
          <a:solidFill>
            <a:srgbClr val="E3F4F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2379" y="3056839"/>
            <a:ext cx="378562" cy="3785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38404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E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Збереження даних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77240" y="434340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роботи програми не зникають після закриття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474720" y="24688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B1E33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366260" y="2834640"/>
            <a:ext cx="822960" cy="822960"/>
          </a:xfrm>
          <a:prstGeom prst="ellipse">
            <a:avLst/>
          </a:prstGeom>
          <a:solidFill>
            <a:srgbClr val="E3F4F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8459" y="3056839"/>
            <a:ext cx="378562" cy="37856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57600" y="38404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E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Обмін інформацією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703320" y="434340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CSV, JSON, TXT — формати для обміну між системами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0" y="24688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B1E33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292340" y="2834640"/>
            <a:ext cx="822960" cy="822960"/>
          </a:xfrm>
          <a:prstGeom prst="ellipse">
            <a:avLst/>
          </a:prstGeom>
          <a:solidFill>
            <a:srgbClr val="E3F4F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539" y="3056839"/>
            <a:ext cx="378562" cy="37856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583680" y="38404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E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Логи та звіти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6629400" y="434340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 історії подій, помилок, статистики роботи програми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9326880" y="24688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B1E33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10218420" y="2834640"/>
            <a:ext cx="822960" cy="822960"/>
          </a:xfrm>
          <a:prstGeom prst="ellipse">
            <a:avLst/>
          </a:prstGeom>
          <a:solidFill>
            <a:srgbClr val="E3F4F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0619" y="3056839"/>
            <a:ext cx="378562" cy="37856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509760" y="38404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E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Конфігурації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9555480" y="434340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Налаштування програми зберігаються окремо від коду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Python: робота з файлами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E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Відкриття файлу: функція open()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Щоб працювати з файлом, спочатку потрібно його відкрити. Функція open() повертає об'єкт файлу, з яким далі працюємо.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331720"/>
            <a:ext cx="5486400" cy="2286000"/>
          </a:xfrm>
          <a:prstGeom prst="roundRect">
            <a:avLst>
              <a:gd name="adj" fmla="val 3200"/>
            </a:avLst>
          </a:prstGeom>
          <a:solidFill>
            <a:srgbClr val="0E2233"/>
          </a:solidFill>
          <a:ln w="12700">
            <a:solidFill>
              <a:srgbClr val="1638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2478024"/>
            <a:ext cx="91440" cy="91440"/>
          </a:xfrm>
          <a:prstGeom prst="ellipse">
            <a:avLst/>
          </a:prstGeom>
          <a:solidFill>
            <a:srgbClr val="E0734F"/>
          </a:solidFill>
          <a:ln/>
        </p:spPr>
      </p:sp>
      <p:sp>
        <p:nvSpPr>
          <p:cNvPr id="6" name="Shape 4"/>
          <p:cNvSpPr/>
          <p:nvPr/>
        </p:nvSpPr>
        <p:spPr>
          <a:xfrm>
            <a:off x="859536" y="2478024"/>
            <a:ext cx="91440" cy="91440"/>
          </a:xfrm>
          <a:prstGeom prst="ellipse">
            <a:avLst/>
          </a:prstGeom>
          <a:solidFill>
            <a:srgbClr val="E0C84F"/>
          </a:solidFill>
          <a:ln/>
        </p:spPr>
      </p:sp>
      <p:sp>
        <p:nvSpPr>
          <p:cNvPr id="7" name="Shape 5"/>
          <p:cNvSpPr/>
          <p:nvPr/>
        </p:nvSpPr>
        <p:spPr>
          <a:xfrm>
            <a:off x="1005840" y="2478024"/>
            <a:ext cx="91440" cy="91440"/>
          </a:xfrm>
          <a:prstGeom prst="ellipse">
            <a:avLst/>
          </a:prstGeom>
          <a:solidFill>
            <a:srgbClr val="5FD0C2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715768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CE3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= open('notes.txt', 'r')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F8C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'r' — режим читання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CE3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= file.read()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CE3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file.close()  # важливо закрити!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4800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Параметри: open(шлях, режим, encoding)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5166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A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Рекомендація: завжди вказуйте encoding='utf-8' — особливо для українського тексту.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212080" cy="4480560"/>
        </p:xfrm>
        <a:graphic>
          <a:graphicData uri="http://schemas.openxmlformats.org/drawingml/2006/table">
            <a:tbl>
              <a:tblPr/>
              <a:tblGrid>
                <a:gridCol w="2606040"/>
                <a:gridCol w="2606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Режим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9D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Означає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9DA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4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4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читання (за замовч.), файл має існувати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4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4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запис, перезаписує файл повністю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4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4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дозапис у кінець файлу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4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4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створити новий, помилка якщо існує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4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4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читання і запис одночасно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Python: робота з файлами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Оператор with: безпечна робота з файлами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Якщо забути закрити файл або станеться помилка до file.close() — файл залишиться відкритим. Конструкція with закриває файл автоматично, навіть якщо виникла помилка.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5394960" cy="3383280"/>
          </a:xfrm>
          <a:prstGeom prst="roundRect">
            <a:avLst>
              <a:gd name="adj" fmla="val 2703"/>
            </a:avLst>
          </a:prstGeom>
          <a:solidFill>
            <a:srgbClr val="12283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560320"/>
            <a:ext cx="548640" cy="548640"/>
          </a:xfrm>
          <a:prstGeom prst="ellipse">
            <a:avLst/>
          </a:prstGeom>
          <a:solidFill>
            <a:srgbClr val="5A2A2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813" y="2708453"/>
            <a:ext cx="252374" cy="25237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2606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734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Без with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77240" y="3291840"/>
            <a:ext cx="4937760" cy="2194560"/>
          </a:xfrm>
          <a:prstGeom prst="roundRect">
            <a:avLst>
              <a:gd name="adj" fmla="val 3333"/>
            </a:avLst>
          </a:prstGeom>
          <a:solidFill>
            <a:srgbClr val="0E2233"/>
          </a:solidFill>
          <a:ln w="12700">
            <a:solidFill>
              <a:srgbClr val="16384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41832" y="3438144"/>
            <a:ext cx="91440" cy="91440"/>
          </a:xfrm>
          <a:prstGeom prst="ellipse">
            <a:avLst/>
          </a:prstGeom>
          <a:solidFill>
            <a:srgbClr val="E0734F"/>
          </a:solidFill>
          <a:ln/>
        </p:spPr>
      </p:sp>
      <p:sp>
        <p:nvSpPr>
          <p:cNvPr id="10" name="Shape 7"/>
          <p:cNvSpPr/>
          <p:nvPr/>
        </p:nvSpPr>
        <p:spPr>
          <a:xfrm>
            <a:off x="1088136" y="3438144"/>
            <a:ext cx="91440" cy="91440"/>
          </a:xfrm>
          <a:prstGeom prst="ellipse">
            <a:avLst/>
          </a:prstGeom>
          <a:solidFill>
            <a:srgbClr val="E0C84F"/>
          </a:solidFill>
          <a:ln/>
        </p:spPr>
      </p:sp>
      <p:sp>
        <p:nvSpPr>
          <p:cNvPr id="11" name="Shape 8"/>
          <p:cNvSpPr/>
          <p:nvPr/>
        </p:nvSpPr>
        <p:spPr>
          <a:xfrm>
            <a:off x="1234440" y="3438144"/>
            <a:ext cx="91440" cy="91440"/>
          </a:xfrm>
          <a:prstGeom prst="ellipse">
            <a:avLst/>
          </a:prstGeom>
          <a:solidFill>
            <a:srgbClr val="5FD0C2"/>
          </a:solidFill>
          <a:ln/>
        </p:spPr>
      </p:sp>
      <p:sp>
        <p:nvSpPr>
          <p:cNvPr id="12" name="Text 9"/>
          <p:cNvSpPr/>
          <p:nvPr/>
        </p:nvSpPr>
        <p:spPr>
          <a:xfrm>
            <a:off x="1005840" y="3675888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CE3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= open('a.txt', 'r')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CE3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= file.read()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073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якщо тут помилка —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073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close() не виконається!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CE3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file.close()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217920" y="2286000"/>
            <a:ext cx="5394960" cy="3383280"/>
          </a:xfrm>
          <a:prstGeom prst="roundRect">
            <a:avLst>
              <a:gd name="adj" fmla="val 2703"/>
            </a:avLst>
          </a:prstGeom>
          <a:solidFill>
            <a:srgbClr val="12283A"/>
          </a:solidFill>
          <a:ln/>
        </p:spPr>
      </p:sp>
      <p:sp>
        <p:nvSpPr>
          <p:cNvPr id="14" name="Shape 11"/>
          <p:cNvSpPr/>
          <p:nvPr/>
        </p:nvSpPr>
        <p:spPr>
          <a:xfrm>
            <a:off x="6537960" y="2560320"/>
            <a:ext cx="548640" cy="548640"/>
          </a:xfrm>
          <a:prstGeom prst="ellipse">
            <a:avLst/>
          </a:prstGeom>
          <a:solidFill>
            <a:srgbClr val="1E5A4A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6093" y="2708453"/>
            <a:ext cx="252374" cy="25237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269480" y="2606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FD0C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З with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6446520" y="3291840"/>
            <a:ext cx="4937760" cy="2194560"/>
          </a:xfrm>
          <a:prstGeom prst="roundRect">
            <a:avLst>
              <a:gd name="adj" fmla="val 3333"/>
            </a:avLst>
          </a:prstGeom>
          <a:solidFill>
            <a:srgbClr val="0E2233"/>
          </a:solidFill>
          <a:ln w="12700">
            <a:solidFill>
              <a:srgbClr val="16384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611112" y="3438144"/>
            <a:ext cx="91440" cy="91440"/>
          </a:xfrm>
          <a:prstGeom prst="ellipse">
            <a:avLst/>
          </a:prstGeom>
          <a:solidFill>
            <a:srgbClr val="E0734F"/>
          </a:solidFill>
          <a:ln/>
        </p:spPr>
      </p:sp>
      <p:sp>
        <p:nvSpPr>
          <p:cNvPr id="19" name="Shape 15"/>
          <p:cNvSpPr/>
          <p:nvPr/>
        </p:nvSpPr>
        <p:spPr>
          <a:xfrm>
            <a:off x="6757416" y="3438144"/>
            <a:ext cx="91440" cy="91440"/>
          </a:xfrm>
          <a:prstGeom prst="ellipse">
            <a:avLst/>
          </a:prstGeom>
          <a:solidFill>
            <a:srgbClr val="E0C84F"/>
          </a:solidFill>
          <a:ln/>
        </p:spPr>
      </p:sp>
      <p:sp>
        <p:nvSpPr>
          <p:cNvPr id="20" name="Shape 16"/>
          <p:cNvSpPr/>
          <p:nvPr/>
        </p:nvSpPr>
        <p:spPr>
          <a:xfrm>
            <a:off x="6903720" y="3438144"/>
            <a:ext cx="91440" cy="91440"/>
          </a:xfrm>
          <a:prstGeom prst="ellipse">
            <a:avLst/>
          </a:prstGeom>
          <a:solidFill>
            <a:srgbClr val="5FD0C2"/>
          </a:solidFill>
          <a:ln/>
        </p:spPr>
      </p:sp>
      <p:sp>
        <p:nvSpPr>
          <p:cNvPr id="21" name="Text 17"/>
          <p:cNvSpPr/>
          <p:nvPr/>
        </p:nvSpPr>
        <p:spPr>
          <a:xfrm>
            <a:off x="6675120" y="3675888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CE3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open('a.txt', 'r') as f: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CE3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 = f.read()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F8C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працюємо з даними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FD0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файл вже закритий автоматично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Python: робота з файлами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E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Читання файлу: три способи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Обирайте спосіб залежно від задачі: весь текст одразу, по одному рядку, чи список усіх рядків.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657600" cy="3657600"/>
          </a:xfrm>
          <a:prstGeom prst="roundRect">
            <a:avLst>
              <a:gd name="adj" fmla="val 2500"/>
            </a:avLst>
          </a:prstGeom>
          <a:solidFill>
            <a:srgbClr val="EAF4F6"/>
          </a:solidFill>
          <a:ln/>
          <a:effectLst>
            <a:outerShdw sx="100000" sy="100000" kx="0" ky="0" algn="bl" rotWithShape="0" blurRad="76200" dist="25400" dir="5400000">
              <a:srgbClr val="0B1E33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216712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read()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6060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Повертає весь зміст файлу одним рядком (строкою)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31520" y="3520440"/>
            <a:ext cx="3291840" cy="1920240"/>
          </a:xfrm>
          <a:prstGeom prst="roundRect">
            <a:avLst>
              <a:gd name="adj" fmla="val 3810"/>
            </a:avLst>
          </a:prstGeom>
          <a:solidFill>
            <a:srgbClr val="0E2233"/>
          </a:solidFill>
          <a:ln w="12700">
            <a:solidFill>
              <a:srgbClr val="1638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96112" y="3666744"/>
            <a:ext cx="91440" cy="91440"/>
          </a:xfrm>
          <a:prstGeom prst="ellipse">
            <a:avLst/>
          </a:prstGeom>
          <a:solidFill>
            <a:srgbClr val="E0734F"/>
          </a:solidFill>
          <a:ln/>
        </p:spPr>
      </p:sp>
      <p:sp>
        <p:nvSpPr>
          <p:cNvPr id="9" name="Shape 7"/>
          <p:cNvSpPr/>
          <p:nvPr/>
        </p:nvSpPr>
        <p:spPr>
          <a:xfrm>
            <a:off x="1042416" y="3666744"/>
            <a:ext cx="91440" cy="91440"/>
          </a:xfrm>
          <a:prstGeom prst="ellipse">
            <a:avLst/>
          </a:prstGeom>
          <a:solidFill>
            <a:srgbClr val="E0C84F"/>
          </a:solidFill>
          <a:ln/>
        </p:spPr>
      </p:sp>
      <p:sp>
        <p:nvSpPr>
          <p:cNvPr id="10" name="Shape 8"/>
          <p:cNvSpPr/>
          <p:nvPr/>
        </p:nvSpPr>
        <p:spPr>
          <a:xfrm>
            <a:off x="1188720" y="3666744"/>
            <a:ext cx="91440" cy="91440"/>
          </a:xfrm>
          <a:prstGeom prst="ellipse">
            <a:avLst/>
          </a:prstGeom>
          <a:solidFill>
            <a:srgbClr val="5FD0C2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904488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CE3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open('f.txt') as f: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CE3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text = f.read()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480560" y="1965960"/>
            <a:ext cx="3657600" cy="3657600"/>
          </a:xfrm>
          <a:prstGeom prst="roundRect">
            <a:avLst>
              <a:gd name="adj" fmla="val 2500"/>
            </a:avLst>
          </a:prstGeom>
          <a:solidFill>
            <a:srgbClr val="EAF4F6"/>
          </a:solidFill>
          <a:ln/>
          <a:effectLst>
            <a:outerShdw sx="100000" sy="100000" kx="0" ky="0" algn="bl" rotWithShape="0" blurRad="76200" dist="25400" dir="5400000">
              <a:srgbClr val="0B1E33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09160" y="216712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readline()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709160" y="26060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Повертає один рядок файлу за раз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663440" y="3520440"/>
            <a:ext cx="3291840" cy="1920240"/>
          </a:xfrm>
          <a:prstGeom prst="roundRect">
            <a:avLst>
              <a:gd name="adj" fmla="val 3810"/>
            </a:avLst>
          </a:prstGeom>
          <a:solidFill>
            <a:srgbClr val="0E2233"/>
          </a:solidFill>
          <a:ln w="12700">
            <a:solidFill>
              <a:srgbClr val="1638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28032" y="3666744"/>
            <a:ext cx="91440" cy="91440"/>
          </a:xfrm>
          <a:prstGeom prst="ellipse">
            <a:avLst/>
          </a:prstGeom>
          <a:solidFill>
            <a:srgbClr val="E0734F"/>
          </a:solidFill>
          <a:ln/>
        </p:spPr>
      </p:sp>
      <p:sp>
        <p:nvSpPr>
          <p:cNvPr id="17" name="Shape 15"/>
          <p:cNvSpPr/>
          <p:nvPr/>
        </p:nvSpPr>
        <p:spPr>
          <a:xfrm>
            <a:off x="4974336" y="3666744"/>
            <a:ext cx="91440" cy="91440"/>
          </a:xfrm>
          <a:prstGeom prst="ellipse">
            <a:avLst/>
          </a:prstGeom>
          <a:solidFill>
            <a:srgbClr val="E0C84F"/>
          </a:solidFill>
          <a:ln/>
        </p:spPr>
      </p:sp>
      <p:sp>
        <p:nvSpPr>
          <p:cNvPr id="18" name="Shape 16"/>
          <p:cNvSpPr/>
          <p:nvPr/>
        </p:nvSpPr>
        <p:spPr>
          <a:xfrm>
            <a:off x="5120640" y="3666744"/>
            <a:ext cx="91440" cy="91440"/>
          </a:xfrm>
          <a:prstGeom prst="ellipse">
            <a:avLst/>
          </a:prstGeom>
          <a:solidFill>
            <a:srgbClr val="5FD0C2"/>
          </a:solidFill>
          <a:ln/>
        </p:spPr>
      </p:sp>
      <p:sp>
        <p:nvSpPr>
          <p:cNvPr id="19" name="Text 17"/>
          <p:cNvSpPr/>
          <p:nvPr/>
        </p:nvSpPr>
        <p:spPr>
          <a:xfrm>
            <a:off x="4892040" y="3904488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CE3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open('f.txt') as f: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CE3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line = f.readline()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412480" y="1965960"/>
            <a:ext cx="3657600" cy="3657600"/>
          </a:xfrm>
          <a:prstGeom prst="roundRect">
            <a:avLst>
              <a:gd name="adj" fmla="val 2500"/>
            </a:avLst>
          </a:prstGeom>
          <a:solidFill>
            <a:srgbClr val="EAF4F6"/>
          </a:solidFill>
          <a:ln/>
          <a:effectLst>
            <a:outerShdw sx="100000" sy="100000" kx="0" ky="0" algn="bl" rotWithShape="0" blurRad="76200" dist="25400" dir="5400000">
              <a:srgbClr val="0B1E33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641080" y="216712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line in f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641080" y="26060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Найзручніше: цикл по рядках файлу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595360" y="3520440"/>
            <a:ext cx="3291840" cy="1920240"/>
          </a:xfrm>
          <a:prstGeom prst="roundRect">
            <a:avLst>
              <a:gd name="adj" fmla="val 3810"/>
            </a:avLst>
          </a:prstGeom>
          <a:solidFill>
            <a:srgbClr val="0E2233"/>
          </a:solidFill>
          <a:ln w="12700">
            <a:solidFill>
              <a:srgbClr val="1638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59952" y="3666744"/>
            <a:ext cx="91440" cy="91440"/>
          </a:xfrm>
          <a:prstGeom prst="ellipse">
            <a:avLst/>
          </a:prstGeom>
          <a:solidFill>
            <a:srgbClr val="E0734F"/>
          </a:solidFill>
          <a:ln/>
        </p:spPr>
      </p:sp>
      <p:sp>
        <p:nvSpPr>
          <p:cNvPr id="25" name="Shape 23"/>
          <p:cNvSpPr/>
          <p:nvPr/>
        </p:nvSpPr>
        <p:spPr>
          <a:xfrm>
            <a:off x="8906256" y="3666744"/>
            <a:ext cx="91440" cy="91440"/>
          </a:xfrm>
          <a:prstGeom prst="ellipse">
            <a:avLst/>
          </a:prstGeom>
          <a:solidFill>
            <a:srgbClr val="E0C84F"/>
          </a:solidFill>
          <a:ln/>
        </p:spPr>
      </p:sp>
      <p:sp>
        <p:nvSpPr>
          <p:cNvPr id="26" name="Shape 24"/>
          <p:cNvSpPr/>
          <p:nvPr/>
        </p:nvSpPr>
        <p:spPr>
          <a:xfrm>
            <a:off x="9052560" y="3666744"/>
            <a:ext cx="91440" cy="91440"/>
          </a:xfrm>
          <a:prstGeom prst="ellipse">
            <a:avLst/>
          </a:prstGeom>
          <a:solidFill>
            <a:srgbClr val="5FD0C2"/>
          </a:solidFill>
          <a:ln/>
        </p:spPr>
      </p:sp>
      <p:sp>
        <p:nvSpPr>
          <p:cNvPr id="27" name="Text 25"/>
          <p:cNvSpPr/>
          <p:nvPr/>
        </p:nvSpPr>
        <p:spPr>
          <a:xfrm>
            <a:off x="8823960" y="3904488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CE3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open('f.txt') as f: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CE3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line in f: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CE3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print(line.strip())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Python: робота з файлами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E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Запис у файл: write() та writelines()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write() записує один рядок (текст) у файл. Не додає перенесення рядка автоматично — пишемо \n самі. writelines() записує список рядків одразу.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468880"/>
            <a:ext cx="5577840" cy="3200400"/>
          </a:xfrm>
          <a:prstGeom prst="roundRect">
            <a:avLst>
              <a:gd name="adj" fmla="val 2286"/>
            </a:avLst>
          </a:prstGeom>
          <a:solidFill>
            <a:srgbClr val="0E2233"/>
          </a:solidFill>
          <a:ln w="12700">
            <a:solidFill>
              <a:srgbClr val="1638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2615184"/>
            <a:ext cx="91440" cy="91440"/>
          </a:xfrm>
          <a:prstGeom prst="ellipse">
            <a:avLst/>
          </a:prstGeom>
          <a:solidFill>
            <a:srgbClr val="E0734F"/>
          </a:solidFill>
          <a:ln/>
        </p:spPr>
      </p:sp>
      <p:sp>
        <p:nvSpPr>
          <p:cNvPr id="6" name="Shape 4"/>
          <p:cNvSpPr/>
          <p:nvPr/>
        </p:nvSpPr>
        <p:spPr>
          <a:xfrm>
            <a:off x="859536" y="2615184"/>
            <a:ext cx="91440" cy="91440"/>
          </a:xfrm>
          <a:prstGeom prst="ellipse">
            <a:avLst/>
          </a:prstGeom>
          <a:solidFill>
            <a:srgbClr val="E0C84F"/>
          </a:solidFill>
          <a:ln/>
        </p:spPr>
      </p:sp>
      <p:sp>
        <p:nvSpPr>
          <p:cNvPr id="7" name="Shape 5"/>
          <p:cNvSpPr/>
          <p:nvPr/>
        </p:nvSpPr>
        <p:spPr>
          <a:xfrm>
            <a:off x="1005840" y="2615184"/>
            <a:ext cx="91440" cy="91440"/>
          </a:xfrm>
          <a:prstGeom prst="ellipse">
            <a:avLst/>
          </a:prstGeom>
          <a:solidFill>
            <a:srgbClr val="5FD0C2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852928"/>
            <a:ext cx="51206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CE3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open('result.txt', 'w') as f: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CE3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f.write('Перший рядок\n')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CE3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f.write('Другий рядок\n')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CE3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lines = ['Один\n', 'Два\n', 'Три\n']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CE3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open('result.txt', 'a') as f: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CE3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f.writelines(lines)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0" y="1280160"/>
            <a:ext cx="521208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B1E33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29400" y="1463040"/>
            <a:ext cx="502920" cy="502920"/>
          </a:xfrm>
          <a:prstGeom prst="ellipse">
            <a:avLst/>
          </a:prstGeom>
          <a:solidFill>
            <a:srgbClr val="FBE6DC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5188" y="1598828"/>
            <a:ext cx="231343" cy="231343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315200" y="14173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E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'w' — перезаписує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315200" y="178308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Якщо файл уже існує — весь старий вміст буде втрачено!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400800" y="3246120"/>
            <a:ext cx="521208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B1E33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629400" y="3429000"/>
            <a:ext cx="502920" cy="502920"/>
          </a:xfrm>
          <a:prstGeom prst="ellipse">
            <a:avLst/>
          </a:prstGeom>
          <a:solidFill>
            <a:srgbClr val="E3F4F4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5188" y="3564788"/>
            <a:ext cx="231343" cy="231343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7315200" y="33832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E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'a' — дописує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7315200" y="374904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Новий текст додається у кінець, старий вміст залишається.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Python: робота з файлами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E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Практика: робота з CSV-файлами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Модуль csv дозволяє читати й записувати табличні дані рядок за рядком — зручно для списків студентів, товарів, результатів тощо.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943600" cy="2743200"/>
          </a:xfrm>
          <a:prstGeom prst="roundRect">
            <a:avLst>
              <a:gd name="adj" fmla="val 2667"/>
            </a:avLst>
          </a:prstGeom>
          <a:solidFill>
            <a:srgbClr val="0E2233"/>
          </a:solidFill>
          <a:ln w="12700">
            <a:solidFill>
              <a:srgbClr val="1638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2157984"/>
            <a:ext cx="91440" cy="91440"/>
          </a:xfrm>
          <a:prstGeom prst="ellipse">
            <a:avLst/>
          </a:prstGeom>
          <a:solidFill>
            <a:srgbClr val="E0734F"/>
          </a:solidFill>
          <a:ln/>
        </p:spPr>
      </p:sp>
      <p:sp>
        <p:nvSpPr>
          <p:cNvPr id="6" name="Shape 4"/>
          <p:cNvSpPr/>
          <p:nvPr/>
        </p:nvSpPr>
        <p:spPr>
          <a:xfrm>
            <a:off x="859536" y="2157984"/>
            <a:ext cx="91440" cy="91440"/>
          </a:xfrm>
          <a:prstGeom prst="ellipse">
            <a:avLst/>
          </a:prstGeom>
          <a:solidFill>
            <a:srgbClr val="E0C84F"/>
          </a:solidFill>
          <a:ln/>
        </p:spPr>
      </p:sp>
      <p:sp>
        <p:nvSpPr>
          <p:cNvPr id="7" name="Shape 5"/>
          <p:cNvSpPr/>
          <p:nvPr/>
        </p:nvSpPr>
        <p:spPr>
          <a:xfrm>
            <a:off x="1005840" y="2157984"/>
            <a:ext cx="91440" cy="91440"/>
          </a:xfrm>
          <a:prstGeom prst="ellipse">
            <a:avLst/>
          </a:prstGeom>
          <a:solidFill>
            <a:srgbClr val="5FD0C2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395728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CE3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csv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CE3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open('students.csv', encoding='utf-8') as f: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CE3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reader = csv.reader(f)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F8C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next(reader)  # пропустити заголовок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CE3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row in reader: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CE3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print(row[0], row[1])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76656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students.csv: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2331720"/>
          <a:ext cx="429768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148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ім'я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9D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оцінка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9DA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4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Олена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4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4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Іван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4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4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Марія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4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48640" y="4983480"/>
            <a:ext cx="10698480" cy="1143000"/>
          </a:xfrm>
          <a:prstGeom prst="roundRect">
            <a:avLst>
              <a:gd name="adj" fmla="val 8000"/>
            </a:avLst>
          </a:prstGeom>
          <a:solidFill>
            <a:srgbClr val="E3F4F4"/>
          </a:solidFill>
          <a:ln/>
        </p:spPr>
      </p:sp>
      <p:sp>
        <p:nvSpPr>
          <p:cNvPr id="12" name="Shape 9"/>
          <p:cNvSpPr/>
          <p:nvPr/>
        </p:nvSpPr>
        <p:spPr>
          <a:xfrm>
            <a:off x="777240" y="51663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750" y="5363870"/>
            <a:ext cx="336499" cy="33649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645920" y="5166360"/>
            <a:ext cx="9326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csv.writer(f).writerow([...]) — записує один рядок у CSV. Для словників: csv.DictReader / csv.DictWriter.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Python: робота з файлами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Обробка помилок при роботі з файлами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Файл може не існувати, бути недоступним або зайнятим іншою програмою. try/except дозволяє обробити це коректно, без аварійного завершення програми.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6035040" cy="3291840"/>
          </a:xfrm>
          <a:prstGeom prst="roundRect">
            <a:avLst>
              <a:gd name="adj" fmla="val 2222"/>
            </a:avLst>
          </a:prstGeom>
          <a:solidFill>
            <a:srgbClr val="0E2233"/>
          </a:solidFill>
          <a:ln w="12700">
            <a:solidFill>
              <a:srgbClr val="1638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2295144"/>
            <a:ext cx="91440" cy="91440"/>
          </a:xfrm>
          <a:prstGeom prst="ellipse">
            <a:avLst/>
          </a:prstGeom>
          <a:solidFill>
            <a:srgbClr val="E0734F"/>
          </a:solidFill>
          <a:ln/>
        </p:spPr>
      </p:sp>
      <p:sp>
        <p:nvSpPr>
          <p:cNvPr id="6" name="Shape 4"/>
          <p:cNvSpPr/>
          <p:nvPr/>
        </p:nvSpPr>
        <p:spPr>
          <a:xfrm>
            <a:off x="859536" y="2295144"/>
            <a:ext cx="91440" cy="91440"/>
          </a:xfrm>
          <a:prstGeom prst="ellipse">
            <a:avLst/>
          </a:prstGeom>
          <a:solidFill>
            <a:srgbClr val="E0C84F"/>
          </a:solidFill>
          <a:ln/>
        </p:spPr>
      </p:sp>
      <p:sp>
        <p:nvSpPr>
          <p:cNvPr id="7" name="Shape 5"/>
          <p:cNvSpPr/>
          <p:nvPr/>
        </p:nvSpPr>
        <p:spPr>
          <a:xfrm>
            <a:off x="1005840" y="2295144"/>
            <a:ext cx="91440" cy="91440"/>
          </a:xfrm>
          <a:prstGeom prst="ellipse">
            <a:avLst/>
          </a:prstGeom>
          <a:solidFill>
            <a:srgbClr val="5FD0C2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532888"/>
            <a:ext cx="5577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CE3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try: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CE3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with open('data.txt') as f: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CE3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content = f.read()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E073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 FileNotFoundError: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CE3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print('Файл не знайдено')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E073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 PermissionError: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CE3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print('Немає доступу до файлу')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858000" y="2194560"/>
            <a:ext cx="502920" cy="502920"/>
          </a:xfrm>
          <a:prstGeom prst="ellipse">
            <a:avLst/>
          </a:prstGeom>
          <a:solidFill>
            <a:srgbClr val="0E3A52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3788" y="2330348"/>
            <a:ext cx="231343" cy="231343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543800" y="21945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FileNotFoundError — файл не існує за вказаним шляхом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858000" y="3246120"/>
            <a:ext cx="502920" cy="502920"/>
          </a:xfrm>
          <a:prstGeom prst="ellipse">
            <a:avLst/>
          </a:prstGeom>
          <a:solidFill>
            <a:srgbClr val="0E3A52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3788" y="3381908"/>
            <a:ext cx="231343" cy="23134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543800" y="32461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PermissionError — недостатньо прав доступу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858000" y="4297680"/>
            <a:ext cx="502920" cy="502920"/>
          </a:xfrm>
          <a:prstGeom prst="ellipse">
            <a:avLst/>
          </a:prstGeom>
          <a:solidFill>
            <a:srgbClr val="0E3A52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3788" y="4433468"/>
            <a:ext cx="231343" cy="23134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543800" y="42976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finally — код, що виконається в будь-якому разі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Python: робота з файлами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E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Підсумок та практичне завдання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475488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B1E33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645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E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Що ми вивчили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194560"/>
            <a:ext cx="46634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A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open() та режими доступу ('r', 'w', 'a', 'x')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A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— безпечне автоматичне закриття файлу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A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read(), readline(), цикл for line in f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A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write(), writelines()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A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модуль csv для табличних даних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A4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try/except для обробки помилок файлів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394960" cy="4754880"/>
          </a:xfrm>
          <a:prstGeom prst="roundRect">
            <a:avLst>
              <a:gd name="adj" fmla="val 2308"/>
            </a:avLst>
          </a:prstGeom>
          <a:solidFill>
            <a:srgbClr val="0B1E33"/>
          </a:solidFill>
          <a:ln/>
          <a:effectLst>
            <a:outerShdw sx="100000" sy="100000" kx="0" ky="0" algn="bl" rotWithShape="0" blurRad="101600" dist="38100" dir="5400000">
              <a:srgbClr val="0B1E3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537960" y="1645920"/>
            <a:ext cx="548640" cy="548640"/>
          </a:xfrm>
          <a:prstGeom prst="ellipse">
            <a:avLst/>
          </a:prstGeom>
          <a:solidFill>
            <a:srgbClr val="1C9DA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86093" y="1794053"/>
            <a:ext cx="252374" cy="25237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269480" y="17190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Завдання на практику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583680" y="2377440"/>
            <a:ext cx="4663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9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Напишіть програму, яка зчитує файл students.csv, рахує середню оцінку, і записує результат у новий файл report.txt. Передбачте обробку помилки, якщо students.csv не знайдено.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583680" y="4160520"/>
            <a:ext cx="4663440" cy="1691640"/>
          </a:xfrm>
          <a:prstGeom prst="roundRect">
            <a:avLst>
              <a:gd name="adj" fmla="val 5405"/>
            </a:avLst>
          </a:prstGeom>
          <a:solidFill>
            <a:srgbClr val="12283A"/>
          </a:solidFill>
          <a:ln/>
        </p:spPr>
      </p:sp>
      <p:sp>
        <p:nvSpPr>
          <p:cNvPr id="12" name="Text 9"/>
          <p:cNvSpPr/>
          <p:nvPr/>
        </p:nvSpPr>
        <p:spPr>
          <a:xfrm>
            <a:off x="6812280" y="4297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FD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Підказка: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812280" y="46177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E3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csv.reader + try/except FileNotFoundError + open(..., 'w') для запису звіту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Python: робота з файлами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Python: робота з файлами</dc:title>
  <dc:subject>PptxGenJS Presentation</dc:subject>
  <dc:creator>Python Course</dc:creator>
  <cp:lastModifiedBy>Python Course</cp:lastModifiedBy>
  <cp:revision>1</cp:revision>
  <dcterms:created xsi:type="dcterms:W3CDTF">2026-06-19T20:29:53Z</dcterms:created>
  <dcterms:modified xsi:type="dcterms:W3CDTF">2026-06-19T20:29:53Z</dcterms:modified>
</cp:coreProperties>
</file>