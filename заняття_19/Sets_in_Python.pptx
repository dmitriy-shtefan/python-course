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6972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Головна «фішка» множини — автоматичне видалення дублікатів і блискавичний пошук. Сьогодні розберемо, що таке set, як із ним працювати і коли він рятує кодера від зайвої роботи.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Підкреслюємо три ключові властивості: унікальність, відсутність порядку/індексів і змінюваність. Акцент — порожня множина лише через set(), бо {} — це 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Чотири основні операції як у теорії множин зі школи. Показати аналогію з колами Ейлера. Оператори-символи | &amp; - ^ — синтаксичний цукор; .union() і т.д. теж працюють.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Ключовий момент: add() не ламається на дублікаті, remove() падає на відсутності. discard() — безпечна альтернатива. in — пошук O(1), набагато швидший ніж in у списку.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найпопулярніших use-case: дедуплікація, O(1) пошук, порівняння двох груп. Порівняння in list vs in set для великих даних — гарний момент пояснити важливість вибору структури.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Таблиця показує, де set виграє перед list і dict. Три нижні картки — практичні нагадування. Запам'ятайте: якщо потрібна унікальність або блискавичний пошук —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132320" y="457200"/>
            <a:ext cx="1645920" cy="16459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 rot="1200000">
            <a:off x="274320" y="3520440"/>
            <a:ext cx="1005840" cy="10058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" y="12801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3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</a:t>
            </a:r>
            <a:r>
              <a:rPr lang="en-US" sz="13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</a:t>
            </a:r>
            <a:r>
              <a:rPr lang="uk-UA" sz="13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ДОДАТКІВ З ВИКОРИСТАННЯМ </a:t>
            </a:r>
            <a:r>
              <a:rPr lang="en-US" sz="13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94360" y="162763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Множини в Python</a:t>
            </a:r>
            <a:endParaRPr lang="en-US" sz="5000" dirty="0"/>
          </a:p>
        </p:txBody>
      </p:sp>
      <p:sp>
        <p:nvSpPr>
          <p:cNvPr id="6" name="Text 2"/>
          <p:cNvSpPr/>
          <p:nvPr/>
        </p:nvSpPr>
        <p:spPr>
          <a:xfrm>
            <a:off x="594360" y="2670048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— колекція унікальних елементів без порядку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594360" y="3273552"/>
            <a:ext cx="7955280" cy="749808"/>
          </a:xfrm>
          <a:prstGeom prst="roundRect">
            <a:avLst>
              <a:gd name="adj" fmla="val 9756"/>
            </a:avLst>
          </a:prstGeom>
          <a:solidFill>
            <a:srgbClr val="141B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4"/>
          <p:cNvSpPr/>
          <p:nvPr/>
        </p:nvSpPr>
        <p:spPr>
          <a:xfrm>
            <a:off x="822960" y="327355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 = </a:t>
            </a:r>
            <a:r>
              <a:rPr lang="en-US" sz="17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"яблуко", "груша", "яблуко", "слива"</a:t>
            </a:r>
            <a:r>
              <a:rPr lang="en-US" sz="17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700" dirty="0">
                <a:solidFill>
                  <a:srgbClr val="5B6B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700" b="1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{"яблуко", "груша", "слива"}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таке множина?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— це колекція лише унікальних елементів. Порядку немає, індексів немає, дублікатів немає.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4800600" cy="2926080"/>
          </a:xfrm>
          <a:prstGeom prst="roundRect">
            <a:avLst>
              <a:gd name="adj" fmla="val 2500"/>
            </a:avLst>
          </a:prstGeom>
          <a:solidFill>
            <a:srgbClr val="141B47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804672" y="1664208"/>
            <a:ext cx="4343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C9B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Спосіб 1 — фігурні дужки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 = {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"червоний", "синій", "зелений"</a:t>
            </a: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C9B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Спосіб 2 — функція set()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set([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1, 2, 2, 3, 3, 4</a:t>
            </a: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{1, 2, 3, 4}  дублікати зникли!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C9B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Порожня множина — ЛИШЕ так: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 = set()  </a:t>
            </a:r>
            <a:r>
              <a:rPr lang="en-US" sz="1200" b="1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НЕ {} — то dict!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77840" y="1481328"/>
            <a:ext cx="3200400" cy="850392"/>
          </a:xfrm>
          <a:prstGeom prst="roundRect">
            <a:avLst>
              <a:gd name="adj" fmla="val 9677"/>
            </a:avLst>
          </a:prstGeom>
          <a:solidFill>
            <a:srgbClr val="F4F7F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5715000" y="166420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75564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72784" y="153619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Унікальність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72784" y="181291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Однаковий елемент не може потрапити до множини двічі — Python сам відфільтрує.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577840" y="2459736"/>
            <a:ext cx="3200400" cy="850392"/>
          </a:xfrm>
          <a:prstGeom prst="roundRect">
            <a:avLst>
              <a:gd name="adj" fmla="val 9677"/>
            </a:avLst>
          </a:prstGeom>
          <a:solidFill>
            <a:srgbClr val="F4F7F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9"/>
          <p:cNvSpPr/>
          <p:nvPr/>
        </p:nvSpPr>
        <p:spPr>
          <a:xfrm>
            <a:off x="5715000" y="2642616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73405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72784" y="25146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індексів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272784" y="280451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можна </a:t>
            </a: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написати</a:t>
            </a: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colors[0]. Доступ — лише через перебір або оператори.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577840" y="3438144"/>
            <a:ext cx="3200400" cy="850392"/>
          </a:xfrm>
          <a:prstGeom prst="roundRect">
            <a:avLst>
              <a:gd name="adj" fmla="val 9677"/>
            </a:avLst>
          </a:prstGeom>
          <a:solidFill>
            <a:srgbClr val="F4F7F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3"/>
          <p:cNvSpPr/>
          <p:nvPr/>
        </p:nvSpPr>
        <p:spPr>
          <a:xfrm>
            <a:off x="5715000" y="3621024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371246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72784" y="351129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Змінювана (mutable)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72784" y="378104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Можна додавати й видаляти елементи після створення.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50749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Математичні операції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07899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Множини підтримують класичні операції з теорії множин — прямо в Python.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3886200" cy="1417320"/>
          </a:xfrm>
          <a:prstGeom prst="roundRect">
            <a:avLst>
              <a:gd name="adj" fmla="val 6452"/>
            </a:avLst>
          </a:prstGeom>
          <a:solidFill>
            <a:srgbClr val="27306B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3886200" cy="329184"/>
          </a:xfrm>
          <a:prstGeom prst="roundRect">
            <a:avLst>
              <a:gd name="adj" fmla="val 27778"/>
            </a:avLst>
          </a:prstGeom>
          <a:solidFill>
            <a:srgbClr val="1A7A4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3886200" cy="164592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731520" y="16093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Об'єднання  |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195681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Всі унікальні елементи обох множин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223113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{1,2,3}  b = {3,4,5}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1520" y="254203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| b  →  {1, 2, 3, 4, 5}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617720" y="1572768"/>
            <a:ext cx="3886200" cy="1417320"/>
          </a:xfrm>
          <a:prstGeom prst="roundRect">
            <a:avLst>
              <a:gd name="adj" fmla="val 6452"/>
            </a:avLst>
          </a:prstGeom>
          <a:solidFill>
            <a:srgbClr val="27306B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Shape 11"/>
          <p:cNvSpPr/>
          <p:nvPr/>
        </p:nvSpPr>
        <p:spPr>
          <a:xfrm>
            <a:off x="4617720" y="1572768"/>
            <a:ext cx="3886200" cy="329184"/>
          </a:xfrm>
          <a:prstGeom prst="roundRect">
            <a:avLst>
              <a:gd name="adj" fmla="val 27778"/>
            </a:avLst>
          </a:prstGeom>
          <a:solidFill>
            <a:srgbClr val="1A4A7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Shape 12"/>
          <p:cNvSpPr/>
          <p:nvPr/>
        </p:nvSpPr>
        <p:spPr>
          <a:xfrm>
            <a:off x="4617720" y="1737360"/>
            <a:ext cx="3886200" cy="164592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3"/>
          <p:cNvSpPr/>
          <p:nvPr/>
        </p:nvSpPr>
        <p:spPr>
          <a:xfrm>
            <a:off x="4800600" y="16093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Перетин  &amp;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00600" y="195681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Лише спільні елементи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00600" y="223113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{1,2,3}  b = {3,4,5}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800600" y="254203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&amp; b  →  {3}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3154680"/>
            <a:ext cx="3886200" cy="1417320"/>
          </a:xfrm>
          <a:prstGeom prst="roundRect">
            <a:avLst>
              <a:gd name="adj" fmla="val 6452"/>
            </a:avLst>
          </a:prstGeom>
          <a:solidFill>
            <a:srgbClr val="27306B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Shape 18"/>
          <p:cNvSpPr/>
          <p:nvPr/>
        </p:nvSpPr>
        <p:spPr>
          <a:xfrm>
            <a:off x="548640" y="3154680"/>
            <a:ext cx="3886200" cy="329184"/>
          </a:xfrm>
          <a:prstGeom prst="roundRect">
            <a:avLst>
              <a:gd name="adj" fmla="val 27778"/>
            </a:avLst>
          </a:prstGeom>
          <a:solidFill>
            <a:srgbClr val="7A1A1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Shape 19"/>
          <p:cNvSpPr/>
          <p:nvPr/>
        </p:nvSpPr>
        <p:spPr>
          <a:xfrm>
            <a:off x="548640" y="3319272"/>
            <a:ext cx="3886200" cy="164592"/>
          </a:xfrm>
          <a:prstGeom prst="rect">
            <a:avLst/>
          </a:prstGeom>
          <a:solidFill>
            <a:srgbClr val="7A1A1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Text 20"/>
          <p:cNvSpPr/>
          <p:nvPr/>
        </p:nvSpPr>
        <p:spPr>
          <a:xfrm>
            <a:off x="731520" y="31912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Різниця  -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31520" y="353872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 в a, але немає в b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31520" y="381304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{1,2,3}  b = {3,4,5}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31520" y="412394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CD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- b  →  {1, 2}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617720" y="3154680"/>
            <a:ext cx="3886200" cy="1417320"/>
          </a:xfrm>
          <a:prstGeom prst="roundRect">
            <a:avLst>
              <a:gd name="adj" fmla="val 6452"/>
            </a:avLst>
          </a:prstGeom>
          <a:solidFill>
            <a:srgbClr val="27306B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8" name="Shape 25"/>
          <p:cNvSpPr/>
          <p:nvPr/>
        </p:nvSpPr>
        <p:spPr>
          <a:xfrm>
            <a:off x="4617720" y="3154680"/>
            <a:ext cx="3886200" cy="329184"/>
          </a:xfrm>
          <a:prstGeom prst="roundRect">
            <a:avLst>
              <a:gd name="adj" fmla="val 27778"/>
            </a:avLst>
          </a:prstGeom>
          <a:solidFill>
            <a:srgbClr val="5A1A7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9" name="Shape 26"/>
          <p:cNvSpPr/>
          <p:nvPr/>
        </p:nvSpPr>
        <p:spPr>
          <a:xfrm>
            <a:off x="4617720" y="3319272"/>
            <a:ext cx="3886200" cy="164592"/>
          </a:xfrm>
          <a:prstGeom prst="rect">
            <a:avLst/>
          </a:prstGeom>
          <a:solidFill>
            <a:srgbClr val="5A1A7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0" name="Text 27"/>
          <p:cNvSpPr/>
          <p:nvPr/>
        </p:nvSpPr>
        <p:spPr>
          <a:xfrm>
            <a:off x="4800600" y="31912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Симетрична різниця  ^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800600" y="353872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 в одній, але не в обох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800600" y="381304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{1,2,3}  b = {3,4,5}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4800600" y="412394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39D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^ b  →  {1, 2, 4, 5}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50749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Методи множини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30352" y="91897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Найкорисніші методи для повсякденної роботи зі множинами.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312164"/>
            <a:ext cx="5193792" cy="3140964"/>
          </a:xfrm>
          <a:prstGeom prst="roundRect">
            <a:avLst>
              <a:gd name="adj" fmla="val 2192"/>
            </a:avLst>
          </a:prstGeom>
          <a:solidFill>
            <a:srgbClr val="141B47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786384" y="1508760"/>
            <a:ext cx="4864608" cy="2811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{1, 2, 3}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s.add(4)      </a:t>
            </a:r>
            <a:r>
              <a:rPr lang="en-US" sz="1100" dirty="0">
                <a:solidFill>
                  <a:srgbClr val="8C9B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{1, 2, 3, 4}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s.add(2)      </a:t>
            </a:r>
            <a:r>
              <a:rPr lang="en-US" sz="1000" dirty="0">
                <a:solidFill>
                  <a:srgbClr val="8C9B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{1, 2, 3, 4}  — дублікат ігнорується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s.remove(1)   </a:t>
            </a:r>
            <a:r>
              <a:rPr lang="en-US" sz="1100" dirty="0">
                <a:solidFill>
                  <a:srgbClr val="8C9B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{2, 3, 4}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s.remove(99)  </a:t>
            </a:r>
            <a:r>
              <a:rPr lang="en-US" sz="1100" b="1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KeyError!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s.discard(3)  </a:t>
            </a:r>
            <a:r>
              <a:rPr lang="en-US" sz="11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{2, 4}  — без помилки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s.discard(99) </a:t>
            </a:r>
            <a:r>
              <a:rPr lang="en-US" sz="11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нічого не сталось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in s        </a:t>
            </a:r>
            <a:r>
              <a:rPr lang="en-US" sz="11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in s        </a:t>
            </a:r>
            <a:r>
              <a:rPr lang="en-US" sz="1100" b="1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  — </a:t>
            </a:r>
            <a:r>
              <a:rPr lang="uk-UA" sz="1100" b="1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швидкий </a:t>
            </a:r>
            <a:r>
              <a:rPr lang="en-US" sz="1100" b="1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пошу</a:t>
            </a:r>
            <a:r>
              <a:rPr lang="uk-UA" sz="1100" b="1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52160" y="1312164"/>
            <a:ext cx="2926080" cy="749808"/>
          </a:xfrm>
          <a:prstGeom prst="roundRect">
            <a:avLst>
              <a:gd name="adj" fmla="val 9756"/>
            </a:avLst>
          </a:prstGeom>
          <a:solidFill>
            <a:srgbClr val="F4F7F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6016752" y="136702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.add(x)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534656" y="1403604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1A7A4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7534656" y="140360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додає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16752" y="17145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вже є — нічого не станеться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852160" y="2116836"/>
            <a:ext cx="2926080" cy="749808"/>
          </a:xfrm>
          <a:prstGeom prst="roundRect">
            <a:avLst>
              <a:gd name="adj" fmla="val 9756"/>
            </a:avLst>
          </a:prstGeom>
          <a:solidFill>
            <a:srgbClr val="F4F7F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Text 11"/>
          <p:cNvSpPr/>
          <p:nvPr/>
        </p:nvSpPr>
        <p:spPr>
          <a:xfrm>
            <a:off x="6016752" y="217170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.remove(x)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534656" y="2208276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7A1A1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3"/>
          <p:cNvSpPr/>
          <p:nvPr/>
        </p:nvSpPr>
        <p:spPr>
          <a:xfrm>
            <a:off x="7534656" y="220827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видаляє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16752" y="25191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KeyError, якщо x відсутній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852160" y="2921508"/>
            <a:ext cx="2926080" cy="749808"/>
          </a:xfrm>
          <a:prstGeom prst="roundRect">
            <a:avLst>
              <a:gd name="adj" fmla="val 9756"/>
            </a:avLst>
          </a:prstGeom>
          <a:solidFill>
            <a:srgbClr val="F4F7F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Text 16"/>
          <p:cNvSpPr/>
          <p:nvPr/>
        </p:nvSpPr>
        <p:spPr>
          <a:xfrm>
            <a:off x="6016752" y="297637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.discard(x)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534656" y="3012948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5A5A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Text 18"/>
          <p:cNvSpPr/>
          <p:nvPr/>
        </p:nvSpPr>
        <p:spPr>
          <a:xfrm>
            <a:off x="7534656" y="301294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видаляє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016752" y="332384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Безпечно — ніяких помилок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852160" y="3726180"/>
            <a:ext cx="2926080" cy="749808"/>
          </a:xfrm>
          <a:prstGeom prst="roundRect">
            <a:avLst>
              <a:gd name="adj" fmla="val 9756"/>
            </a:avLst>
          </a:prstGeom>
          <a:solidFill>
            <a:srgbClr val="F4F7FE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4" name="Text 21"/>
          <p:cNvSpPr/>
          <p:nvPr/>
        </p:nvSpPr>
        <p:spPr>
          <a:xfrm>
            <a:off x="6016752" y="378104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in 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534656" y="3817620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1A4A7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Text 23"/>
          <p:cNvSpPr/>
          <p:nvPr/>
        </p:nvSpPr>
        <p:spPr>
          <a:xfrm>
            <a:off x="7534656" y="38176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016752" y="412851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Швидкість O(1) — блискавично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48640" y="4567428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F4F7F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9" name="Shape 26"/>
          <p:cNvSpPr/>
          <p:nvPr/>
        </p:nvSpPr>
        <p:spPr>
          <a:xfrm>
            <a:off x="713232" y="4640580"/>
            <a:ext cx="347472" cy="34747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4713732"/>
            <a:ext cx="201168" cy="20116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188720" y="456742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Пам'ятайте: </a:t>
            </a: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не впевнені, що елемент існує — використовуйте </a:t>
            </a: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.discard()</a:t>
            </a: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а не </a:t>
            </a:r>
            <a:r>
              <a:rPr lang="en-US" sz="13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.remove()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507492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Коли set рятує від зайвої роботи?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07899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типові ситуації, де set дає чистий і ефективний код.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536192"/>
            <a:ext cx="8229600" cy="1188720"/>
          </a:xfrm>
          <a:prstGeom prst="roundRect">
            <a:avLst>
              <a:gd name="adj" fmla="val 6923"/>
            </a:avLst>
          </a:prstGeom>
          <a:solidFill>
            <a:srgbClr val="27306B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Shape 4"/>
          <p:cNvSpPr/>
          <p:nvPr/>
        </p:nvSpPr>
        <p:spPr>
          <a:xfrm>
            <a:off x="548640" y="1536192"/>
            <a:ext cx="109728" cy="1188720"/>
          </a:xfrm>
          <a:prstGeom prst="round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5"/>
          <p:cNvSpPr/>
          <p:nvPr/>
        </p:nvSpPr>
        <p:spPr>
          <a:xfrm>
            <a:off x="822960" y="159105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E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Видалити дублікати зі списку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192024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[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"кіт","пес","кіт","риба","пес"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223113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 = list(set(words))  </a:t>
            </a:r>
            <a:r>
              <a:rPr lang="en-US" sz="12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["кіт", "пес", "риба"]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46320" y="1591056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рядок замість ручного циклу з перевіркою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2834640"/>
            <a:ext cx="8229600" cy="1170432"/>
          </a:xfrm>
          <a:prstGeom prst="roundRect">
            <a:avLst>
              <a:gd name="adj" fmla="val 7031"/>
            </a:avLst>
          </a:prstGeom>
          <a:solidFill>
            <a:srgbClr val="27306B"/>
          </a:solidFill>
          <a:ln/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0"/>
          <p:cNvSpPr/>
          <p:nvPr/>
        </p:nvSpPr>
        <p:spPr>
          <a:xfrm>
            <a:off x="548640" y="2834640"/>
            <a:ext cx="109728" cy="1170432"/>
          </a:xfrm>
          <a:prstGeom prst="round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1"/>
          <p:cNvSpPr/>
          <p:nvPr/>
        </p:nvSpPr>
        <p:spPr>
          <a:xfrm>
            <a:off x="822960" y="288950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Швидка перевірка належності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2960" y="3218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banned = {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"спам","реклама","фішинг"</a:t>
            </a: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" y="350215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email_type in banned:  </a:t>
            </a:r>
            <a:r>
              <a:rPr lang="en-US" sz="1200" b="1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O(1) — миттєво!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0" y="2907792"/>
            <a:ext cx="36758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з 1 000 000 елементів:</a:t>
            </a:r>
            <a:endParaRPr lang="uk-UA" sz="1200" i="1" dirty="0">
              <a:solidFill>
                <a:srgbClr val="5B6B9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i="1" dirty="0">
                <a:solidFill>
                  <a:srgbClr val="5B6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list → </a:t>
            </a:r>
            <a:r>
              <a:rPr lang="uk-UA" sz="1200" i="1" dirty="0">
                <a:solidFill>
                  <a:srgbClr val="5B6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швидкість залежить від розміру списку</a:t>
            </a:r>
            <a:r>
              <a:rPr lang="en-US" sz="1200" i="1" dirty="0">
                <a:solidFill>
                  <a:srgbClr val="5B6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uk-UA" sz="1200" i="1" dirty="0">
              <a:solidFill>
                <a:srgbClr val="5B6B9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i="1" dirty="0">
                <a:solidFill>
                  <a:srgbClr val="5B6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set → </a:t>
            </a:r>
            <a:r>
              <a:rPr lang="uk-UA" sz="1200" i="1" dirty="0">
                <a:solidFill>
                  <a:srgbClr val="5B6B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завжди швидко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4114800"/>
            <a:ext cx="8229600" cy="822960"/>
          </a:xfrm>
          <a:prstGeom prst="roundRect">
            <a:avLst>
              <a:gd name="adj" fmla="val 10000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Shape 16"/>
          <p:cNvSpPr/>
          <p:nvPr/>
        </p:nvSpPr>
        <p:spPr>
          <a:xfrm>
            <a:off x="548640" y="4114800"/>
            <a:ext cx="109728" cy="822960"/>
          </a:xfrm>
          <a:prstGeom prst="roundRect">
            <a:avLst/>
          </a:prstGeom>
          <a:solidFill>
            <a:srgbClr val="5A1A7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7"/>
          <p:cNvSpPr/>
          <p:nvPr/>
        </p:nvSpPr>
        <p:spPr>
          <a:xfrm>
            <a:off x="822960" y="4169664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Знайти спільне / унікальне між двома колекціями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22960" y="449884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registered &amp; attended  </a:t>
            </a:r>
            <a:r>
              <a:rPr lang="en-US" sz="12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хто зареєстрований і відвідав  —  одна операція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7498080" y="338328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Підсумуємо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15568"/>
          <a:ext cx="8366760" cy="25146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Властивість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Унікальність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BE7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автоматично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8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вручну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ключі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Порядок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відсутній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є індекси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(Python 3.7+)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Пошук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BE7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8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Операції ∩∪−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BE7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вбудовані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8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вручну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3913632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2"/>
          <p:cNvSpPr/>
          <p:nvPr/>
        </p:nvSpPr>
        <p:spPr>
          <a:xfrm>
            <a:off x="685800" y="396849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set()</a:t>
            </a:r>
            <a:endParaRPr lang="en-US" sz="1400" dirty="0"/>
          </a:p>
        </p:txBody>
      </p:sp>
      <p:sp>
        <p:nvSpPr>
          <p:cNvPr id="4" name="Text 3"/>
          <p:cNvSpPr/>
          <p:nvPr/>
        </p:nvSpPr>
        <p:spPr>
          <a:xfrm>
            <a:off x="685800" y="42976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порожня множина — лише так, НЕ {}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3337560" y="3913632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5"/>
          <p:cNvSpPr/>
          <p:nvPr/>
        </p:nvSpPr>
        <p:spPr>
          <a:xfrm>
            <a:off x="3474720" y="396849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.discard()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474720" y="42976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безпечне видалення без KeyError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26480" y="3913632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 8"/>
          <p:cNvSpPr/>
          <p:nvPr/>
        </p:nvSpPr>
        <p:spPr>
          <a:xfrm>
            <a:off x="6263640" y="396849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&amp;  -  ^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263640" y="42976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операції як у математиці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889</Words>
  <Application>Microsoft Macintosh PowerPoint</Application>
  <PresentationFormat>On-screen Show (16:9)</PresentationFormat>
  <Paragraphs>120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Множини в Python</dc:title>
  <dc:subject>PptxGenJS Presentation</dc:subject>
  <dc:creator>PptxGenJS</dc:creator>
  <cp:lastModifiedBy>Штефан Дмитро</cp:lastModifiedBy>
  <cp:revision>2</cp:revision>
  <dcterms:created xsi:type="dcterms:W3CDTF">2026-07-11T18:33:51Z</dcterms:created>
  <dcterms:modified xsi:type="dcterms:W3CDTF">2026-07-11T19:11:26Z</dcterms:modified>
</cp:coreProperties>
</file>