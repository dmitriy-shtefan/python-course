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45"/>
    <p:restoredTop sz="94610"/>
  </p:normalViewPr>
  <p:slideViewPr>
    <p:cSldViewPr snapToGrid="0" snapToObjects="1">
      <p:cViewPr varScale="1">
        <p:scale>
          <a:sx n="200" d="100"/>
          <a:sy n="200" d="100"/>
        </p:scale>
        <p:origin x="2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624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web-додатків з використанням Python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Заняття 3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Умови і логіка вибору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816352"/>
            <a:ext cx="3200400" cy="36576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760720" y="1143000"/>
            <a:ext cx="3063240" cy="23317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897880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&gt;= 18: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("✓")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97880" y="2011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80760" y="2350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("✗")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Що вже знаємо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3736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173736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3736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Типи даних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int, float, str, bool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57200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Перетворення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int(), float(), str()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2779776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572000" y="282549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33924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7581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повертає str — не забути перетворити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737360" y="2779776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1737360" y="282549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37360" y="33924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Методи рядків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37360" y="37581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len(), strip(), lower(), upper()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Сьогоднішня ціль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1E245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9436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0515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Зрозуміти, як програма приймає рішення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8229600" cy="777240"/>
          </a:xfrm>
          <a:prstGeom prst="rect">
            <a:avLst/>
          </a:prstGeom>
          <a:solidFill>
            <a:srgbClr val="21294F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94360" y="2093976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4360" y="2093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98424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Навчитись порівнювати значення: &gt;, &lt;, ==, !=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916936"/>
            <a:ext cx="8229600" cy="777240"/>
          </a:xfrm>
          <a:prstGeom prst="rect">
            <a:avLst/>
          </a:prstGeom>
          <a:solidFill>
            <a:srgbClr val="1E245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94360" y="3026664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9436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91693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Писати умови з if, else і elif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8229600" cy="777240"/>
          </a:xfrm>
          <a:prstGeom prst="rect">
            <a:avLst/>
          </a:prstGeom>
          <a:solidFill>
            <a:srgbClr val="21294F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94360" y="3959352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436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849624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Уникати типових помилок з відступами та == / =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Програма як набір рішень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Справжні програми не просто рахують — вони вибирають, що зробити залежно від даних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685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325880" y="16916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1389888" y="1691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вистачає грошей?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977640" y="1508760"/>
            <a:ext cx="411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8BB5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34840" y="1673352"/>
            <a:ext cx="54864" cy="53035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590288" y="16733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Додати товар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1673352"/>
            <a:ext cx="54864" cy="5303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647688" y="16733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Повідомити про нестачу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24328"/>
            <a:ext cx="822960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48640" y="2624328"/>
            <a:ext cx="685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🎂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325880" y="2807208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1389888" y="28072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років?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977640" y="2624328"/>
            <a:ext cx="411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8BB5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434840" y="2788920"/>
            <a:ext cx="54864" cy="53035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590288" y="2788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Повнолітній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2788920"/>
            <a:ext cx="54864" cy="5303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647688" y="27889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Неповнолітній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739896"/>
            <a:ext cx="822960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48640" y="3739896"/>
            <a:ext cx="685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🌡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1325880" y="3922776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1389888" y="392277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Яка температура надворі?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3977640" y="3739896"/>
            <a:ext cx="411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8BB5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434840" y="3904488"/>
            <a:ext cx="54864" cy="53035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590288" y="39044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Взяти парасолю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3904488"/>
            <a:ext cx="54864" cy="5303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6647688" y="390448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Легка куртка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Порівняння — це питання до Python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Кожне порівняння дає відповідь: True або False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5029200" cy="23317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6362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6362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6362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 &gt;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True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 &lt;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False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 ==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True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 !=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False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15000" y="1444752"/>
            <a:ext cx="2971800" cy="2331720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85216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завжди bool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2084832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989320" y="208483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49440" y="20848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виконана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2834640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2834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не виконана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Порівнювати можна числа, рядки, змінні — але типи мають співпадати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Оператори порівняння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2651760" cy="6400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02920" y="1179576"/>
            <a:ext cx="777240" cy="59436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02920" y="1179576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20700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892808"/>
            <a:ext cx="2377440" cy="62179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94360" y="189280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 3  →  True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024128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246120" y="1024128"/>
            <a:ext cx="2651760" cy="6400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3383280" y="1179576"/>
            <a:ext cx="777240" cy="59436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3383280" y="1179576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51960" y="120700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1892808"/>
            <a:ext cx="2377440" cy="62179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474720" y="189280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&lt; 3  →  False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024128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6126480" y="1024128"/>
            <a:ext cx="2651760" cy="6400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6263640" y="1179576"/>
            <a:ext cx="777240" cy="59436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6263640" y="1179576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120700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Більше або рівно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1892808"/>
            <a:ext cx="2377440" cy="62179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355080" y="189280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&gt;= 5  →  True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2962656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365760" y="2962656"/>
            <a:ext cx="2651760" cy="64008"/>
          </a:xfrm>
          <a:prstGeom prst="rect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502920" y="3118104"/>
            <a:ext cx="777240" cy="59436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502920" y="311810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371600" y="31455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або рівно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3831336"/>
            <a:ext cx="2377440" cy="62179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594360" y="383133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&lt;= 5  →  True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46120" y="2962656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3246120" y="2962656"/>
            <a:ext cx="2651760" cy="640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Shape 33"/>
          <p:cNvSpPr/>
          <p:nvPr/>
        </p:nvSpPr>
        <p:spPr>
          <a:xfrm>
            <a:off x="3383280" y="3118104"/>
            <a:ext cx="777240" cy="59436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Text 34"/>
          <p:cNvSpPr/>
          <p:nvPr/>
        </p:nvSpPr>
        <p:spPr>
          <a:xfrm>
            <a:off x="3383280" y="311810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251960" y="31455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Рівно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383280" y="3831336"/>
            <a:ext cx="2377440" cy="62179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3474720" y="383133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"а" == "а"  →  True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26480" y="2962656"/>
            <a:ext cx="26517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1" name="Shape 39"/>
          <p:cNvSpPr/>
          <p:nvPr/>
        </p:nvSpPr>
        <p:spPr>
          <a:xfrm>
            <a:off x="6126480" y="2962656"/>
            <a:ext cx="2651760" cy="640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Shape 40"/>
          <p:cNvSpPr/>
          <p:nvPr/>
        </p:nvSpPr>
        <p:spPr>
          <a:xfrm>
            <a:off x="6263640" y="3118104"/>
            <a:ext cx="777240" cy="59436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1"/>
          <p:cNvSpPr/>
          <p:nvPr/>
        </p:nvSpPr>
        <p:spPr>
          <a:xfrm>
            <a:off x="6263640" y="311810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132320" y="31455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рівно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263640" y="3831336"/>
            <a:ext cx="2377440" cy="62179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6" name="Text 44"/>
          <p:cNvSpPr/>
          <p:nvPr/>
        </p:nvSpPr>
        <p:spPr>
          <a:xfrm>
            <a:off x="6355080" y="383133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"а" != "б"  →  True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Результат порівняння — це bool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повертає True або False — саме це використовує if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5943600" cy="25603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6362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6362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6362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5669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True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(result))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bool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"Олена"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is_long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(name) &gt;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(is_long)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# True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1444752"/>
            <a:ext cx="2148840" cy="2560320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583680" y="15727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675120" y="214884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можна зберегти у змінну і використати пізніше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713232"/>
          </a:xfrm>
          <a:prstGeom prst="rect">
            <a:avLst/>
          </a:prstGeom>
          <a:solidFill>
            <a:srgbClr val="1A1F36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4008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умов разом: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42062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обидві мають бути True    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хоча б одна True    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інвертує результат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Перша умова: if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перевіряє умову і виконує блок коду, якщо вона True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6400800" cy="19659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6362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6362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6362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("Скільки вам років? "))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&gt;=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("Ви повнолітній")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("Доступ дозволено")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1444752"/>
            <a:ext cx="1645920" cy="1965960"/>
          </a:xfrm>
          <a:prstGeom prst="rect">
            <a:avLst/>
          </a:prstGeom>
          <a:solidFill>
            <a:srgbClr val="1A1F36"/>
          </a:solidFill>
          <a:ln/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7040880" y="1664208"/>
            <a:ext cx="54864" cy="29260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7178040" y="16642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2267712"/>
            <a:ext cx="54864" cy="292608"/>
          </a:xfrm>
          <a:prstGeom prst="rect">
            <a:avLst/>
          </a:prstGeom>
          <a:solidFill>
            <a:srgbClr val="A9D4FF"/>
          </a:solidFill>
          <a:ln w="12700">
            <a:solidFill>
              <a:srgbClr val="A9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2788920"/>
            <a:ext cx="54864" cy="29260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717804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двокрапка!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3611880"/>
            <a:ext cx="2560320" cy="822960"/>
          </a:xfrm>
          <a:prstGeom prst="diamond">
            <a:avLst/>
          </a:prstGeom>
          <a:solidFill>
            <a:srgbClr val="000000"/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1371600" y="3611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&gt;= 18 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69080" y="36118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3794760"/>
            <a:ext cx="29260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75488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print("Ви повнолітній")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498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→ нічого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Відступи: блоки коду в Python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Важливо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визначає блок коду за відступами — це не стиль, це синтаксис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77640" cy="34747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Правильно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3977640" cy="16916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530352" y="19293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731520" y="19293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932688" y="19293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2920" y="2130552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&gt;=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("Відмінно")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всередині if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("Вітаю!")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теж всередині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("Кінець")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поза if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417320"/>
            <a:ext cx="3977640" cy="3474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92040" y="14173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Помилка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1810512"/>
            <a:ext cx="3977640" cy="117043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965192" y="19293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166360" y="19293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5367528" y="19293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937760" y="2130552"/>
            <a:ext cx="3703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&gt;=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("Відмінно")</a:t>
            </a: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без відступу!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8412480" cy="39319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219456" cy="219456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822960" y="3657600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пробіли (або Tab) — стандарт Python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841248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502920" y="4206240"/>
            <a:ext cx="219456" cy="219456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822960" y="4114800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рядки блоку мають однаковий відступ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8412480" cy="39319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502920" y="4663440"/>
            <a:ext cx="219456" cy="219456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822960" y="4572000"/>
            <a:ext cx="7772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Змішувати пробіли і Tab — заборонено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else: що робити, якщо умова не виконалась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виконується, коли умова False — альтернативний шлях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8229600" cy="224028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6362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6362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6362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("Ваш вік: "))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&gt;=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("Повнолітній — доступ дозволено")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("Неповнолітній — доступ закрито")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74720" y="3840480"/>
            <a:ext cx="2194560" cy="749808"/>
          </a:xfrm>
          <a:prstGeom prst="diamond">
            <a:avLst/>
          </a:prstGeom>
          <a:solidFill>
            <a:srgbClr val="000000"/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474720" y="384048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&gt;= 18?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95928"/>
            <a:ext cx="283464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57200" y="399592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Дозволено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0360" y="399592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3995928"/>
            <a:ext cx="283464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852160" y="399592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Закрито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399592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elif: кілька варіантів вибору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— скорочення від "else if". Перевіряється лише якщо попередня умова False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5303520" cy="3236976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6362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6362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6362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5029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("Ваш бал: "))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&gt;=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("Відмінно")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&gt;=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("Добре")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&gt;=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("Задовільно")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("Незадовільно")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1444752"/>
            <a:ext cx="27432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989320" y="1444752"/>
            <a:ext cx="64008" cy="71323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144768" y="1444752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90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1444752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Відмінно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89320" y="2286000"/>
            <a:ext cx="27432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989320" y="2286000"/>
            <a:ext cx="64008" cy="71323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144768" y="228600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75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95160" y="228600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Добре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89320" y="3127248"/>
            <a:ext cx="27432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5989320" y="3127248"/>
            <a:ext cx="64008" cy="713232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6144768" y="312724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60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3127248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Задовільно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89320" y="3968496"/>
            <a:ext cx="27432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5989320" y="3968496"/>
            <a:ext cx="64008" cy="71323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144768" y="396849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60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95160" y="396849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Незадовільно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47457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перевіряє умови зверху вниз і зупиняється на першій True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⌨️  Практика 1: оцінка балів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Напишіть програму, яка: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0" cy="548640"/>
          </a:xfrm>
          <a:prstGeom prst="rect">
            <a:avLst/>
          </a:prstGeom>
          <a:solidFill>
            <a:srgbClr val="1A2640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Запитує бал студента (число від 0 до 100)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572000" cy="548640"/>
          </a:xfrm>
          <a:prstGeom prst="rect">
            <a:avLst/>
          </a:prstGeom>
          <a:solidFill>
            <a:srgbClr val="1A2640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594360" y="2121408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011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Виводить оцінку: Відмінно / Добре / Задовільно / Незадовільно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4572000" cy="548640"/>
          </a:xfrm>
          <a:prstGeom prst="rect">
            <a:avLst/>
          </a:prstGeom>
          <a:solidFill>
            <a:srgbClr val="1A2640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594360" y="2761488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9436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651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Додатково: виводить, чи студент склав (&gt;= 60)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12080" y="1371600"/>
            <a:ext cx="3566160" cy="25146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376672" y="149047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5577840" y="149047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5779008" y="149047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349240" y="16916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Ваш бал: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Оцінка: 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"Добре"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Статус: </a:t>
            </a:r>
            <a:r>
              <a:rPr lang="en-US" sz="13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Склав ✓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Ваш бал: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Оцінка: 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"Незадовільно"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Статус: </a:t>
            </a: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 склав ✗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⌨️  Практика 2: порадник за температурою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Запитати температуру і порадити, що одягнути: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594360"/>
          </a:xfrm>
          <a:prstGeom prst="rect">
            <a:avLst/>
          </a:prstGeom>
          <a:solidFill>
            <a:srgbClr val="7AB8FF"/>
          </a:solidFill>
          <a:ln w="12700">
            <a:solidFill>
              <a:srgbClr val="7AB8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2700">
            <a:solidFill>
              <a:srgbClr val="7AB8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0°C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55648" y="13716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🧊  Дуже холодно — шуба, шапка, рукавиці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594360"/>
          </a:xfrm>
          <a:prstGeom prst="rect">
            <a:avLst/>
          </a:prstGeom>
          <a:solidFill>
            <a:srgbClr val="1E2B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54864" cy="59436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94360" y="214884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4360" y="21488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0–10°C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55648" y="20574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🧥  Холодно — зимова куртка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54864" cy="59436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94360" y="283464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10–20°C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55648" y="27432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🧣  Прохолодно — светр або куртка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solidFill>
            <a:srgbClr val="1E2B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54864" cy="59436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594360" y="352044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94360" y="3520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20–30°C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55648" y="34290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👕  Тепло — легкий одяг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54864" cy="594360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594360" y="420624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000000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594360" y="42062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30°C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755648" y="41148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Спекотно — шорти, захист від сонця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Підказка: float(input(...)) для дробових температур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Типові помилки з умовами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329184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замість ==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0" y="10058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призначає, == порівнює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80467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30352" y="149047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731520" y="149047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932688" y="149047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</a:t>
            </a: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SyntaxError!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069080" cy="80467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4873752" y="149047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5074920" y="149047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276088" y="149047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46320" y="1691640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</a:t>
            </a:r>
            <a:r>
              <a:rPr lang="en-US" sz="13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перевірка рівності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1371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27448" y="1371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2304288"/>
            <a:ext cx="8412480" cy="329184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02920" y="23042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Неправильний відступ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23042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пробіли — обов'язково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670048"/>
            <a:ext cx="4069080" cy="80467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530352" y="27889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731520" y="27889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932688" y="27889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02920" y="2990088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&gt;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("ok")</a:t>
            </a: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IndentationError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2670048"/>
            <a:ext cx="4069080" cy="80467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873752" y="27889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5074920" y="27889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5276088" y="27889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46320" y="2990088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&gt;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("ok")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" y="26700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27448" y="26700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5760" y="3602736"/>
            <a:ext cx="8412480" cy="329184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502920" y="36027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 замість числа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0" y="36027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→ str, потрібен int()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968496"/>
            <a:ext cx="4069080" cy="80467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Shape 35"/>
          <p:cNvSpPr/>
          <p:nvPr/>
        </p:nvSpPr>
        <p:spPr>
          <a:xfrm>
            <a:off x="530352" y="408736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Shape 36"/>
          <p:cNvSpPr/>
          <p:nvPr/>
        </p:nvSpPr>
        <p:spPr>
          <a:xfrm>
            <a:off x="731520" y="408736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Shape 37"/>
          <p:cNvSpPr/>
          <p:nvPr/>
        </p:nvSpPr>
        <p:spPr>
          <a:xfrm>
            <a:off x="932688" y="408736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38"/>
          <p:cNvSpPr/>
          <p:nvPr/>
        </p:nvSpPr>
        <p:spPr>
          <a:xfrm>
            <a:off x="502920" y="4288536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("Вік: 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&gt;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TypeError!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09160" y="3968496"/>
            <a:ext cx="4069080" cy="80467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2" name="Shape 40"/>
          <p:cNvSpPr/>
          <p:nvPr/>
        </p:nvSpPr>
        <p:spPr>
          <a:xfrm>
            <a:off x="4873752" y="408736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Shape 41"/>
          <p:cNvSpPr/>
          <p:nvPr/>
        </p:nvSpPr>
        <p:spPr>
          <a:xfrm>
            <a:off x="5074920" y="408736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4" name="Shape 42"/>
          <p:cNvSpPr/>
          <p:nvPr/>
        </p:nvSpPr>
        <p:spPr>
          <a:xfrm>
            <a:off x="5276088" y="408736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Text 43"/>
          <p:cNvSpPr/>
          <p:nvPr/>
        </p:nvSpPr>
        <p:spPr>
          <a:xfrm>
            <a:off x="4846320" y="4288536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("Вік: "))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&gt;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84048" y="39684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27448" y="39684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Як думати про умови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4864" cy="4572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658368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Порівняння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9601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&lt; &gt;= &lt;= == != — повертають True або False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54864" cy="4572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58368" y="1481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148132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виконує блок якщо умова True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02536"/>
            <a:ext cx="8229600" cy="45720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57200" y="2002536"/>
            <a:ext cx="54864" cy="4572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58368" y="20025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200253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альтернативний блок коли умова False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523744"/>
            <a:ext cx="8229600" cy="45720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57200" y="2523744"/>
            <a:ext cx="54864" cy="4572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58368" y="25237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252374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додаткові умови між if і else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044952"/>
            <a:ext cx="8229600" cy="45720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457200" y="3044952"/>
            <a:ext cx="54864" cy="4572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58368" y="30449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Відступи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0" y="304495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пробіли — обов'язково, це не стиль а синтаксис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54864" cy="4572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58368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vs =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35661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перевіряє, = присвоює — не плутати!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087368"/>
            <a:ext cx="8229600" cy="45720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457200" y="4087368"/>
            <a:ext cx="54864" cy="4572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58368" y="4087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int(input())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40873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завжди перетворюй рядок перед числовим порівнянням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000" dirty="0">
                <a:solidFill>
                  <a:srgbClr val="5B8FF9"/>
                </a:solidFill>
                <a:latin typeface="Calibri" pitchFamily="34" charset="0"/>
                <a:cs typeface="Calibri" pitchFamily="34" charset="-120"/>
              </a:rPr>
              <a:t>Логічні оператори та складні умови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1014</Words>
  <Application>Microsoft Macintosh PowerPoint</Application>
  <PresentationFormat>On-screen Show (16:9)</PresentationFormat>
  <Paragraphs>248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Web — Заняття 3</dc:title>
  <dc:subject>PptxGenJS Presentation</dc:subject>
  <dc:creator>PptxGenJS</dc:creator>
  <cp:lastModifiedBy>Штефан Дмитро</cp:lastModifiedBy>
  <cp:revision>4</cp:revision>
  <dcterms:created xsi:type="dcterms:W3CDTF">2026-05-16T15:56:11Z</dcterms:created>
  <dcterms:modified xsi:type="dcterms:W3CDTF">2026-05-17T21:03:10Z</dcterms:modified>
</cp:coreProperties>
</file>