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A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097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141A47">
              <a:alpha val="40392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301261" y="4448556"/>
            <a:ext cx="3108960" cy="3108960"/>
          </a:xfrm>
          <a:prstGeom prst="ellipse">
            <a:avLst/>
          </a:prstGeom>
          <a:solidFill>
            <a:srgbClr val="141A47">
              <a:alpha val="45882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/home/claude/oop2_deck/icons/sitem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854964"/>
            <a:ext cx="1124712" cy="1124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ООП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Наслідування, інкапсуляція,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поліморфізм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4251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стовпи об'єктно-орієнтованого програмування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3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</a:t>
            </a:r>
            <a:r>
              <a:rPr lang="uk-UA" sz="13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3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Цілі заняття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93166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45820" y="2278966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oop2_deck/icons/sitem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72" y="2348918"/>
            <a:ext cx="637337" cy="6373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4919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Наслідування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416126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клас-нащадок переймає і розширює батьківський клас через super().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593166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423660" y="2278966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oop2_deck/icons/lo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12" y="2348918"/>
            <a:ext cx="637337" cy="6373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4919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Інкапсуляція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416126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ховати частину даних об'єкта від прямого доступу ззовні.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16326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845820" y="4702126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oop2_deck/icons/mask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72" y="4772078"/>
            <a:ext cx="637337" cy="6373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27235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Поліморфізм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839286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один і той самий виклик методу поводиться по-різному залежно від об'єкта.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16326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6423660" y="4702126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/home/claude/oop2_deck/icons/cog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612" y="4772078"/>
            <a:ext cx="637337" cy="6373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7235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839286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Зберемо всі три ідеї в одному невеликому прикладі коду.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Наслідування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Дочірній клас автоматично отримує все, що вміє батьківський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17320" y="192024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141732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2651760"/>
            <a:ext cx="0" cy="320040"/>
          </a:xfrm>
          <a:prstGeom prst="line">
            <a:avLst/>
          </a:prstGeom>
          <a:noFill/>
          <a:ln w="19050">
            <a:solidFill>
              <a:srgbClr val="6B78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874520" y="2971800"/>
            <a:ext cx="2377440" cy="0"/>
          </a:xfrm>
          <a:prstGeom prst="line">
            <a:avLst/>
          </a:prstGeom>
          <a:noFill/>
          <a:ln w="19050">
            <a:solidFill>
              <a:srgbClr val="6B78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874520" y="2971800"/>
            <a:ext cx="0" cy="320040"/>
          </a:xfrm>
          <a:prstGeom prst="line">
            <a:avLst/>
          </a:prstGeom>
          <a:noFill/>
          <a:ln w="19050">
            <a:solidFill>
              <a:srgbClr val="6B78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251960" y="2971800"/>
            <a:ext cx="0" cy="320040"/>
          </a:xfrm>
          <a:prstGeom prst="line">
            <a:avLst/>
          </a:prstGeom>
          <a:noFill/>
          <a:ln w="19050">
            <a:solidFill>
              <a:srgbClr val="6B78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143000" y="329184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143000" y="3291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329184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— батьківський (базовий) клас. Teacher і Student — дочірні класи (нащадки): обидва успадковують поле name.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9202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428232" y="2103120"/>
            <a:ext cx="48828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Teacher(Person):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 # нащадок, поки нічого не додає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2519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428232" y="443484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Teacher("</a:t>
            </a:r>
            <a:r>
              <a:rPr lang="uk-UA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Ольга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print(t.name)   # Ірина — узято з Person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Наслідування — розширюємо клас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Нащадок може додавати власні поля й перевикористовувати логіку батька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217920" cy="4160520"/>
          </a:xfrm>
          <a:prstGeom prst="roundRect">
            <a:avLst>
              <a:gd name="adj" fmla="val 2198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570585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Teacher(Person):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subject):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super().__init__(name)   # виклик Person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self.subject = subject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>
              <a:lnSpc>
                <a:spcPct val="115000"/>
              </a:lnSpc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 = Teacher("</a:t>
            </a:r>
            <a:r>
              <a:rPr lang="uk-UA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Ольга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Петрівна", "Python")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print(teacher.name)      # успадковано від Person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print(teacher.subject)   # власне поле Teacher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0" y="1965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oop2_deck/icons/arrowRigh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927" y="2023567"/>
            <a:ext cx="524866" cy="5248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Teacher(Person) означає: Teacher бере за основу все, що вміє Person.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132320" y="2971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oop2_deck/icons/cog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927" y="3029407"/>
            <a:ext cx="524866" cy="5248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super().__init__(name) викликає конструктор Person і встановлює self.name.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7132320" y="3977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/home/claude/oop2_deck/icons/check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927" y="4035247"/>
            <a:ext cx="524866" cy="5248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self.subject — нове поле, якого в Person немає взагалі.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super() — місток до батьківського класу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Дозволяє викликати методи Person з середини Teacher, не дублюючи код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217920" cy="1737360"/>
          </a:xfrm>
          <a:prstGeom prst="roundRect">
            <a:avLst>
              <a:gd name="adj" fmla="val 5263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5705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Teacher(Person):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subject):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self.subject = subject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6217920" cy="2331720"/>
          </a:xfrm>
          <a:prstGeom prst="roundRect">
            <a:avLst>
              <a:gd name="adj" fmla="val 47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0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super().__init__(name)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self.name у Teacher взагалі не буде встановлено — довелось би дублювати "self.name = name" ще раз.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1965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oop2_deck/icons/sitem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927" y="2023567"/>
            <a:ext cx="524866" cy="5248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дає доступ саме до батьківського класу — того, що вказаний у дужках Teacher(Person).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32320" y="2971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oop2_deck/icons/boxOpe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927" y="3029407"/>
            <a:ext cx="524866" cy="5248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ініціалізації Person лишається в одному місці — легше підтримувати код.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132320" y="3977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/home/claude/oop2_deck/icons/check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927" y="4035247"/>
            <a:ext cx="524866" cy="5248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5528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super().__init__(name) можна додавати власні поля нащадка, як self.subject.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Інкапсуляція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 ховає частину своїх даних і показує лише потрібний "інтерфейс"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0" y="205740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/home/claude/oop2_deck/icons/lock_white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2683764" y="2180844"/>
            <a:ext cx="1124712" cy="1124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Капсула ліків: ви бачите оболонку,</a:t>
            </a:r>
            <a:endParaRPr lang="en-US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сам порошок усередині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355080" y="18288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658368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self.name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8972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23591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відкрите поле — доступне звідусіль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5080" y="315468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6583680" y="3264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self._name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89720" y="3264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36850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домовленість "не чіпай ззовні без потреби"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355080" y="44805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6583680" y="4590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self.__name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89720" y="4590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50109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"ускладнює" прямий доступ (name mangling)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Інкапсуляція — навіщо ховати дані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Контрольований доступ через методи захищає об'єкт від некоректного стану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217920" cy="4206240"/>
          </a:xfrm>
          <a:prstGeom prst="roundRect">
            <a:avLst>
              <a:gd name="adj" fmla="val 2174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57058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owner, balance):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self.owner = owner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self.__balance = balance   # приховане поле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get_balance(self):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self.__balance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deposit(self, amount):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amount &gt; 0:               # перевірка!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self.__balance += amount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1965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oop2_deck/icons/unlockA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927" y="2023567"/>
            <a:ext cx="524866" cy="5248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account.get_balance() — безпечний, контрольований спосіб дізнатись баланс.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0" y="2971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oop2_deck/icons/shieldAl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927" y="3029407"/>
            <a:ext cx="524866" cy="5248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deposit() перевіряє amount &gt; 0 — не дає зіпсувати баланс некоректним значенням.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132320" y="3977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/home/claude/oop2_deck/icons/check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927" y="4035247"/>
            <a:ext cx="524866" cy="5248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__balance будь-хто міг би написати account.balance = -500 напряму.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Поліморфізм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і той самий виклик методу — різна поведінка залежно від об'єкта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49743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speak(self):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"Гав!"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Cat: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speak(self):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"Няв!"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animal in [Dog(), Cat()]: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print(animal.speak())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Гав!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Няв!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0757" y="2377440"/>
            <a:ext cx="1463040" cy="1463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oop2_deck/icons/masks_white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082431" y="2509114"/>
            <a:ext cx="1199693" cy="11996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4023360"/>
            <a:ext cx="43800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"Багато форм" — той самий виклик .speak(),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результат залежить від того, хто саме відповідає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39929" y="5212080"/>
            <a:ext cx="41585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навіть не питає, Dog це чи Cat — просто викликає .speak() на кожному об'єкті.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Поліморфізм через перевизначення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Нащадок може замінити метод батька власною версією — це override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675120" cy="4206240"/>
          </a:xfrm>
          <a:prstGeom prst="roundRect">
            <a:avLst>
              <a:gd name="adj" fmla="val 2174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61630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describe(self):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f"Я {self.name}"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Teacher(Person):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describe(self):        # перевизначення!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f"Я вчитель {self.name} ({self.subject})"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 = [Person("Іван"), Teacher("Ірина", "Python")]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people: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print(p.describe())    # у кожного своя відповідь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965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oop2_deck/icons/arrowRigh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967" y="2023567"/>
            <a:ext cx="524866" cy="5248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75320" y="19202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p.describe() виглядає однаково для всіх, але Python бере метод саме того класу, яким є об'єкт.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52360" y="2971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oop2_deck/icons/sitema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967" y="3029407"/>
            <a:ext cx="524866" cy="5248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5320" y="29260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Teacher описаний власний describe() — він "перекриває" версію з Person.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452360" y="3977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/home/claude/oop2_deck/icons/check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967" y="4035247"/>
            <a:ext cx="524866" cy="5248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5320" y="39319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і є поліморфізм: однаковий виклик → різний результат залежно від типу об'єкта.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Наслідування + інкапсуляція + поліморфізм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309360" cy="3520440"/>
          </a:xfrm>
          <a:prstGeom prst="roundRect">
            <a:avLst>
              <a:gd name="adj" fmla="val 2597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1965960"/>
            <a:ext cx="579729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describe(self):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f"Я {self.name}"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Student(Person):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grade):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super().__init__(name)      </a:t>
            </a:r>
            <a:r>
              <a:rPr lang="uk-UA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наслідування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self.__grade = grade          # інкапсуляція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describe(self):               # поліморфізм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f"Я студент {self.name}, оцінка {self.__grade}"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360920" y="1965960"/>
            <a:ext cx="3977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super().__init__(name) — Student переймає ім'я в Person, не дублюючи код.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self.__grade — оцінка прихована від прямого доступу ззовні (інкапсуляція).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describe() у Student перекриває версію з Person (поліморфізм).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s.describe() поверне текст саме версії Student, з оцінкою.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44068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896112" y="5623560"/>
            <a:ext cx="9912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Student("Оксана", 92)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print(s.describe())   # Я студент Оксана, оцінка 92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141A47">
              <a:alpha val="41569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Підсумки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стовпи ООП, які варто запам'ятати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440180" y="22860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oop2_deck/icons/sitem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2368296"/>
            <a:ext cx="749808" cy="749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Наслідування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клас-нащадок Teacher(Person) переймає та розширює батьківський клас.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9659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4210812" y="22860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oop2_deck/icons/boxOpe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2368296"/>
            <a:ext cx="749808" cy="7498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super()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93592" y="37490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 методів батьківського класу без дублювання коду.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1344" y="19659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6981444" y="22860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oop2_deck/icons/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740" y="2368296"/>
            <a:ext cx="749808" cy="7498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18504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Інкапсуляція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64224" y="37490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self.__balance ховає дані, доступ — лише через методи.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51976" y="19659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9752076" y="22860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3" descr="/home/claude/oop2_deck/icons/mask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4372" y="2368296"/>
            <a:ext cx="749808" cy="7498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89136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Поліморфізм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34856" y="37490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виклик .describe() — різна поведінка в різних класах.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Питання: що робить super()? Чому self.__balance складніше змінити напряму? Що таке перевизначення методу?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1141</Words>
  <Application>Microsoft Macintosh PowerPoint</Application>
  <PresentationFormat>Widescreen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4</cp:revision>
  <dcterms:created xsi:type="dcterms:W3CDTF">2026-07-19T19:25:30Z</dcterms:created>
  <dcterms:modified xsi:type="dcterms:W3CDTF">2026-07-20T05:39:51Z</dcterms:modified>
</cp:coreProperties>
</file>