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1A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6097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188720"/>
            <a:ext cx="3840480" cy="3840480"/>
          </a:xfrm>
          <a:prstGeom prst="ellipse">
            <a:avLst/>
          </a:prstGeom>
          <a:solidFill>
            <a:srgbClr val="141A47">
              <a:alpha val="40392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-1301261" y="4448556"/>
            <a:ext cx="3108960" cy="3108960"/>
          </a:xfrm>
          <a:prstGeom prst="ellipse">
            <a:avLst/>
          </a:prstGeom>
          <a:solidFill>
            <a:srgbClr val="141A47">
              <a:alpha val="45882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731520" y="731520"/>
            <a:ext cx="1371600" cy="13716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5" name="Image 0" descr="/home/claude/oop2_deck/icons/sitemap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" y="854964"/>
            <a:ext cx="1124712" cy="11247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488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400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22960" y="265176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Наслідування, інкапсуляція,</a:t>
            </a:r>
            <a:endParaRPr lang="en-US" sz="3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поліморфізм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822960" y="42519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стовпи об'єктно-орієнтованого програмування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2296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300" dirty="0">
                <a:solidFill>
                  <a:srgbClr val="6B7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Створення </a:t>
            </a:r>
            <a:r>
              <a:rPr lang="en-US" sz="1300" dirty="0">
                <a:solidFill>
                  <a:srgbClr val="6B7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</a:t>
            </a:r>
            <a:r>
              <a:rPr lang="uk-UA" sz="1300" dirty="0">
                <a:solidFill>
                  <a:srgbClr val="6B7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додатків з використанням </a:t>
            </a:r>
            <a:r>
              <a:rPr lang="en-US" sz="1300" dirty="0">
                <a:solidFill>
                  <a:srgbClr val="6B7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Цілі заняття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93166"/>
            <a:ext cx="5257800" cy="2148840"/>
          </a:xfrm>
          <a:prstGeom prst="roundRect">
            <a:avLst>
              <a:gd name="adj" fmla="val 5106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845820" y="2278966"/>
            <a:ext cx="777240" cy="7772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6" name="Image 0" descr="/home/claude/oop2_deck/icons/sitemap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772" y="2348918"/>
            <a:ext cx="637337" cy="63733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49198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Наслідування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83080" y="2416126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клас-нащадок переймає і розширює батьківський клас через super().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593166"/>
            <a:ext cx="5257800" cy="2148840"/>
          </a:xfrm>
          <a:prstGeom prst="roundRect">
            <a:avLst>
              <a:gd name="adj" fmla="val 5106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0" name="Shape 7"/>
          <p:cNvSpPr/>
          <p:nvPr/>
        </p:nvSpPr>
        <p:spPr>
          <a:xfrm>
            <a:off x="6423660" y="2278966"/>
            <a:ext cx="777240" cy="7772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1" name="Image 1" descr="/home/claude/oop2_deck/icons/lock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3612" y="2348918"/>
            <a:ext cx="637337" cy="63733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60920" y="1849198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Інкапсуляція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360920" y="2416126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Навіщо ховати частину даних об'єкта від прямого доступу ззовні.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4016326"/>
            <a:ext cx="5257800" cy="2148840"/>
          </a:xfrm>
          <a:prstGeom prst="roundRect">
            <a:avLst>
              <a:gd name="adj" fmla="val 5106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5" name="Shape 11"/>
          <p:cNvSpPr/>
          <p:nvPr/>
        </p:nvSpPr>
        <p:spPr>
          <a:xfrm>
            <a:off x="845820" y="4702126"/>
            <a:ext cx="777240" cy="7772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6" name="Image 2" descr="/home/claude/oop2_deck/icons/masks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772" y="4772078"/>
            <a:ext cx="637337" cy="63733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4272358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Поліморфізм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783080" y="4839286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один і той самий виклик методу поводиться по-різному залежно від об'єкта.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17920" y="4016326"/>
            <a:ext cx="5257800" cy="2148840"/>
          </a:xfrm>
          <a:prstGeom prst="roundRect">
            <a:avLst>
              <a:gd name="adj" fmla="val 5106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0" name="Shape 15"/>
          <p:cNvSpPr/>
          <p:nvPr/>
        </p:nvSpPr>
        <p:spPr>
          <a:xfrm>
            <a:off x="6423660" y="4702126"/>
            <a:ext cx="777240" cy="7772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1" name="Image 3" descr="/home/claude/oop2_deck/icons/cog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3612" y="4772078"/>
            <a:ext cx="637337" cy="63733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60920" y="4272358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Практика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360920" y="4839286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Зберемо всі три ідеї в одному невеликому прикладі коду.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32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Наслідування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C4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Дочірній клас автоматично отримує все, що вміє батьківський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417320" y="1920240"/>
            <a:ext cx="3291840" cy="73152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1417320" y="19202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Person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63240" y="2651760"/>
            <a:ext cx="0" cy="320040"/>
          </a:xfrm>
          <a:prstGeom prst="line">
            <a:avLst/>
          </a:prstGeom>
          <a:noFill/>
          <a:ln w="19050">
            <a:solidFill>
              <a:srgbClr val="6B78A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1874520" y="2971800"/>
            <a:ext cx="2377440" cy="0"/>
          </a:xfrm>
          <a:prstGeom prst="line">
            <a:avLst/>
          </a:prstGeom>
          <a:noFill/>
          <a:ln w="19050">
            <a:solidFill>
              <a:srgbClr val="6B78A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1874520" y="2971800"/>
            <a:ext cx="0" cy="320040"/>
          </a:xfrm>
          <a:prstGeom prst="line">
            <a:avLst/>
          </a:prstGeom>
          <a:noFill/>
          <a:ln w="19050">
            <a:solidFill>
              <a:srgbClr val="6B78A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4251960" y="2971800"/>
            <a:ext cx="0" cy="320040"/>
          </a:xfrm>
          <a:prstGeom prst="line">
            <a:avLst/>
          </a:prstGeom>
          <a:noFill/>
          <a:ln w="19050">
            <a:solidFill>
              <a:srgbClr val="6B78A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1143000" y="3291840"/>
            <a:ext cx="1463040" cy="731520"/>
          </a:xfrm>
          <a:prstGeom prst="roundRect">
            <a:avLst>
              <a:gd name="adj" fmla="val 12500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1143000" y="32918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Teacher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520440" y="3291840"/>
            <a:ext cx="1463040" cy="731520"/>
          </a:xfrm>
          <a:prstGeom prst="roundRect">
            <a:avLst>
              <a:gd name="adj" fmla="val 12500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3520440" y="32918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343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3C4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— батьківський (базовий) клас. Teacher і Student — дочірні класи (нащадки): обидва успадковують поле name.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1920240"/>
            <a:ext cx="5394960" cy="2148840"/>
          </a:xfrm>
          <a:prstGeom prst="roundRect">
            <a:avLst>
              <a:gd name="adj" fmla="val 4255"/>
            </a:avLst>
          </a:prstGeom>
          <a:solidFill>
            <a:srgbClr val="10163A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6428232" y="2103120"/>
            <a:ext cx="4882896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Person: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name):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self.name = name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Teacher(Person):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pass   # нащадок, поки нічого не додає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172200" y="425196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10163A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6428232" y="4434840"/>
            <a:ext cx="48828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Teacher("Ірина")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print(t.name)   # Ірина — узято з Person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Наслідування — розширюємо клас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C4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Нащадок може додавати власні поля й перевикористовувати логіку батька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6217920" cy="4160520"/>
          </a:xfrm>
          <a:prstGeom prst="roundRect">
            <a:avLst>
              <a:gd name="adj" fmla="val 2198"/>
            </a:avLst>
          </a:prstGeom>
          <a:solidFill>
            <a:srgbClr val="10163A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896112" y="2011680"/>
            <a:ext cx="5705856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Person: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name):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self.name = name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Teacher(Person):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name, subject):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super().__init__(name)   # виклик Person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self.subject = subject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teacher = Teacher("Ірина Петрівна", "Python")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print(teacher.name)      # успадковано від Person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print(teacher.subject)   # власне поле Teacher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132320" y="196596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7" name="Image 0" descr="/home/claude/oop2_deck/icons/arrowRigh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9927" y="2023567"/>
            <a:ext cx="524866" cy="52486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955280" y="19202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Teacher(Person) означає: Teacher бере за основу все, що вміє Person.</a:t>
            </a:r>
            <a:endParaRPr lang="en-US" sz="1250" dirty="0">
              <a:solidFill>
                <a:srgbClr val="002060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132320" y="297180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0" name="Image 1" descr="/home/claude/oop2_deck/icons/cog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9927" y="3029407"/>
            <a:ext cx="524866" cy="52486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955280" y="2926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super().__init__(name) викликає конструктор Person і встановлює self.name.</a:t>
            </a:r>
            <a:endParaRPr lang="en-US" sz="1250" dirty="0">
              <a:solidFill>
                <a:srgbClr val="002060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7132320" y="397764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3" name="Image 2" descr="/home/claude/oop2_deck/icons/checkCircle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9927" y="4035247"/>
            <a:ext cx="524866" cy="52486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955280" y="39319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self.subject — нове поле, якого в Person немає взагалі.</a:t>
            </a:r>
            <a:endParaRPr lang="en-US" sz="1250" dirty="0">
              <a:solidFill>
                <a:srgbClr val="002060"/>
              </a:solidFill>
            </a:endParaRPr>
          </a:p>
        </p:txBody>
      </p:sp>
      <p:sp>
        <p:nvSpPr>
          <p:cNvPr id="15" name="Text 10"/>
          <p:cNvSpPr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super() — місток до батьківського класу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Дозволяє викликати методи Person з середини Teacher, не дублюючи код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6217920" cy="1737360"/>
          </a:xfrm>
          <a:prstGeom prst="roundRect">
            <a:avLst>
              <a:gd name="adj" fmla="val 5263"/>
            </a:avLst>
          </a:prstGeom>
          <a:solidFill>
            <a:srgbClr val="10163A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896112" y="2103120"/>
            <a:ext cx="57058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Teacher(Person):</a:t>
            </a:r>
            <a:endParaRPr lang="en-US" sz="14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name, subject):</a:t>
            </a:r>
            <a:endParaRPr lang="en-US" sz="14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super().__init__(name)</a:t>
            </a:r>
            <a:endParaRPr lang="en-US" sz="14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self.subject = subject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3886200"/>
            <a:ext cx="6217920" cy="2331720"/>
          </a:xfrm>
          <a:prstGeom prst="roundRect">
            <a:avLst>
              <a:gd name="adj" fmla="val 4706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868680" y="4069080"/>
            <a:ext cx="5760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0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super().__init__(name)
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self.name у Teacher взагалі не буде встановлено — довелось би дублювати "self.name = name" ще раз.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132320" y="196596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9" name="Image 0" descr="/home/claude/oop2_deck/icons/sitemap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9927" y="2023567"/>
            <a:ext cx="524866" cy="52486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955280" y="19202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super() дає доступ саме до батьківського класу — того, що вказаний у дужках Teacher(Person).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132320" y="297180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2" name="Image 1" descr="/home/claude/oop2_deck/icons/boxOpen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9927" y="3029407"/>
            <a:ext cx="524866" cy="52486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955280" y="2926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Логіка ініціалізації Person лишається в одному місці — легше підтримувати код.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132320" y="397764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5" name="Image 2" descr="/home/claude/oop2_deck/icons/checkCircle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9927" y="4035247"/>
            <a:ext cx="524866" cy="52486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955280" y="39319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super().__init__(name) можна додавати власні поля нащадка, як self.subject.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32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Інкапсуляція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C4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 ховає частину своїх даних і показує лише потрібний "інтерфейс"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560320" y="2057400"/>
            <a:ext cx="1371600" cy="13716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5" name="Image 0" descr="/home/claude/oop2_deck/icons/lock_white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2683764" y="2180844"/>
            <a:ext cx="1124712" cy="11247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5661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6B7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Капсула ліків: ви бачите оболонку,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6B7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не сам порошок усередині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355080" y="1828800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8" name="Text 5"/>
          <p:cNvSpPr/>
          <p:nvPr/>
        </p:nvSpPr>
        <p:spPr>
          <a:xfrm>
            <a:off x="6583680" y="19385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self.name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89720" y="19385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B7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583680" y="2359152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відкрите поле — доступне звідусіль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355080" y="3154680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2" name="Text 9"/>
          <p:cNvSpPr/>
          <p:nvPr/>
        </p:nvSpPr>
        <p:spPr>
          <a:xfrm>
            <a:off x="6583680" y="32644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self._name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189720" y="32644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B7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583680" y="3685032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домовленість "не чіпай ззовні без потреби"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355080" y="4480560"/>
            <a:ext cx="5212080" cy="1143000"/>
          </a:xfrm>
          <a:prstGeom prst="roundRect">
            <a:avLst>
              <a:gd name="adj" fmla="val 8000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6" name="Text 13"/>
          <p:cNvSpPr/>
          <p:nvPr/>
        </p:nvSpPr>
        <p:spPr>
          <a:xfrm>
            <a:off x="658368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self.__name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89720" y="45902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B7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583680" y="5010912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"ускладнює" прямий доступ (name mangling)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Інкапсуляція — навіщо ховати дані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Контрольований доступ через методи захищає об'єкт від некоректного стану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6217920" cy="4206240"/>
          </a:xfrm>
          <a:prstGeom prst="roundRect">
            <a:avLst>
              <a:gd name="adj" fmla="val 2174"/>
            </a:avLst>
          </a:prstGeom>
          <a:solidFill>
            <a:srgbClr val="10163A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896112" y="2103120"/>
            <a:ext cx="5705856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BankAccount: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owner, balance):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self.owner = owner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self.__balance = balance   # приховане поле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get_balance(self):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self.__balance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deposit(self, amount):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amount &gt; 0:               # перевірка!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self.__balance += amount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132320" y="196596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7" name="Image 0" descr="/home/claude/oop2_deck/icons/unlockAl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9927" y="2023567"/>
            <a:ext cx="524866" cy="52486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955280" y="19202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account.get_balance() — безпечний, контрольований спосіб дізнатись баланс.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132320" y="297180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0" name="Image 1" descr="/home/claude/oop2_deck/icons/shieldAlt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9927" y="3029407"/>
            <a:ext cx="524866" cy="52486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955280" y="2926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deposit() перевіряє amount &gt; 0 — не дає зіпсувати баланс некоректним значенням.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7132320" y="397764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3" name="Image 2" descr="/home/claude/oop2_deck/icons/checkCircle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9927" y="4035247"/>
            <a:ext cx="524866" cy="52486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955280" y="39319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__balance будь-хто міг би написати account.balance = -500 напряму.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32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Поліморфізм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C4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і той самий виклик методу — різна поведінка залежно від об'єкта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486400" cy="4206240"/>
          </a:xfrm>
          <a:prstGeom prst="roundRect">
            <a:avLst>
              <a:gd name="adj" fmla="val 2174"/>
            </a:avLst>
          </a:prstGeom>
          <a:solidFill>
            <a:srgbClr val="10163A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896112" y="2011680"/>
            <a:ext cx="4974336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Dog: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speak(self):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"Гав!"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Cat: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speak(self):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"Няв!"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animal in [Dog(), Cat()]: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print(animal.speak())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7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Гав!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7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Няв!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863840" y="2377440"/>
            <a:ext cx="1463040" cy="14630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7" name="Image 0" descr="/home/claude/oop2_deck/icons/masks_white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7995514" y="2509114"/>
            <a:ext cx="1199693" cy="119969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92240" y="40233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6B7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"Багато форм" — той самий виклик .speak(),</a:t>
            </a:r>
            <a:endParaRPr lang="en-US" sz="13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6B7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результат залежить від того, хто саме відповідає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92240" y="52120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3C4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навіть не питає, Dog це чи Cat — просто викликає .speak() на кожному об'єкті.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Поліморфізм через перевизначення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Нащадок може замінити метод батька власною версією — це override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6675120" cy="4206240"/>
          </a:xfrm>
          <a:prstGeom prst="roundRect">
            <a:avLst>
              <a:gd name="adj" fmla="val 2174"/>
            </a:avLst>
          </a:prstGeom>
          <a:solidFill>
            <a:srgbClr val="10163A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896112" y="2103120"/>
            <a:ext cx="6163056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Person: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describe(self):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f"Я {self.name}"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Teacher(Person):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describe(self):        # перевизначення!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f"Я вчитель {self.name} ({self.subject})"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 = [Person("Іван"), Teacher("Ірина", "Python")]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p in people: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print(p.describe())    # у кожного своя відповідь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452360" y="196596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7" name="Image 0" descr="/home/claude/oop2_deck/icons/arrowRight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9967" y="2023567"/>
            <a:ext cx="524866" cy="52486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75320" y="192024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p.describe() виглядає однаково для всіх, але Python бере метод саме того класу, яким є об'єкт.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452360" y="297180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0" name="Image 1" descr="/home/claude/oop2_deck/icons/sitemap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9967" y="3029407"/>
            <a:ext cx="524866" cy="52486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75320" y="292608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Teacher описаний власний describe() — він "перекриває" версію з Person.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7452360" y="397764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3" name="Image 2" descr="/home/claude/oop2_deck/icons/checkCircle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9967" y="4035247"/>
            <a:ext cx="524866" cy="52486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75320" y="393192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і є поліморфізм: однаковий виклик → різний результат залежно від типу об'єкта.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32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Практика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C4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Наслідування + інкапсуляція + поліморфізм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6309360" cy="3520440"/>
          </a:xfrm>
          <a:prstGeom prst="roundRect">
            <a:avLst>
              <a:gd name="adj" fmla="val 2597"/>
            </a:avLst>
          </a:prstGeom>
          <a:solidFill>
            <a:srgbClr val="10163A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896112" y="1965960"/>
            <a:ext cx="5797296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Person: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name):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self.name = name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describe(self):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f"Я {self.name}"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Student(Person):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name, grade):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super().__init__(name)      </a:t>
            </a:r>
            <a:r>
              <a:rPr lang="uk-UA" sz="12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2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наслідування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self.__grade = grade          # інкапсуляція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describe(self):               # поліморфізм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f"Я студент {self.name}, оцінка {self.__grade}"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0" y="1783080"/>
            <a:ext cx="4434840" cy="3520440"/>
          </a:xfrm>
          <a:prstGeom prst="roundRect">
            <a:avLst>
              <a:gd name="adj" fmla="val 3117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360920" y="1965960"/>
            <a:ext cx="39776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23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super().__init__(name) — Student переймає ім'я в Person, не дублюючи код.</a:t>
            </a:r>
            <a:endParaRPr lang="en-US" sz="1250" dirty="0"/>
          </a:p>
          <a:p>
            <a:pPr marL="0" indent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23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self.__grade — оцінка прихована від прямого доступу ззовні (інкапсуляція).</a:t>
            </a:r>
            <a:endParaRPr lang="en-US" sz="1250" dirty="0"/>
          </a:p>
          <a:p>
            <a:pPr marL="0" indent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23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describe() у Student перекриває версію з Person (поліморфізм).</a:t>
            </a:r>
            <a:endParaRPr lang="en-US" sz="1250" dirty="0"/>
          </a:p>
          <a:p>
            <a:pPr marL="0" indent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23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s.describe() поверне текст саме версії Student, з оцінкою.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544068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10163A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896112" y="5623560"/>
            <a:ext cx="9912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Student("Оксана", 92)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print(s.describe())   # Я студент Оксана, оцінка 92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280160"/>
            <a:ext cx="3840480" cy="3840480"/>
          </a:xfrm>
          <a:prstGeom prst="ellipse">
            <a:avLst/>
          </a:prstGeom>
          <a:solidFill>
            <a:srgbClr val="141A47">
              <a:alpha val="41569"/>
            </a:srgbClr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Підсумки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стовпи ООП, які варто запам'ятати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1440180" y="2286000"/>
            <a:ext cx="914400" cy="9144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7" name="Image 0" descr="/home/claude/oop2_deck/icons/sitemap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2476" y="2368296"/>
            <a:ext cx="749808" cy="7498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Наслідування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74904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клас-нащадок Teacher(Person) переймає та розширює батьківський клас.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10712" y="196596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1" name="Shape 8"/>
          <p:cNvSpPr/>
          <p:nvPr/>
        </p:nvSpPr>
        <p:spPr>
          <a:xfrm>
            <a:off x="4210812" y="2286000"/>
            <a:ext cx="914400" cy="9144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2" name="Image 1" descr="/home/claude/oop2_deck/icons/boxOpen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3108" y="2368296"/>
            <a:ext cx="749808" cy="7498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47872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super()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593592" y="374904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виклик методів батьківського класу без дублювання коду.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81344" y="196596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6" name="Shape 12"/>
          <p:cNvSpPr/>
          <p:nvPr/>
        </p:nvSpPr>
        <p:spPr>
          <a:xfrm>
            <a:off x="6981444" y="2286000"/>
            <a:ext cx="914400" cy="9144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7" name="Image 2" descr="/home/claude/oop2_deck/icons/lock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3740" y="2368296"/>
            <a:ext cx="749808" cy="7498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18504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Інкапсуляція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364224" y="374904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self.__balance ховає дані, доступ — лише через методи.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951976" y="1965960"/>
            <a:ext cx="2514600" cy="2834640"/>
          </a:xfrm>
          <a:prstGeom prst="roundRect">
            <a:avLst>
              <a:gd name="adj" fmla="val 4364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1" name="Shape 16"/>
          <p:cNvSpPr/>
          <p:nvPr/>
        </p:nvSpPr>
        <p:spPr>
          <a:xfrm>
            <a:off x="9752076" y="2286000"/>
            <a:ext cx="914400" cy="9144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2" name="Image 3" descr="/home/claude/oop2_deck/icons/mask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4372" y="2368296"/>
            <a:ext cx="749808" cy="7498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089136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Поліморфізм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134856" y="374904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виклик .describe() — різна поведінка в різних класах.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640080" y="52120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Питання: що робить super()? Чому self.__balance складніше змінити напряму? Що таке перевизначення методу?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1141</Words>
  <Application>Microsoft Macintosh PowerPoint</Application>
  <PresentationFormat>Widescreen</PresentationFormat>
  <Paragraphs>171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Штефан Дмитро</cp:lastModifiedBy>
  <cp:revision>3</cp:revision>
  <dcterms:created xsi:type="dcterms:W3CDTF">2026-07-19T19:25:30Z</dcterms:created>
  <dcterms:modified xsi:type="dcterms:W3CDTF">2026-07-19T19:41:39Z</dcterms:modified>
</cp:coreProperties>
</file>