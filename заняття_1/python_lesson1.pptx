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0" r:id="rId4"/>
    <p:sldId id="261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6" r:id="rId18"/>
    <p:sldId id="275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452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6035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web-додатків з використанням Python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Заняття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input, змінні та перший калькулятор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3200400" cy="36576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669280" y="1463040"/>
            <a:ext cx="3200400" cy="13716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80644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("Привіт, світ!")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Навіщо ми тут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48740"/>
            <a:ext cx="8229600" cy="79095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640080" y="146518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📌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417320" y="1385316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Навчитись давати комп'ютеру чіткі інструкції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853653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617220" y="24460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🛠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417320" y="237744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Автоматизувати повторювані задачі та розрахунки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57200" y="3299673"/>
            <a:ext cx="8229600" cy="7086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17220" y="3368253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417320" y="3299673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Створити </a:t>
            </a:r>
            <a:r>
              <a:rPr lang="en-US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</a:t>
            </a:r>
            <a:r>
              <a:rPr lang="uk-UA" sz="17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додаток з нуля 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57200" y="4439412"/>
            <a:ext cx="8229600" cy="50292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48640" y="443941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Програмування — це спосіб давати комп'ютеру зрозумілі інструкції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🐍  Python навколо нас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1148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72155" y="1082573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 dirty="0"/>
          </a:p>
        </p:txBody>
      </p:sp>
      <p:sp>
        <p:nvSpPr>
          <p:cNvPr id="5" name="Shape 3"/>
          <p:cNvSpPr/>
          <p:nvPr/>
        </p:nvSpPr>
        <p:spPr>
          <a:xfrm>
            <a:off x="372155" y="1082573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372155" y="1306601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72155" y="174094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72155" y="212498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Instagram, Pinterest, Reddit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52515" y="1082573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3252515" y="1082573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52515" y="1306601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🎵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52515" y="174094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Музика і відео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52515" y="212498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Spotify, YouTube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32875" y="1082573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6132875" y="1082573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6132875" y="1306601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32875" y="174094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32875" y="212498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NASA, CERN, дослідження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72155" y="2957093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372155" y="2957093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72155" y="3162833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72155" y="361546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Штучний інтелект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2155" y="399950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Google AI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52515" y="2957093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3252515" y="2957093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3252515" y="316858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3252515" y="361546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даних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52515" y="399950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фінанси, маркетинг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32875" y="2957093"/>
            <a:ext cx="2651760" cy="1645920"/>
          </a:xfrm>
          <a:prstGeom prst="rect">
            <a:avLst/>
          </a:prstGeom>
          <a:solidFill>
            <a:srgbClr val="1E2450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Shape 28"/>
          <p:cNvSpPr/>
          <p:nvPr/>
        </p:nvSpPr>
        <p:spPr>
          <a:xfrm>
            <a:off x="6132875" y="2957093"/>
            <a:ext cx="2651760" cy="82296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6132875" y="3162833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6132875" y="3615461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Автоматизація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132875" y="3999509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офісні задачі, звіти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Що таке програма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Програма — це набір покрокових інструкцій для комп'ютера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1371600" y="1965960"/>
            <a:ext cx="731520" cy="731520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137160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Запитай ім'я користувача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32155" y="2651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A8BB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206240" y="1965960"/>
            <a:ext cx="731520" cy="731520"/>
          </a:xfrm>
          <a:prstGeom prst="ellipse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2062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2900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Отримай відповідь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760720" y="26562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7A8BB5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1828800"/>
            <a:ext cx="256032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7040880" y="1965960"/>
            <a:ext cx="731520" cy="731520"/>
          </a:xfrm>
          <a:prstGeom prst="ellipse">
            <a:avLst/>
          </a:prstGeom>
          <a:solidFill>
            <a:srgbClr val="FF9D6C"/>
          </a:solidFill>
          <a:ln w="12700">
            <a:solidFill>
              <a:srgbClr val="FF9D6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70408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63640" y="28346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Покажи вітальне повідомлення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Перша команда: print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показує інформацію на екрані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5029200" cy="8229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("Привіт!")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5029200" cy="14630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621792" y="254203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822960" y="254203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1024128" y="254203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94360" y="27432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("Мене звуть Олена")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(42)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6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("Вітаю в курсі!")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715000" y="146304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806440" y="146304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5508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— у лапках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715000" y="251460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251460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🔢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355080" y="25146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— без лапок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715000" y="3566160"/>
            <a:ext cx="292608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806440" y="3566160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355080" y="35661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в консолі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Цікавий факт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Традиція "Hello, world!"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більшості мов програмування першою програмою традиційно є виведення "Hello, world!" — простий спосіб перевірити, що середовище налаштоване правильно.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5486400" cy="12344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286207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286207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286207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306324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("Hello, world!")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20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("Привіт, світ!")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3D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Ваша перша програма вже є частиною великої традиції!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Практика 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97280" cy="41148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1001268"/>
            <a:ext cx="8229600" cy="82296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594360" y="1120140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94360" y="11201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001268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Виведіть своє ім'я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15668"/>
            <a:ext cx="8229600" cy="82296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94360" y="2034540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20345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1915668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Виведіть коротке повідомлення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2857500"/>
            <a:ext cx="8229600" cy="82296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594360" y="2976372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94360" y="29763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8575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Виведіть 2–3 рядки тексту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3858768"/>
            <a:ext cx="4572000" cy="905064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621792" y="3977640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822960" y="3977640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1024128" y="3977640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94360" y="4178808"/>
            <a:ext cx="4297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("Іван")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4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("Привіт усім!")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Типові помилки на старті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print("Привіт"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Забуті дужки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05156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4617720" y="105156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print('Привіт")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лапки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78892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0292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Print("Привіт")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3474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Велика буква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7720" y="2788920"/>
            <a:ext cx="397764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4617720" y="2788920"/>
            <a:ext cx="3977640" cy="7315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4754880" y="29260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48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 print(Привіт)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3474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без лапок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5760" y="4439412"/>
            <a:ext cx="8229600" cy="384048"/>
          </a:xfrm>
          <a:prstGeom prst="rect">
            <a:avLst/>
          </a:prstGeom>
          <a:solidFill>
            <a:srgbClr val="00000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457200" y="4439412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— нормальна частина програмування. Головне — читати повідомлення про помилку.</a:t>
            </a:r>
            <a:endParaRPr lang="en-US" sz="13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input: програма питає користувача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отримує дані, які вводить людина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858000" cy="137160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178308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9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9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9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("Як вас звати? ")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9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("Вітаю,", name)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5720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3566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56032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560320" y="3611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⌨️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256032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3566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66344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4663440" y="360069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66344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Зберігає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змінній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3566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A8BB5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66560" y="3383280"/>
            <a:ext cx="1828800" cy="13716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766560" y="360069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📤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766560" y="40233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виводить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Змінні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Змінна — це ім'я для значення, яке ми хочемо запам'ятати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029200" cy="16459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178308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20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0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"Олена"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</a:t>
            </a:r>
            <a:r>
              <a:rPr lang="en-US" sz="20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</a:t>
            </a:r>
            <a:r>
              <a:rPr lang="en-US" sz="20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city</a:t>
            </a:r>
            <a:r>
              <a:rPr lang="en-US" sz="20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20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"Київ"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760720" y="1463040"/>
            <a:ext cx="2926080" cy="1645920"/>
          </a:xfrm>
          <a:prstGeom prst="rect">
            <a:avLst/>
          </a:prstGeom>
          <a:solidFill>
            <a:srgbClr val="1A1F36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760720" y="1691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📦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852160" y="2148840"/>
            <a:ext cx="2743200" cy="728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коробка з підписом: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ім'я на коробці — це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змінної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ім'я змінної — латиницею, без пробілів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name     ✅  total_price     ❌  моє ім'я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Цікавий факт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Чому Python називається Python?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6666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походить не від змії 🐍, а від британського комедійного шоу "Monty Python's Flying Circus</a:t>
            </a:r>
            <a:r>
              <a:rPr lang="en-US" sz="1700" dirty="0">
                <a:solidFill>
                  <a:srgbClr val="7A8BB5"/>
                </a:solidFill>
                <a:latin typeface="Calibri" pitchFamily="34" charset="0"/>
                <a:cs typeface="Calibri" pitchFamily="34" charset="-120"/>
              </a:rPr>
              <a:t>"</a:t>
            </a:r>
            <a:r>
              <a:rPr lang="uk-UA" sz="1700" dirty="0">
                <a:solidFill>
                  <a:srgbClr val="7A8BB5"/>
                </a:solidFill>
                <a:latin typeface="Calibri" pitchFamily="34" charset="0"/>
                <a:cs typeface="Calibri" pitchFamily="34" charset="-120"/>
              </a:rPr>
              <a:t> (Летючий цирк Монті Пайтона)</a:t>
            </a:r>
            <a:r>
              <a:rPr lang="en-US" sz="1700" dirty="0">
                <a:solidFill>
                  <a:srgbClr val="7A8BB5"/>
                </a:solidFill>
                <a:latin typeface="Calibri" pitchFamily="34" charset="0"/>
                <a:cs typeface="Calibri" pitchFamily="34" charset="-120"/>
              </a:rPr>
              <a:t>.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 мови Гвідо ван Россум хотів коротку та трохи незвичну назву. 🎭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23368" y="1371600"/>
            <a:ext cx="1563432" cy="1828800"/>
          </a:xfrm>
          <a:prstGeom prst="rect">
            <a:avLst/>
          </a:prstGeom>
          <a:solidFill>
            <a:srgbClr val="1E2450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123367" y="1371600"/>
            <a:ext cx="15634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Monty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логотипом Python і є змія — хоча назва зовсім про інше.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Числа і прості операції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99983"/>
            <a:ext cx="502920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418855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418855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418855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620023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 </a:t>
            </a:r>
            <a:r>
              <a:rPr lang="en-US" sz="17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</a:t>
            </a: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7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   = price * quantity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(total)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577840" y="1299983"/>
            <a:ext cx="1554480" cy="868680"/>
          </a:xfrm>
          <a:prstGeom prst="rect">
            <a:avLst/>
          </a:prstGeom>
          <a:solidFill>
            <a:srgbClr val="5B8FF9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5577840" y="129998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108192" y="137313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Додавання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08192" y="172975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+ 50 = 150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1299983"/>
            <a:ext cx="1554480" cy="868680"/>
          </a:xfrm>
          <a:prstGeom prst="rect">
            <a:avLst/>
          </a:prstGeom>
          <a:solidFill>
            <a:srgbClr val="5B8FF9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7269480" y="129998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799832" y="137313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Віднімання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99832" y="172975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0E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100 − 30 = 70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577840" y="2351543"/>
            <a:ext cx="1554480" cy="868680"/>
          </a:xfrm>
          <a:prstGeom prst="rect">
            <a:avLst/>
          </a:prstGeom>
          <a:solidFill>
            <a:srgbClr val="1A1F36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5577840" y="235154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08192" y="242469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Множення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08192" y="278131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× 3 = 300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269480" y="2351543"/>
            <a:ext cx="1554480" cy="868680"/>
          </a:xfrm>
          <a:prstGeom prst="rect">
            <a:avLst/>
          </a:prstGeom>
          <a:solidFill>
            <a:srgbClr val="1A1F36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7269480" y="2351543"/>
            <a:ext cx="502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÷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799832" y="2424695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Ділення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99832" y="2781311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/ 4 = 25.0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3494543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 Python символи: +  −  *  /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Важливо: input повертає текст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47472"/>
          </a:xfrm>
          <a:prstGeom prst="rect">
            <a:avLst/>
          </a:prstGeom>
          <a:solidFill>
            <a:srgbClr val="E84855"/>
          </a:solidFill>
          <a:ln w="12700">
            <a:solidFill>
              <a:srgbClr val="E84855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Проблема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393192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621792" y="15361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822960" y="15361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1024128" y="15361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("Перше число: 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("Друге число: ")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Результат: "23" (не 5!)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3931920" cy="347472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4632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Рішення: int()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1417320"/>
            <a:ext cx="3931920" cy="192024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4919472" y="153619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120640" y="153619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>
            <a:off x="5321808" y="153619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4892040" y="1737360"/>
            <a:ext cx="3657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("Перше число: ")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3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("Друге число: ")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3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 + b)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Результат: 5  ✓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8229600" cy="1143000"/>
          </a:xfrm>
          <a:prstGeom prst="rect">
            <a:avLst/>
          </a:prstGeom>
          <a:solidFill>
            <a:srgbClr val="1A1F36"/>
          </a:solidFill>
          <a:ln/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повертає текст (рядок), тому "2" + "3" = "23" (склеювання)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перетворює текст на число, тому 2 + 3 = 5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⌨️  Практика 2: простий калькулятор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97280" cy="41148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94360" y="1124712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124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05156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Запитати два числа у користувача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Shape 7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5943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70992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суму (+)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368296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3682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різницю (−)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026664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594360" y="3099816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Text 16"/>
          <p:cNvSpPr/>
          <p:nvPr/>
        </p:nvSpPr>
        <p:spPr>
          <a:xfrm>
            <a:off x="59436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0266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добуток (×)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685032"/>
            <a:ext cx="4389120" cy="566928"/>
          </a:xfrm>
          <a:prstGeom prst="rect">
            <a:avLst/>
          </a:prstGeom>
          <a:solidFill>
            <a:srgbClr val="1A2640"/>
          </a:solidFill>
          <a:ln/>
          <a:effectLst>
            <a:outerShdw blurRad="63500" dist="127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594360" y="3758184"/>
            <a:ext cx="384048" cy="38404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Text 20"/>
          <p:cNvSpPr/>
          <p:nvPr/>
        </p:nvSpPr>
        <p:spPr>
          <a:xfrm>
            <a:off x="59436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68503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частку (÷)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120640" y="1051560"/>
            <a:ext cx="3749040" cy="33375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5257800" y="10972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Очікуваний результат: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120640" y="1463040"/>
            <a:ext cx="3749040" cy="233172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528523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548640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7"/>
          <p:cNvSpPr/>
          <p:nvPr/>
        </p:nvSpPr>
        <p:spPr>
          <a:xfrm>
            <a:off x="568756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0" name="Text 28"/>
          <p:cNvSpPr/>
          <p:nvPr/>
        </p:nvSpPr>
        <p:spPr>
          <a:xfrm>
            <a:off x="5257800" y="178308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Перше число: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Друге число: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Сума: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Різниця: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Добуток: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Частка: </a:t>
            </a:r>
            <a:r>
              <a:rPr lang="en-US" sz="1400" dirty="0">
                <a:solidFill>
                  <a:srgbClr val="C9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446227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Введіть числа 10 і 4, щоб перевірити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Коментарі в коді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Коментар пишуть для людей — Python його не виконує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6400800" cy="19659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621792" y="1581912"/>
            <a:ext cx="109728" cy="109728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822960" y="1581912"/>
            <a:ext cx="109728" cy="109728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024128" y="1581912"/>
            <a:ext cx="109728" cy="109728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594360" y="1783080"/>
            <a:ext cx="6126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Запитуємо ім'я користувача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1700" dirty="0">
                <a:solidFill>
                  <a:srgbClr val="6DD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("Як вас звати? ")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7A8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Виводимо вітання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9D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r>
              <a:rPr lang="en-US" sz="1700" dirty="0">
                <a:solidFill>
                  <a:srgbClr val="A9D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("Вітаю,", name)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547872"/>
            <a:ext cx="8229600" cy="34747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88720" y="3547872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Символ # починає коментар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941064"/>
            <a:ext cx="8229600" cy="347472"/>
          </a:xfrm>
          <a:prstGeom prst="rect">
            <a:avLst/>
          </a:prstGeom>
          <a:solidFill>
            <a:srgbClr val="F8F9FC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548640" y="394106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👁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3941064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пропускає рядок з #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334256"/>
            <a:ext cx="8229600" cy="347472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48640" y="433425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8F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433425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Пишіть, що і чому — не що саме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B8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Цікавий факт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Програмісти більше читають код, ніж пишуть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solidFill>
            <a:srgbClr val="161B2E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6172200" cy="594360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коду   ~75%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75120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200" b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00" b="1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Написання ~25%</a:t>
            </a:r>
            <a:endParaRPr lang="en-US" sz="1200" b="1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Зрозумілі назви змінних економлять більше часу, ніж здається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310128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685800" y="33101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Коментарі — це листи колегам (і собі через місяць)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54864" cy="5029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85800" y="405993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Хороший код читається як текст, без додаткових пояснень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A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E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💬  Питання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594360" y="1115568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94360" y="1115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0058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у вас в </a:t>
            </a:r>
            <a:r>
              <a:rPr lang="en-US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побуті є повторювані розрахунки?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57276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Наприклад: рахуєте витрати, заповнюєте таблиці, підраховуєте щось щомісяця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594360" y="2395728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88720" y="22860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 дані програма могла б запитувати у користувача?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285292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Ім'я, суму, кількість, дату — що важливо знати перед розрахунком?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A2640"/>
          </a:solidFill>
          <a:ln/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594360" y="3675888"/>
            <a:ext cx="475488" cy="475488"/>
          </a:xfrm>
          <a:prstGeom prst="ellipse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94360" y="3675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?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88720" y="35661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E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Який маленький помічник був би корисним саме вам?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13308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A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обов'язково складний — навіть простий підрахунок може заощадити час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F3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Що ми вже вміємо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59536"/>
            <a:ext cx="1097280" cy="41148"/>
          </a:xfrm>
          <a:prstGeom prst="rect">
            <a:avLst/>
          </a:prstGeom>
          <a:solidFill>
            <a:srgbClr val="5B8FF9"/>
          </a:solidFill>
          <a:ln w="12700">
            <a:solidFill>
              <a:srgbClr val="5B8FF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7589520" y="164592"/>
            <a:ext cx="1371600" cy="347472"/>
          </a:xfrm>
          <a:prstGeom prst="roundRect">
            <a:avLst>
              <a:gd name="adj" fmla="val 18421"/>
            </a:avLst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7589520" y="16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Text 6"/>
          <p:cNvSpPr/>
          <p:nvPr/>
        </p:nvSpPr>
        <p:spPr>
          <a:xfrm>
            <a:off x="502920" y="1051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▶️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88720" y="1051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Запускати Python-код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10"/>
          <p:cNvSpPr/>
          <p:nvPr/>
        </p:nvSpPr>
        <p:spPr>
          <a:xfrm>
            <a:off x="4846320" y="1051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32120" y="1051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Виводити інформацію через print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2194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365760" y="2194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502920" y="2194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❓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188720" y="2194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Запитувати дані через input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09160" y="2194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4709160" y="2194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4846320" y="2194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32120" y="2194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Зберігати значення у змінних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65760" y="3337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365760" y="3337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ext 22"/>
          <p:cNvSpPr/>
          <p:nvPr/>
        </p:nvSpPr>
        <p:spPr>
          <a:xfrm>
            <a:off x="502920" y="3337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🔢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88720" y="3337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Робити прості розрахунки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709160" y="3337560"/>
            <a:ext cx="4069080" cy="9601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127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4709160" y="3337560"/>
            <a:ext cx="73152" cy="960120"/>
          </a:xfrm>
          <a:prstGeom prst="rect">
            <a:avLst/>
          </a:prstGeom>
          <a:solidFill>
            <a:srgbClr val="3DC9B0"/>
          </a:solidFill>
          <a:ln w="12700">
            <a:solidFill>
              <a:srgbClr val="3DC9B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8" name="Text 26"/>
          <p:cNvSpPr/>
          <p:nvPr/>
        </p:nvSpPr>
        <p:spPr>
          <a:xfrm>
            <a:off x="4846320" y="333756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🧮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532120" y="33375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Написати простий калькулятор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10256</TotalTime>
  <Words>896</Words>
  <Application>Microsoft Macintosh PowerPoint</Application>
  <PresentationFormat>On-screen Show (16:9)</PresentationFormat>
  <Paragraphs>231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Web — Заняття 1</dc:title>
  <dc:subject>PptxGenJS Presentation</dc:subject>
  <dc:creator>PptxGenJS</dc:creator>
  <cp:lastModifiedBy>Штефан Дмитро</cp:lastModifiedBy>
  <cp:revision>5</cp:revision>
  <dcterms:created xsi:type="dcterms:W3CDTF">2026-05-08T21:03:34Z</dcterms:created>
  <dcterms:modified xsi:type="dcterms:W3CDTF">2026-05-16T15:28:05Z</dcterms:modified>
</cp:coreProperties>
</file>