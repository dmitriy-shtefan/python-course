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03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Заняття</a:t>
            </a:r>
            <a:r>
              <a:rPr lang="en-US" sz="5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input, змінні та перший калькулятор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669280" y="1463040"/>
            <a:ext cx="3200400" cy="13716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80644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("Привіт, світ!")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Навіщо ми тут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48740"/>
            <a:ext cx="8229600" cy="7909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40080" y="146518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📌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38531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Навчитись давати комп'ютеру чіткі інструкції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85365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17220" y="24460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Автоматизувати повторювані задачі та розрахунки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299673"/>
            <a:ext cx="8229600" cy="7086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17220" y="336825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299673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</a:t>
            </a: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</a:t>
            </a:r>
            <a:r>
              <a:rPr lang="uk-UA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додаток з нуля 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4439412"/>
            <a:ext cx="8229600" cy="50292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44394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Програмування — це спосіб давати комп'ютеру зрозумілі інструкції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Python навколо нас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114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72155" y="1082573"/>
            <a:ext cx="2651760" cy="1645920"/>
          </a:xfrm>
          <a:prstGeom prst="rect">
            <a:avLst/>
          </a:prstGeom>
          <a:solidFill>
            <a:srgbClr val="1E2450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 dirty="0"/>
          </a:p>
        </p:txBody>
      </p:sp>
      <p:sp>
        <p:nvSpPr>
          <p:cNvPr id="5" name="Shape 3"/>
          <p:cNvSpPr/>
          <p:nvPr/>
        </p:nvSpPr>
        <p:spPr>
          <a:xfrm>
            <a:off x="372155" y="1082573"/>
            <a:ext cx="2651760" cy="82296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72155" y="1306601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72155" y="1740941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Web-розробка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2155" y="212498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Pinterest, Reddit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52515" y="1082573"/>
            <a:ext cx="2651760" cy="1645920"/>
          </a:xfrm>
          <a:prstGeom prst="rect">
            <a:avLst/>
          </a:prstGeom>
          <a:solidFill>
            <a:srgbClr val="1E2450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252515" y="1082573"/>
            <a:ext cx="2651760" cy="82296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252515" y="1306601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52515" y="1740941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Музика і відео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52515" y="212498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Spotify, YouTube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2875" y="1082573"/>
            <a:ext cx="2651760" cy="1645920"/>
          </a:xfrm>
          <a:prstGeom prst="rect">
            <a:avLst/>
          </a:prstGeom>
          <a:solidFill>
            <a:srgbClr val="1E2450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6132875" y="1082573"/>
            <a:ext cx="2651760" cy="82296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132875" y="1306601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32875" y="1740941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32875" y="212498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NASA, CERN, дослідження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2155" y="2957093"/>
            <a:ext cx="2651760" cy="1645920"/>
          </a:xfrm>
          <a:prstGeom prst="rect">
            <a:avLst/>
          </a:prstGeom>
          <a:solidFill>
            <a:srgbClr val="1E2450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372155" y="2957093"/>
            <a:ext cx="2651760" cy="82296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72155" y="3162833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72155" y="3615461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Штучний інтелект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2155" y="399950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Google AI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52515" y="2957093"/>
            <a:ext cx="2651760" cy="1645920"/>
          </a:xfrm>
          <a:prstGeom prst="rect">
            <a:avLst/>
          </a:prstGeom>
          <a:solidFill>
            <a:srgbClr val="1E2450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3252515" y="2957093"/>
            <a:ext cx="2651760" cy="82296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252515" y="31685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52515" y="3615461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даних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52515" y="399950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фінанси, маркетинг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32875" y="2957093"/>
            <a:ext cx="2651760" cy="1645920"/>
          </a:xfrm>
          <a:prstGeom prst="rect">
            <a:avLst/>
          </a:prstGeom>
          <a:solidFill>
            <a:srgbClr val="1E2450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6132875" y="2957093"/>
            <a:ext cx="2651760" cy="82296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132875" y="3162833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32875" y="3615461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Автоматизація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32875" y="399950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офісні задачі, звіти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таке програма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— це набір покрокових інструкцій для комп'ютера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371600" y="1965960"/>
            <a:ext cx="731520" cy="7315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Запитай ім'я користувача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32155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8BB5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206240" y="1965960"/>
            <a:ext cx="731520" cy="731520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2062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Отримай відповідь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0" y="26562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8BB5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7040880" y="1965960"/>
            <a:ext cx="731520" cy="731520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0408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вітальне повідомлення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Перша команда: print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показує інформацію на екрані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029200" cy="8229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21792" y="15819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822960" y="15819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024128" y="15819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0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("Привіт!")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029200" cy="14630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21792" y="25420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822960" y="25420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1024128" y="25420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94360" y="27432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("Мене звуть Олена")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("Вітаю в курсі!")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0" y="146304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806440" y="14630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— у лапках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15000" y="251460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806440" y="25146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5508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— без лапок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15000" y="356616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806440" y="35661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в консолі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Цікавий факт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Традиція "Hello, world!"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більшості мов програмування першою програмою традиційно є виведення "Hello, world!" — простий спосіб перевірити, що середовище налаштоване правильно.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486400" cy="12344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21792" y="28620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28620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0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("Hello, world!")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0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("Привіт, світ!")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перша програма вже є частиною великої традиції!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4114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001268"/>
            <a:ext cx="8229600" cy="822960"/>
          </a:xfrm>
          <a:prstGeom prst="rect">
            <a:avLst/>
          </a:prstGeom>
          <a:solidFill>
            <a:srgbClr val="1A264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94360" y="1120140"/>
            <a:ext cx="475488" cy="47548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1201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00126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Виведіть своє ім'я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915668"/>
            <a:ext cx="8229600" cy="822960"/>
          </a:xfrm>
          <a:prstGeom prst="rect">
            <a:avLst/>
          </a:prstGeom>
          <a:solidFill>
            <a:srgbClr val="1A264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94360" y="2034540"/>
            <a:ext cx="475488" cy="47548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4360" y="20345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91566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Виведіть коротке повідомлення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857500"/>
            <a:ext cx="8229600" cy="822960"/>
          </a:xfrm>
          <a:prstGeom prst="rect">
            <a:avLst/>
          </a:prstGeom>
          <a:solidFill>
            <a:srgbClr val="1A264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94360" y="2976372"/>
            <a:ext cx="475488" cy="47548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94360" y="29763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575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Виведіть 2–3 рядки тексту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4572000" cy="90506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621792" y="39776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1024128" y="39776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94360" y="417880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("Іван")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 усім!")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Типові помилки на старті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7764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print("Привіт"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Забуті дужки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97764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print('Привіт")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Різні лапки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397764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Print("Привіт")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Велика буква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78892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397764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print(Привіт)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без лапок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439412"/>
            <a:ext cx="82296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57200" y="44394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 — нормальна частина програмування. Головне — читати повідомлення про помилку.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input: програма питає користувача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отримує дані, які вводить людина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858000" cy="13716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21792" y="15819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822960" y="15819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024128" y="15819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9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9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9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("Як вас звати? ")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9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("Вітаю,", name)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828800" cy="1371600"/>
          </a:xfrm>
          <a:prstGeom prst="rect">
            <a:avLst/>
          </a:prstGeom>
          <a:solidFill>
            <a:srgbClr val="1A1F36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566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8BB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0" y="3383280"/>
            <a:ext cx="1828800" cy="1371600"/>
          </a:xfrm>
          <a:prstGeom prst="rect">
            <a:avLst/>
          </a:prstGeom>
          <a:solidFill>
            <a:srgbClr val="1A1F36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56032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⌨️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6032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566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8BB5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0" y="3383280"/>
            <a:ext cx="1828800" cy="1371600"/>
          </a:xfrm>
          <a:prstGeom prst="rect">
            <a:avLst/>
          </a:prstGeom>
          <a:solidFill>
            <a:srgbClr val="1A1F36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663440" y="360069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6344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змінній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566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8BB5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3383280"/>
            <a:ext cx="1828800" cy="1371600"/>
          </a:xfrm>
          <a:prstGeom prst="rect">
            <a:avLst/>
          </a:prstGeom>
          <a:solidFill>
            <a:srgbClr val="1A1F36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766560" y="360069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6656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Змінні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— це ім'я для значення, яке ми хочемо запам'ятати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16459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21792" y="15819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22960" y="15819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15819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0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0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"Олена"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20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r>
              <a:rPr lang="en-US" sz="20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20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0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"Київ"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760720" y="1463040"/>
            <a:ext cx="2926080" cy="1645920"/>
          </a:xfrm>
          <a:prstGeom prst="rect">
            <a:avLst/>
          </a:prstGeom>
          <a:solidFill>
            <a:srgbClr val="1A1F3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76072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52160" y="2148840"/>
            <a:ext cx="2743200" cy="728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коробка з підписом: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на коробці — це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 змінної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ім'я змінної — латиницею, без пробілів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name     ✅  total_price     ❌  моє ім'я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Цікавий факт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Чому Python називається Python?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6666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 походить не від змії 🐍, а від британського комедійного шоу "Monty Python's Flying Circus</a:t>
            </a:r>
            <a:r>
              <a:rPr lang="en-US" sz="1700" dirty="0">
                <a:solidFill>
                  <a:srgbClr val="7A8BB5"/>
                </a:solidFill>
                <a:latin typeface="Calibri" pitchFamily="34" charset="0"/>
                <a:cs typeface="Calibri" pitchFamily="34" charset="-120"/>
              </a:rPr>
              <a:t>"</a:t>
            </a:r>
            <a:r>
              <a:rPr lang="uk-UA" sz="1700" dirty="0">
                <a:solidFill>
                  <a:srgbClr val="7A8BB5"/>
                </a:solidFill>
                <a:latin typeface="Calibri" pitchFamily="34" charset="0"/>
                <a:cs typeface="Calibri" pitchFamily="34" charset="-120"/>
              </a:rPr>
              <a:t> (Летючий цирк Монті Пайтона)</a:t>
            </a:r>
            <a:r>
              <a:rPr lang="en-US" sz="1700" dirty="0">
                <a:solidFill>
                  <a:srgbClr val="7A8BB5"/>
                </a:solidFill>
                <a:latin typeface="Calibri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мови Гвідо ван Россум хотів коротку та трохи незвичну назву. 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23368" y="1371600"/>
            <a:ext cx="1563432" cy="1828800"/>
          </a:xfrm>
          <a:prstGeom prst="rect">
            <a:avLst/>
          </a:prstGeom>
          <a:solidFill>
            <a:srgbClr val="1E2450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123367" y="1371600"/>
            <a:ext cx="156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Тому логотипом Python і є змія — хоча назва зовсім про інше.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Числа і прості операції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99983"/>
            <a:ext cx="5029200" cy="19202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418855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418855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418855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620023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7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</a:t>
            </a:r>
            <a:r>
              <a:rPr lang="en-US" sz="17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r>
              <a:rPr lang="en-US" sz="17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7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= price * quantity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577840" y="1299983"/>
            <a:ext cx="1554480" cy="868680"/>
          </a:xfrm>
          <a:prstGeom prst="rect">
            <a:avLst/>
          </a:prstGeom>
          <a:solidFill>
            <a:srgbClr val="5B8FF9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577840" y="1299983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08192" y="137313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Додавання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08192" y="1729751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+ 50 = 150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1299983"/>
            <a:ext cx="1554480" cy="868680"/>
          </a:xfrm>
          <a:prstGeom prst="rect">
            <a:avLst/>
          </a:prstGeom>
          <a:solidFill>
            <a:srgbClr val="5B8FF9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269480" y="1299983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99832" y="137313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Віднімання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9832" y="1729751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100 − 30 = 70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351543"/>
            <a:ext cx="1554480" cy="868680"/>
          </a:xfrm>
          <a:prstGeom prst="rect">
            <a:avLst/>
          </a:prstGeom>
          <a:solidFill>
            <a:srgbClr val="1A1F36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577840" y="2351543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08192" y="242469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Множення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08192" y="2781311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× 3 = 300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9480" y="2351543"/>
            <a:ext cx="1554480" cy="868680"/>
          </a:xfrm>
          <a:prstGeom prst="rect">
            <a:avLst/>
          </a:prstGeom>
          <a:solidFill>
            <a:srgbClr val="1A1F36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7269480" y="2351543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÷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799832" y="242469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Ділення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99832" y="2781311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/ 4 = 25.0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4543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Python символи: +  −  *  /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Важливо: input повертає текст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Проблема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9202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("Перше число: 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("Друге число: 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Результат: "23" (не 5!)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Рішення: int()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19202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91947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12064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32180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("Перше число: ")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("Друге число: ")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Результат: 5  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1143000"/>
          </a:xfrm>
          <a:prstGeom prst="rect">
            <a:avLst/>
          </a:prstGeom>
          <a:solidFill>
            <a:srgbClr val="1A1F36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повертає текст (рядок), тому "2" + "3" = "23" (склеювання)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перетворює текст на число, тому 2 + 3 = 5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 2: простий калькулятор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4114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389120" cy="566928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94360" y="1124712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два числа у користувача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4389120" cy="566928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7099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суму (+)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4389120" cy="566928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94360" y="244144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682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різницю (−)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4389120" cy="566928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94360" y="3099816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9436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0266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добуток (×)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4389120" cy="566928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94360" y="3758184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943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6850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частку (÷)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120640" y="1051560"/>
            <a:ext cx="3749040" cy="33375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25780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Очікуваний результат: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1463040"/>
            <a:ext cx="3749040" cy="23317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285232" y="15819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486400" y="15819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687568" y="15819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257800" y="17830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Перше число: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Друге число: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Сума: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Різниця: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Добуток: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Частка: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4622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Введіть числа 10 і 4, щоб перевірити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Коментарі в коді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 пишуть для людей — Python його не виконує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0" cy="19659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21792" y="15819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22960" y="15819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15819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Запитуємо ім'я користувача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7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7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7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("Як вас звати? ")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Виводимо вітання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("Вітаю,", name)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547872"/>
            <a:ext cx="82296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547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Символ # починає коментар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41064"/>
            <a:ext cx="8229600" cy="347472"/>
          </a:xfrm>
          <a:prstGeom prst="rect">
            <a:avLst/>
          </a:prstGeom>
          <a:solidFill>
            <a:srgbClr val="F8F9F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48640" y="39410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410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пропускає рядок з #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34256"/>
            <a:ext cx="82296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48640" y="43342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3342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Пишіть, що і чому — не що саме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Цікавий факт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Програмісти більше читають код, ніж пишуть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172200" cy="59436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Читання коду   ~75%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b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Написання ~25%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Зрозумілі назви змінних економлять більше часу, ніж здається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10128"/>
            <a:ext cx="54864" cy="5029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85800" y="3310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Коментарі — це листи колегам (і собі через місяць)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54864" cy="5029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85800" y="405993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код читається як текст, без додаткових пояснень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Питання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A264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475488" cy="47548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6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у вас в </a:t>
            </a:r>
            <a:r>
              <a:rPr lang="en-US" sz="16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побуті є повторювані розрахунки?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Наприклад: рахуєте витрати, заповнюєте таблиці, підраховуєте щось щомісяця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1A264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94360" y="2395728"/>
            <a:ext cx="475488" cy="47548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436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 дані програма могла б запитувати у користувача?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852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Ім'я, суму, кількість, дату — що важливо знати перед розрахунком?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A264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94360" y="3675888"/>
            <a:ext cx="475488" cy="47548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9436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566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Який маленький помічник був би корисним саме вам?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330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обов'язково складний — навіть простий підрахунок може заощадити час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ми вже вміємо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0" cy="411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690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9601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051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Запускати Python-код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73152" cy="9601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46320" y="1051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051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Виводити інформацію через print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690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73152" cy="9601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02920" y="2194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194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Запитувати дані через input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194560"/>
            <a:ext cx="40690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73152" cy="9601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2194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Зберігати значення у змінних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40690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73152" cy="9601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02920" y="3337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3337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Робити прості розрахунки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09160" y="3337560"/>
            <a:ext cx="40690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709160" y="3337560"/>
            <a:ext cx="73152" cy="9601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46320" y="3337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32120" y="3337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простий калькулятор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</TotalTime>
  <Words>896</Words>
  <Application>Microsoft Macintosh PowerPoint</Application>
  <PresentationFormat>On-screen Show (16:9)</PresentationFormat>
  <Paragraphs>231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1</dc:title>
  <dc:subject>PptxGenJS Presentation</dc:subject>
  <dc:creator>PptxGenJS</dc:creator>
  <cp:lastModifiedBy>Штефан Дмитро</cp:lastModifiedBy>
  <cp:revision>4</cp:revision>
  <dcterms:created xsi:type="dcterms:W3CDTF">2026-05-08T21:03:34Z</dcterms:created>
  <dcterms:modified xsi:type="dcterms:W3CDTF">2026-05-11T14:06:27Z</dcterms:modified>
</cp:coreProperties>
</file>