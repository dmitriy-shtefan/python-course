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60" r:id="rId4"/>
    <p:sldId id="261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6" r:id="rId18"/>
    <p:sldId id="275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561"/>
    <p:restoredTop sz="94610"/>
  </p:normalViewPr>
  <p:slideViewPr>
    <p:cSldViewPr snapToGrid="0" snapToObjects="1">
      <p:cViewPr varScale="1">
        <p:scale>
          <a:sx n="199" d="100"/>
          <a:sy n="199" d="100"/>
        </p:scale>
        <p:origin x="1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6035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8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Створення web-додатків з використанням Python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Заняття 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input, змінні та перший калькулятор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3200400" cy="36576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5669280" y="1463040"/>
            <a:ext cx="3200400" cy="137160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80644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7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("Привіт, світ!")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Навіщо ми тут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Вступ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640080" y="131430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📌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417320" y="123444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Навчитись давати комп'ютеру чіткі інструкції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617220" y="24460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🛠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417320" y="237744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Автоматизувати повторювані задачі та розрахунки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42900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17220" y="35890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417320" y="352044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7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Створити </a:t>
            </a:r>
            <a:r>
              <a:rPr lang="en-US" sz="17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</a:t>
            </a:r>
            <a:r>
              <a:rPr lang="uk-UA" sz="17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додаток з нуля 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7200" y="4526280"/>
            <a:ext cx="8229600" cy="502920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48640" y="45262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Програмування — це спосіб давати комп'ютеру зрозумілі інструкції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4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🐍  Python навколо нас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1148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651760" cy="1645920"/>
          </a:xfrm>
          <a:prstGeom prst="rect">
            <a:avLst/>
          </a:prstGeom>
          <a:solidFill>
            <a:srgbClr val="1E2450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651760" cy="82296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365760" y="122986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" y="166420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Web-розробка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204825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Instagram, Pinterest, Reddit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005840"/>
            <a:ext cx="2651760" cy="1645920"/>
          </a:xfrm>
          <a:prstGeom prst="rect">
            <a:avLst/>
          </a:prstGeom>
          <a:solidFill>
            <a:srgbClr val="1E2450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3246120" y="1005840"/>
            <a:ext cx="2651760" cy="82296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3246120" y="122986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🎵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246120" y="166420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Музика і відео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46120" y="204825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Spotify, YouTube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651760" cy="1645920"/>
          </a:xfrm>
          <a:prstGeom prst="rect">
            <a:avLst/>
          </a:prstGeom>
          <a:solidFill>
            <a:srgbClr val="1E2450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6126480" y="1005840"/>
            <a:ext cx="2651760" cy="82296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6126480" y="122986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🔬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126480" y="166420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26480" y="204825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NASA, CERN, дослідження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880360"/>
            <a:ext cx="2651760" cy="1645920"/>
          </a:xfrm>
          <a:prstGeom prst="rect">
            <a:avLst/>
          </a:prstGeom>
          <a:solidFill>
            <a:srgbClr val="1E2450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365760" y="2880360"/>
            <a:ext cx="2651760" cy="82296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365760" y="30861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36576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Штучний інтелект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5760" y="392277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Google AI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46120" y="2880360"/>
            <a:ext cx="2651760" cy="1645920"/>
          </a:xfrm>
          <a:prstGeom prst="rect">
            <a:avLst/>
          </a:prstGeom>
          <a:solidFill>
            <a:srgbClr val="1E2450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3246120" y="2880360"/>
            <a:ext cx="2651760" cy="82296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3246120" y="3091855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324612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даних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46120" y="392277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фінанси, маркетинг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2880360"/>
            <a:ext cx="2651760" cy="1645920"/>
          </a:xfrm>
          <a:prstGeom prst="rect">
            <a:avLst/>
          </a:prstGeom>
          <a:solidFill>
            <a:srgbClr val="1E2450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0" name="Shape 28"/>
          <p:cNvSpPr/>
          <p:nvPr/>
        </p:nvSpPr>
        <p:spPr>
          <a:xfrm>
            <a:off x="6126480" y="2880360"/>
            <a:ext cx="2651760" cy="82296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6126480" y="30861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612648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Автоматизація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126480" y="392277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офісні задачі, звіти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Що таке програма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Програма — це набір покрокових інструкцій для комп'ютера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56032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1371600" y="1965960"/>
            <a:ext cx="731520" cy="731520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137160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28346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Запитай ім'я користувача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932155" y="2651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7A8BB5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291840" y="1828800"/>
            <a:ext cx="256032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4206240" y="1965960"/>
            <a:ext cx="731520" cy="731520"/>
          </a:xfrm>
          <a:prstGeom prst="ellipse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20624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429000" y="28346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Отримай відповідь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760720" y="265623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7A8BB5"/>
                </a:solidFill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126480" y="1828800"/>
            <a:ext cx="256032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7040880" y="1965960"/>
            <a:ext cx="731520" cy="731520"/>
          </a:xfrm>
          <a:prstGeom prst="ellipse">
            <a:avLst/>
          </a:prstGeom>
          <a:solidFill>
            <a:srgbClr val="FF9D6C"/>
          </a:solidFill>
          <a:ln w="12700">
            <a:solidFill>
              <a:srgbClr val="FF9D6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704088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63640" y="28346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Покажи вітальне повідомлення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Перша команда: print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показує інформацію на екрані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5029200" cy="82296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621792" y="158191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822960" y="158191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1024128" y="158191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20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("Привіт!")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5029200" cy="146304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621792" y="254203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822960" y="254203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1024128" y="254203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94360" y="274320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6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("Мене звуть Олена")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6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(42)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6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("Вітаю в курсі!")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715000" y="1463040"/>
            <a:ext cx="292608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806440" y="146304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35508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— у лапках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715000" y="2514600"/>
            <a:ext cx="292608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806440" y="251460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🔢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355080" y="2514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Числа — без лапок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715000" y="3566160"/>
            <a:ext cx="292608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5806440" y="356616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📤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355080" y="35661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— в консолі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8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Цікавий факт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Традиція "Hello, world!"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більшості мов програмування першою програмою традиційно є виведення "Hello, world!" — простий спосіб перевірити, що середовище налаштоване правильно.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743200"/>
            <a:ext cx="5486400" cy="123444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621792" y="286207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822960" y="286207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1024128" y="286207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94360" y="3063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20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("Hello, world!")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20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("Привіт, світ!")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3D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Ваша перша програма вже є частиною великої традиції!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⌨️  Практика 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97280" cy="41148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457200" y="1001268"/>
            <a:ext cx="8229600" cy="822960"/>
          </a:xfrm>
          <a:prstGeom prst="rect">
            <a:avLst/>
          </a:prstGeom>
          <a:solidFill>
            <a:srgbClr val="1A2640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594360" y="1120140"/>
            <a:ext cx="475488" cy="47548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94360" y="11201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1001268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Виведіть своє ім'я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15668"/>
            <a:ext cx="8229600" cy="822960"/>
          </a:xfrm>
          <a:prstGeom prst="rect">
            <a:avLst/>
          </a:prstGeom>
          <a:solidFill>
            <a:srgbClr val="1A2640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594360" y="2034540"/>
            <a:ext cx="475488" cy="47548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94360" y="20345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1915668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Виведіть коротке повідомлення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2857500"/>
            <a:ext cx="8229600" cy="822960"/>
          </a:xfrm>
          <a:prstGeom prst="rect">
            <a:avLst/>
          </a:prstGeom>
          <a:solidFill>
            <a:srgbClr val="1A2640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594360" y="2976372"/>
            <a:ext cx="475488" cy="47548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94360" y="29763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285750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Виведіть 2–3 рядки тексту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" y="3858768"/>
            <a:ext cx="4572000" cy="905064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621792" y="3977640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822960" y="3977640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1024128" y="3977640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94360" y="4178808"/>
            <a:ext cx="4297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("Іван")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("Привіт усім!")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Типові помилки на старті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97764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3977640" cy="73152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4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print("Привіт"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7373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Забуті дужки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17720" y="1051560"/>
            <a:ext cx="397764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4617720" y="1051560"/>
            <a:ext cx="3977640" cy="73152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754880" y="1188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4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print('Привіт")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17373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Різні лапки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788920"/>
            <a:ext cx="397764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365760" y="2788920"/>
            <a:ext cx="3977640" cy="73152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02920" y="2926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4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Print("Привіт")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3474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Велика буква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17720" y="2788920"/>
            <a:ext cx="397764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4617720" y="2788920"/>
            <a:ext cx="3977640" cy="73152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4754880" y="2926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4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print(Привіт)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54880" y="3474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без лапок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65760" y="4439412"/>
            <a:ext cx="8229600" cy="384048"/>
          </a:xfrm>
          <a:prstGeom prst="rect">
            <a:avLst/>
          </a:prstGeom>
          <a:solidFill>
            <a:srgbClr val="00000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457200" y="443941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— нормальна частина програмування. Головне — читати повідомлення про помилку.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input: програма питає користувача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отримує дані, які вводить людина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6858000" cy="137160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621792" y="158191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822960" y="158191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1024128" y="158191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94360" y="178308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9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9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9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("Як вас звати? ")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9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("Вітаю,", name)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1828800" cy="1371600"/>
          </a:xfrm>
          <a:prstGeom prst="rect">
            <a:avLst/>
          </a:prstGeom>
          <a:solidFill>
            <a:srgbClr val="1A1F36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57200" y="40233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Запитує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86000" y="3566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8BB5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560320" y="3383280"/>
            <a:ext cx="1828800" cy="1371600"/>
          </a:xfrm>
          <a:prstGeom prst="rect">
            <a:avLst/>
          </a:prstGeom>
          <a:solidFill>
            <a:srgbClr val="1A1F36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560320" y="36118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⌨️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560320" y="40233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вводить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3566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8BB5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663440" y="3383280"/>
            <a:ext cx="1828800" cy="1371600"/>
          </a:xfrm>
          <a:prstGeom prst="rect">
            <a:avLst/>
          </a:prstGeom>
          <a:solidFill>
            <a:srgbClr val="1A1F36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4663440" y="360069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💾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663440" y="40233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Зберігає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змінній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3566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8BB5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766560" y="3383280"/>
            <a:ext cx="1828800" cy="1371600"/>
          </a:xfrm>
          <a:prstGeom prst="rect">
            <a:avLst/>
          </a:prstGeom>
          <a:solidFill>
            <a:srgbClr val="1A1F36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6766560" y="360069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📤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766560" y="40233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виводить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Змінні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Змінна — це ім'я для значення, яке ми хочемо запам'ятати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029200" cy="164592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621792" y="158191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822960" y="158191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1024128" y="158191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94360" y="17830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20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20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"Олена"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r>
              <a:rPr lang="en-US" sz="20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</a:t>
            </a:r>
            <a:r>
              <a:rPr lang="en-US" sz="20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r>
              <a:rPr lang="en-US" sz="20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20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"Київ"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760720" y="1463040"/>
            <a:ext cx="2926080" cy="1645920"/>
          </a:xfrm>
          <a:prstGeom prst="rect">
            <a:avLst/>
          </a:prstGeom>
          <a:solidFill>
            <a:srgbClr val="1A1F36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760720" y="1691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📦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852160" y="2148840"/>
            <a:ext cx="2743200" cy="728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коробка з підписом: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ім'я на коробці — це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 змінної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520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Правило: ім'я змінної — латиницею, без пробілів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name     ✅  total_price     ❌  моє ім'я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8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Цікавий факт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Чому Python називається Python?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6666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 походить не від змії 🐍, а від британського комедійного шоу "Monty Python's Flying Circus</a:t>
            </a:r>
            <a:r>
              <a:rPr lang="en-US" sz="1700" dirty="0">
                <a:solidFill>
                  <a:srgbClr val="7A8BB5"/>
                </a:solidFill>
                <a:latin typeface="Calibri" pitchFamily="34" charset="0"/>
                <a:cs typeface="Calibri" pitchFamily="34" charset="-120"/>
              </a:rPr>
              <a:t>"</a:t>
            </a:r>
            <a:r>
              <a:rPr lang="uk-UA" sz="1700" dirty="0">
                <a:solidFill>
                  <a:srgbClr val="7A8BB5"/>
                </a:solidFill>
                <a:latin typeface="Calibri" pitchFamily="34" charset="0"/>
                <a:cs typeface="Calibri" pitchFamily="34" charset="-120"/>
              </a:rPr>
              <a:t> (Летючий цирк Монті Пайтона)</a:t>
            </a:r>
            <a:r>
              <a:rPr lang="en-US" sz="1700" dirty="0">
                <a:solidFill>
                  <a:srgbClr val="7A8BB5"/>
                </a:solidFill>
                <a:latin typeface="Calibri" pitchFamily="34" charset="0"/>
                <a:cs typeface="Calibri" pitchFamily="34" charset="-120"/>
              </a:rPr>
              <a:t>.</a:t>
            </a:r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 мови Гвідо ван Россум хотів коротку та трохи незвичну назву. 🎭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123368" y="1371600"/>
            <a:ext cx="1563432" cy="1828800"/>
          </a:xfrm>
          <a:prstGeom prst="rect">
            <a:avLst/>
          </a:prstGeom>
          <a:solidFill>
            <a:srgbClr val="1E2450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123367" y="1371600"/>
            <a:ext cx="15634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Monty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Тому логотипом Python і є змія — хоча назва зовсім про інше.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Числа і прості операції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99983"/>
            <a:ext cx="5029200" cy="192024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621792" y="1418855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822960" y="1418855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1024128" y="1418855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94360" y="1620023"/>
            <a:ext cx="4754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r>
              <a:rPr lang="en-US" sz="17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 </a:t>
            </a:r>
            <a:r>
              <a:rPr lang="en-US" sz="17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quantity</a:t>
            </a:r>
            <a:r>
              <a:rPr lang="en-US" sz="17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7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   = price * quantity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7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(total)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577840" y="1299983"/>
            <a:ext cx="1554480" cy="868680"/>
          </a:xfrm>
          <a:prstGeom prst="rect">
            <a:avLst/>
          </a:prstGeom>
          <a:solidFill>
            <a:srgbClr val="5B8FF9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5577840" y="1299983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108192" y="1373135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Додавання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08192" y="1729751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+ 50 = 150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1299983"/>
            <a:ext cx="1554480" cy="868680"/>
          </a:xfrm>
          <a:prstGeom prst="rect">
            <a:avLst/>
          </a:prstGeom>
          <a:solidFill>
            <a:srgbClr val="5B8FF9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7269480" y="1299983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799832" y="1373135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Віднімання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99832" y="1729751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100 − 30 = 70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77840" y="2351543"/>
            <a:ext cx="1554480" cy="868680"/>
          </a:xfrm>
          <a:prstGeom prst="rect">
            <a:avLst/>
          </a:prstGeom>
          <a:solidFill>
            <a:srgbClr val="1A1F36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5577840" y="2351543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×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108192" y="2424695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Множення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08192" y="2781311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× 3 = 300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269480" y="2351543"/>
            <a:ext cx="1554480" cy="868680"/>
          </a:xfrm>
          <a:prstGeom prst="rect">
            <a:avLst/>
          </a:prstGeom>
          <a:solidFill>
            <a:srgbClr val="1A1F36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7269480" y="2351543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÷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799832" y="2424695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Ділення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99832" y="2781311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/ 4 = 25.0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3494543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 Python символи: +  −  *  /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Важливо: input повертає текст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47472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Проблема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931920" cy="192024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621792" y="153619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822960" y="153619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1024128" y="153619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94360" y="1737360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("Перше число: ")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("Друге число: ")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+ b)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Результат: "23" (не 5!)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3931920" cy="347472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84632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Рішення: int()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1417320"/>
            <a:ext cx="3931920" cy="192024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4919472" y="153619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5120640" y="153619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5321808" y="153619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892040" y="1737360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("Перше число: ")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("Друге число: ")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+ b)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Результат: 5  ✓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03320"/>
            <a:ext cx="8229600" cy="1143000"/>
          </a:xfrm>
          <a:prstGeom prst="rect">
            <a:avLst/>
          </a:prstGeom>
          <a:solidFill>
            <a:srgbClr val="1A1F36"/>
          </a:solidFill>
          <a:ln/>
          <a:effectLst>
            <a:outerShdw blurRad="762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640080" y="370332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повертає текст (рядок), тому "2" + "3" = "23" (склеювання)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int() перетворює текст на число, тому 2 + 3 = 5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⌨️  Практика 2: простий калькулятор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97280" cy="41148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389120" cy="566928"/>
          </a:xfrm>
          <a:prstGeom prst="rect">
            <a:avLst/>
          </a:prstGeom>
          <a:solidFill>
            <a:srgbClr val="1A2640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594360" y="1124712"/>
            <a:ext cx="384048" cy="38404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94360" y="1124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05156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Запитати два числа у користувача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09928"/>
            <a:ext cx="4389120" cy="566928"/>
          </a:xfrm>
          <a:prstGeom prst="rect">
            <a:avLst/>
          </a:prstGeom>
          <a:solidFill>
            <a:srgbClr val="1A2640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943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170992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суму (+)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368296"/>
            <a:ext cx="4389120" cy="566928"/>
          </a:xfrm>
          <a:prstGeom prst="rect">
            <a:avLst/>
          </a:prstGeom>
          <a:solidFill>
            <a:srgbClr val="1A2640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384048" cy="38404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36829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різницю (−)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026664"/>
            <a:ext cx="4389120" cy="566928"/>
          </a:xfrm>
          <a:prstGeom prst="rect">
            <a:avLst/>
          </a:prstGeom>
          <a:solidFill>
            <a:srgbClr val="1A2640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594360" y="3099816"/>
            <a:ext cx="384048" cy="38404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9436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02666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добуток (×)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3685032"/>
            <a:ext cx="4389120" cy="566928"/>
          </a:xfrm>
          <a:prstGeom prst="rect">
            <a:avLst/>
          </a:prstGeom>
          <a:solidFill>
            <a:srgbClr val="1A2640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594360" y="3758184"/>
            <a:ext cx="384048" cy="38404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594360" y="3758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368503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частку (÷)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120640" y="1051560"/>
            <a:ext cx="3749040" cy="333756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5257800" y="109728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Очікуваний результат: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120640" y="1463040"/>
            <a:ext cx="3749040" cy="233172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5285232" y="158191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Shape 26"/>
          <p:cNvSpPr/>
          <p:nvPr/>
        </p:nvSpPr>
        <p:spPr>
          <a:xfrm>
            <a:off x="5486400" y="158191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5687568" y="158191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5257800" y="178308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Перше число: </a:t>
            </a:r>
            <a:r>
              <a:rPr lang="en-US" sz="14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Друге число: </a:t>
            </a:r>
            <a:r>
              <a:rPr lang="en-US" sz="14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Сума: </a:t>
            </a:r>
            <a:r>
              <a:rPr lang="en-US" sz="14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Різниця: </a:t>
            </a:r>
            <a:r>
              <a:rPr lang="en-US" sz="14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Добуток: </a:t>
            </a:r>
            <a:r>
              <a:rPr lang="en-US" sz="14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Частка: </a:t>
            </a:r>
            <a:r>
              <a:rPr lang="en-US" sz="14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7200" y="446227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Введіть числа 10 і 4, щоб перевірити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Коментарі в коді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Коментар пишуть для людей — Python його не виконує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6400800" cy="196596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621792" y="158191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822960" y="158191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1024128" y="158191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94360" y="1783080"/>
            <a:ext cx="6126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Запитуємо ім'я користувача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7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7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7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("Як вас звати? ")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Виводимо вітання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7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("Вітаю,", name)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57200" y="3547872"/>
            <a:ext cx="8229600" cy="347472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48640" y="35478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8F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88720" y="3547872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Символ # починає коментар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941064"/>
            <a:ext cx="8229600" cy="347472"/>
          </a:xfrm>
          <a:prstGeom prst="rect">
            <a:avLst/>
          </a:prstGeom>
          <a:solidFill>
            <a:srgbClr val="F8F9FC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48640" y="394106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8F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👁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3941064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пропускає рядок з #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334256"/>
            <a:ext cx="8229600" cy="347472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48640" y="433425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8F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4334256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Пишіть, що і чому — не що саме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8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Цікавий факт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Програмісти більше читають код, ніж пишуть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8229600" cy="59436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6172200" cy="594360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Читання коду   ~75%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75120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200" b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200" b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Написання ~25%</a:t>
            </a:r>
            <a:endParaRPr lang="en-US" sz="1200" b="1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54864" cy="5029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Зрозумілі назви змінних економлять більше часу, ніж здається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310128"/>
            <a:ext cx="54864" cy="5029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685800" y="33101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Коментарі — це листи колегам (і собі через місяць)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54864" cy="5029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85800" y="405993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Хороший код читається як текст, без додаткових пояснень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A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💬  Питання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solidFill>
            <a:srgbClr val="1A2640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594360" y="1115568"/>
            <a:ext cx="475488" cy="47548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94360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10058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6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у вас в </a:t>
            </a:r>
            <a:r>
              <a:rPr lang="en-US" sz="16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побуті є повторювані розрахунки?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157276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Наприклад: рахуєте витрати, заповнюєте таблиці, підраховуєте щось щомісяця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solidFill>
            <a:srgbClr val="1A2640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594360" y="2395728"/>
            <a:ext cx="475488" cy="47548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94360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?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228600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 дані програма могла б запитувати у користувача?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28529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Ім'я, суму, кількість, дату — що важливо знати перед розрахунком?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solidFill>
            <a:srgbClr val="1A2640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594360" y="3675888"/>
            <a:ext cx="475488" cy="47548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94360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?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88720" y="35661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Який маленький помічник був би корисним саме вам?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13308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обов'язково складний — навіть простий підрахунок може заощадити час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Що ми вже вміємо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Підсумок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06908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365760" y="1051560"/>
            <a:ext cx="73152" cy="9601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02920" y="105156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▶️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188720" y="10515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Запускати Python-код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051560"/>
            <a:ext cx="406908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4709160" y="1051560"/>
            <a:ext cx="73152" cy="9601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846320" y="105156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📤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532120" y="10515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Виводити інформацію через print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65760" y="2194560"/>
            <a:ext cx="406908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365760" y="2194560"/>
            <a:ext cx="73152" cy="9601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02920" y="219456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❓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188720" y="21945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Запитувати дані через input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709160" y="2194560"/>
            <a:ext cx="406908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4709160" y="2194560"/>
            <a:ext cx="73152" cy="9601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4846320" y="219456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532120" y="21945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Зберігати значення у змінних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65760" y="3337560"/>
            <a:ext cx="406908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365760" y="3337560"/>
            <a:ext cx="73152" cy="9601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502920" y="333756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🔢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188720" y="33375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Робити прості розрахунки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709160" y="3337560"/>
            <a:ext cx="406908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4709160" y="3337560"/>
            <a:ext cx="73152" cy="9601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4846320" y="333756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532120" y="33375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Написати простий калькулятор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1721</TotalTime>
  <Words>896</Words>
  <Application>Microsoft Macintosh PowerPoint</Application>
  <PresentationFormat>On-screen Show (16:9)</PresentationFormat>
  <Paragraphs>231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Web — Заняття 1</dc:title>
  <dc:subject>PptxGenJS Presentation</dc:subject>
  <dc:creator>PptxGenJS</dc:creator>
  <cp:lastModifiedBy>Штефан Дмитро</cp:lastModifiedBy>
  <cp:revision>3</cp:revision>
  <dcterms:created xsi:type="dcterms:W3CDTF">2026-05-08T21:03:34Z</dcterms:created>
  <dcterms:modified xsi:type="dcterms:W3CDTF">2026-05-10T17:13:24Z</dcterms:modified>
</cp:coreProperties>
</file>