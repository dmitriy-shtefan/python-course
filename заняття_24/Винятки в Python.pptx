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4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027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F87171">
              <a:alpha val="7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uk-UA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Винятки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try, except, finally та raise — як писати код, що не падає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1764792" cy="420624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винятків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4709160"/>
            <a:ext cx="2670048" cy="420624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2816352" y="4709160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/ finally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15000" y="470916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41F38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715000" y="47091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195560" y="4892040"/>
            <a:ext cx="1371600" cy="137160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312" y="5133970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Що таке виняток?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696" y="676938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394960" cy="2409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Виняток (exception) — це подія, яка виникає під час виконання програми і порушує нормальний хід її роботи.</a:t>
            </a:r>
            <a:endParaRPr lang="uk-UA" sz="1500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Python зустрічає ситуацію, яку не може обробити природним шляхом — він створює об’єкт-виняток і "піднімає" його. Якщо ніхто його не перехопить — програма аварійно завершується.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67385" y="414719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895985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Ділення на нуль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7385" y="456781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895985" y="4443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Неіснуючий індекс списку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7385" y="4988438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895985" y="4864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не знайдено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7385" y="540906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895985" y="5285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Неправильний тип даних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63640" y="150876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653796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обробки — програма падає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37960" y="21031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6793992" y="2304288"/>
            <a:ext cx="43342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10 / 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93992" y="2569464"/>
            <a:ext cx="43342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ділимо на нуль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37960" y="3611880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8"/>
          <p:cNvSpPr/>
          <p:nvPr/>
        </p:nvSpPr>
        <p:spPr>
          <a:xfrm>
            <a:off x="6793992" y="3813048"/>
            <a:ext cx="43342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93992" y="4078224"/>
            <a:ext cx="43342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"main.py", line 1, in &lt;module&gt;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93992" y="4343400"/>
            <a:ext cx="43342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10 / 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93992" y="4608576"/>
            <a:ext cx="43342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division by zero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Типи винятків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Python помилки поділяються на дві великі групи. Розрізняти їх важливо: одні можна перехопити, інші — лише виправити в коді.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257800" cy="3886200"/>
          </a:xfrm>
          <a:prstGeom prst="roundRect">
            <a:avLst>
              <a:gd name="adj" fmla="val 2353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Синтаксичні помилки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16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Виникають ДО запуску програми — Python не може навіть прочитати код: пропущені двокрапки, дужки, неправильні відступи.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297680"/>
            <a:ext cx="4526280" cy="1554480"/>
          </a:xfrm>
          <a:prstGeom prst="roundRect">
            <a:avLst>
              <a:gd name="adj" fmla="val 4706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1124712" y="4498848"/>
            <a:ext cx="4014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&gt; 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24712" y="4764024"/>
            <a:ext cx="4014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4712" y="5029200"/>
            <a:ext cx="4014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забули " : " після умови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82512" y="2194560"/>
            <a:ext cx="5257800" cy="3886200"/>
          </a:xfrm>
          <a:prstGeom prst="roundRect">
            <a:avLst>
              <a:gd name="adj" fmla="val 2353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6702552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Винятки виконання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02552" y="2816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02552" y="32004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синтаксично правильний, але під час виконання виникає проблема: діємо з даними, яких немає, чи не тим типом.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702552" y="4297680"/>
            <a:ext cx="4526280" cy="1554480"/>
          </a:xfrm>
          <a:prstGeom prst="roundRect">
            <a:avLst>
              <a:gd name="adj" fmla="val 4706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6958584" y="4498848"/>
            <a:ext cx="4014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58584" y="4764024"/>
            <a:ext cx="4014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int(</a:t>
            </a: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58584" y="5029200"/>
            <a:ext cx="4014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58584" y="5294376"/>
            <a:ext cx="40142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можна перехопити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try / except / finally: навіщо це потрібно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стандартний механізм Python для перехоплення й обробки винятків, щоб програма не завершувалась аварійно, а могла коректно відреагувати на помилку.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318" y="280720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31729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що потенційно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 викликати помилку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520440" y="2926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4114800" y="251460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0"/>
          <p:cNvSpPr/>
          <p:nvPr/>
        </p:nvSpPr>
        <p:spPr>
          <a:xfrm>
            <a:off x="4343400" y="2715768"/>
            <a:ext cx="457200" cy="457200"/>
          </a:xfrm>
          <a:prstGeom prst="ellipse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8072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343400" y="31729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Спрацьовує лише якщо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виникла вказана помилка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086600" y="2926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7680960" y="251460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7909560" y="2715768"/>
            <a:ext cx="457200" cy="457200"/>
          </a:xfrm>
          <a:prstGeom prst="ellipse">
            <a:avLst/>
          </a:prstGeom>
          <a:solidFill>
            <a:srgbClr val="5EEAD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28072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39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909560" y="317296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Виконується завжди —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була помилка чи ні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Головні задачі конструкції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81410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0"/>
          <p:cNvSpPr/>
          <p:nvPr/>
        </p:nvSpPr>
        <p:spPr>
          <a:xfrm>
            <a:off x="777240" y="4663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дати програмі аварійно завершитись через передбачувану помилку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48640" y="527130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22"/>
          <p:cNvSpPr/>
          <p:nvPr/>
        </p:nvSpPr>
        <p:spPr>
          <a:xfrm>
            <a:off x="777240" y="5120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Показати користувачу зрозуміле повідомлення замість "страшного" traceback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548640" y="5728504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4"/>
          <p:cNvSpPr/>
          <p:nvPr/>
        </p:nvSpPr>
        <p:spPr>
          <a:xfrm>
            <a:off x="77724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Гарантовано звільнити ресурси: закрити файл, з’єднання з БД, мережевий сокет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Блок try та except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777240" y="1709928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62" y="1810512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Блок try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148840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Сюди поміщаємо код, який потенційно небезпечний. Python виконує його рядок за рядком — щойно виникає помилка, виконання блоку негайно зупиняється.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5120640" cy="2423160"/>
          </a:xfrm>
          <a:prstGeom prst="roundRect">
            <a:avLst>
              <a:gd name="adj" fmla="val 377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8"/>
          <p:cNvSpPr/>
          <p:nvPr/>
        </p:nvSpPr>
        <p:spPr>
          <a:xfrm>
            <a:off x="777240" y="3813048"/>
            <a:ext cx="502920" cy="502920"/>
          </a:xfrm>
          <a:prstGeom prst="ellipse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913632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794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Блок except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77240" y="425196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Перехоплює виняток певного типу й дає інструкції, що робити далі. Можна мати кілька except — від конкретного типу до загальнішого.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77240" y="52578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важливий: конкретні винятки — вище, загальні — нижче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989320" y="150876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3"/>
          <p:cNvSpPr/>
          <p:nvPr/>
        </p:nvSpPr>
        <p:spPr>
          <a:xfrm>
            <a:off x="6263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кілька except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210312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5"/>
          <p:cNvSpPr/>
          <p:nvPr/>
        </p:nvSpPr>
        <p:spPr>
          <a:xfrm>
            <a:off x="6519672" y="23042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19672" y="26471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 = int(input(</a:t>
            </a: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"Число: "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519672" y="29900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10 / number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519672" y="33329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print(result)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519672" y="36758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519672" y="40187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"Це не число!"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519672" y="43616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519672" y="47045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"На нуль ділити не можна"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519672" y="50474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e: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6519672" y="53903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3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"Інша помилка:"</a:t>
            </a: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e)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КОНСТРУКЦІЯ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Блок finally та повний приклад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5EEAD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120640" cy="4864608"/>
          </a:xfrm>
          <a:prstGeom prst="roundRect">
            <a:avLst>
              <a:gd name="adj" fmla="val 2020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5EEAD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470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755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Блок finally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" y="2331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Виконується завжди — незалежно від того, сталася помилка чи ні, і навіть якщо у except є return.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2296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Типове застосування: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34058" y="3736308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9"/>
          <p:cNvSpPr/>
          <p:nvPr/>
        </p:nvSpPr>
        <p:spPr>
          <a:xfrm>
            <a:off x="1162658" y="36118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Закрити відкритий файл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34058" y="4138644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1"/>
          <p:cNvSpPr/>
          <p:nvPr/>
        </p:nvSpPr>
        <p:spPr>
          <a:xfrm>
            <a:off x="1162658" y="401421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Розірвати з’єднання з базою даних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34058" y="454098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1162658" y="44165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Звільнити мережевий ресурс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34058" y="4943316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5"/>
          <p:cNvSpPr/>
          <p:nvPr/>
        </p:nvSpPr>
        <p:spPr>
          <a:xfrm>
            <a:off x="1162658" y="48188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Записати лог про завершення операції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" y="536889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→ except → finally = гарантована "чистота" незалежно від результату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89320" y="1508759"/>
            <a:ext cx="5669280" cy="4864609"/>
          </a:xfrm>
          <a:prstGeom prst="roundRect">
            <a:avLst>
              <a:gd name="adj" fmla="val 202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8"/>
          <p:cNvSpPr/>
          <p:nvPr/>
        </p:nvSpPr>
        <p:spPr>
          <a:xfrm>
            <a:off x="6263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робота з файлом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263640" y="2103120"/>
            <a:ext cx="5120640" cy="4060850"/>
          </a:xfrm>
          <a:prstGeom prst="roundRect">
            <a:avLst>
              <a:gd name="adj" fmla="val 1928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20"/>
          <p:cNvSpPr/>
          <p:nvPr/>
        </p:nvSpPr>
        <p:spPr>
          <a:xfrm>
            <a:off x="6519672" y="23042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</a:t>
            </a: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519672" y="26471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519672" y="29900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= open(</a:t>
            </a: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"data.txt"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519672" y="33329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 = file.read()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519672" y="36758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print(content)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519672" y="40187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19672" y="43616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"Файл не знайдено"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519672" y="47045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519672" y="50474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file: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519672" y="53903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file.close()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519672" y="5733288"/>
            <a:ext cx="4608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"Спробу завершено"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ДОВІДНИК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Базові типи винятків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2DD4BF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11109960" cy="457200"/>
          </a:xfrm>
          <a:prstGeom prst="roundRect">
            <a:avLst>
              <a:gd name="adj" fmla="val 12000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винятку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9768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виникає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коду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11109960" cy="594360"/>
          </a:xfrm>
          <a:prstGeom prst="rect">
            <a:avLst/>
          </a:prstGeom>
          <a:solidFill>
            <a:srgbClr val="141F38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0" y="2103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Ділення на нуль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0" y="21031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2697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297680" y="2697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Неправильне значення для операції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0" y="2697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int("abc")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291840"/>
            <a:ext cx="11109960" cy="594360"/>
          </a:xfrm>
          <a:prstGeom prst="rect">
            <a:avLst/>
          </a:prstGeom>
          <a:solidFill>
            <a:srgbClr val="141F38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822960" y="3291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97680" y="32918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Операція над несумісними типами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86800" y="3291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"2" + 2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2960" y="3886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297680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 за межами послідовності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686800" y="38862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[1,2][5]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480560"/>
            <a:ext cx="11109960" cy="594360"/>
          </a:xfrm>
          <a:prstGeom prst="rect">
            <a:avLst/>
          </a:prstGeom>
          <a:solidFill>
            <a:srgbClr val="141F38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822960" y="4480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297680" y="4480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Ключа немає у словнику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686800" y="4480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d["x"]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5074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297680" y="50749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не існує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686800" y="5074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open("no.txt")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5669280"/>
            <a:ext cx="11109960" cy="594360"/>
          </a:xfrm>
          <a:prstGeom prst="rect">
            <a:avLst/>
          </a:prstGeom>
          <a:solidFill>
            <a:srgbClr val="141F38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Text 29"/>
          <p:cNvSpPr/>
          <p:nvPr/>
        </p:nvSpPr>
        <p:spPr>
          <a:xfrm>
            <a:off x="822960" y="5669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AttributeError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297680" y="56692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Атрибута/методу не існує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686800" y="5669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"a".push()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ВИНЯТКІВ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Навіщо генерувати виняток самостійно?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Іноді код синтаксично коректний і нічого "не ламається" сам собою — але дані порушують бізнес-логіку. У такому випадку ми самі повідомляємо про помилку.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822960" y="2487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Валідація вхідних даних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443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Перевірити, що вік не від’ємний, email має формат, пароль достатньо довгий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4572000" y="2487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Fail fast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0" y="29443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Зупинити виконання одразу, щойно виявили проблему — а не пізніше з незрозумілою помилкою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8321040" y="2487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Чіткий контракт функції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21040" y="29443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Явно повідомити виклику, що саме пішло не так замість тихого некоректного результату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4"/>
          <p:cNvSpPr/>
          <p:nvPr/>
        </p:nvSpPr>
        <p:spPr>
          <a:xfrm>
            <a:off x="777240" y="4349380"/>
            <a:ext cx="502920" cy="50292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449964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4590" y="4434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Ключове слово raise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77240" y="4977500"/>
            <a:ext cx="4754880" cy="867823"/>
          </a:xfrm>
          <a:prstGeom prst="roundRect">
            <a:avLst>
              <a:gd name="adj" fmla="val 6957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7"/>
          <p:cNvSpPr/>
          <p:nvPr/>
        </p:nvSpPr>
        <p:spPr>
          <a:xfrm>
            <a:off x="1033272" y="5178668"/>
            <a:ext cx="4242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"текст помилки"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033272" y="5443844"/>
            <a:ext cx="4242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піднімає виняток негайно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89320" y="4251960"/>
            <a:ext cx="5669280" cy="1783080"/>
          </a:xfrm>
          <a:prstGeom prst="roundRect">
            <a:avLst>
              <a:gd name="adj" fmla="val 5128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20"/>
          <p:cNvSpPr/>
          <p:nvPr/>
        </p:nvSpPr>
        <p:spPr>
          <a:xfrm>
            <a:off x="626364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raise — коротка синтаксична форма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263640" y="4977500"/>
            <a:ext cx="5212080" cy="867823"/>
          </a:xfrm>
          <a:prstGeom prst="roundRect">
            <a:avLst>
              <a:gd name="adj" fmla="val 6957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2"/>
          <p:cNvSpPr/>
          <p:nvPr/>
        </p:nvSpPr>
        <p:spPr>
          <a:xfrm>
            <a:off x="6519672" y="5153030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повторно "прокидає" поточний виняток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519672" y="5418206"/>
            <a:ext cx="4700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RuntimeError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"..."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ВИНЯТКІВ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Приклади використання raise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257800" cy="4526280"/>
          </a:xfrm>
          <a:prstGeom prst="roundRect">
            <a:avLst>
              <a:gd name="adj" fmla="val 202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у функції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4709160" cy="3673837"/>
          </a:xfrm>
          <a:prstGeom prst="roundRect">
            <a:avLst>
              <a:gd name="adj" fmla="val 1928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1078992" y="2304288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set_age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(age):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78992" y="2610612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&lt; 0: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78992" y="2916936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78992" y="3223260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"Вік не може бути від'ємним"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78992" y="3529584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78992" y="3835908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78992" y="4142232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78992" y="4448556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78992" y="4754880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set_age(-5)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78992" y="5061204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e: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78992" y="5367528"/>
            <a:ext cx="419709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"Помилка: {e}"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89320" y="150876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141F3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8"/>
          <p:cNvSpPr/>
          <p:nvPr/>
        </p:nvSpPr>
        <p:spPr>
          <a:xfrm>
            <a:off x="62636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Власний клас винятку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2103120"/>
            <a:ext cx="5212080" cy="3673837"/>
          </a:xfrm>
          <a:prstGeom prst="roundRect">
            <a:avLst>
              <a:gd name="adj" fmla="val 1928"/>
            </a:avLst>
          </a:prstGeom>
          <a:solidFill>
            <a:srgbClr val="070B1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0"/>
          <p:cNvSpPr/>
          <p:nvPr/>
        </p:nvSpPr>
        <p:spPr>
          <a:xfrm>
            <a:off x="6519672" y="2304288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InsufficientFundsError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19672" y="2610612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19672" y="2916936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519672" y="3223260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withdraw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(balance, amount):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519672" y="3529584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amount &gt; balance: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519672" y="3835908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InsufficientFundsError(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519672" y="4142232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"Недостатньо коштів"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519672" y="4448556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519672" y="4754880"/>
            <a:ext cx="4700016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balance - amount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Винятки в Python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Що варто запам’ятати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607040" y="502920"/>
            <a:ext cx="868680" cy="868680"/>
          </a:xfrm>
          <a:prstGeom prst="ellipse">
            <a:avLst/>
          </a:prstGeom>
          <a:solidFill>
            <a:srgbClr val="5EEAD4">
              <a:alpha val="18000"/>
            </a:srgbClr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8150" y="694030"/>
            <a:ext cx="486461" cy="48646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5"/>
          <p:cNvSpPr/>
          <p:nvPr/>
        </p:nvSpPr>
        <p:spPr>
          <a:xfrm>
            <a:off x="777240" y="2112264"/>
            <a:ext cx="457200" cy="457200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914400" y="2249424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1463040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Виняток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63040" y="23317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подія, що порушує нормальний хід виконання програми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935224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777240" y="3172968"/>
            <a:ext cx="457200" cy="457200"/>
          </a:xfrm>
          <a:prstGeom prst="ellipse">
            <a:avLst/>
          </a:prstGeom>
          <a:solidFill>
            <a:srgbClr val="F87171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914400" y="3310128"/>
            <a:ext cx="182880" cy="18288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1463040" y="30540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try / except / finally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339242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перехоплюємо помилку, обробляємо її та завжди звільняємо ресурси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5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Shape 16"/>
          <p:cNvSpPr/>
          <p:nvPr/>
        </p:nvSpPr>
        <p:spPr>
          <a:xfrm>
            <a:off x="914400" y="4370832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146304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Базові типи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63040" y="44531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ZeroDivisionError, ValueError, TypeError, IndexError, KeyError та інші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056632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A26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0"/>
          <p:cNvSpPr/>
          <p:nvPr/>
        </p:nvSpPr>
        <p:spPr>
          <a:xfrm>
            <a:off x="777240" y="5294376"/>
            <a:ext cx="457200" cy="457200"/>
          </a:xfrm>
          <a:prstGeom prst="ellipse">
            <a:avLst/>
          </a:prstGeom>
          <a:solidFill>
            <a:srgbClr val="FBBF24">
              <a:alpha val="2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Shape 21"/>
          <p:cNvSpPr/>
          <p:nvPr/>
        </p:nvSpPr>
        <p:spPr>
          <a:xfrm>
            <a:off x="914400" y="543153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2"/>
          <p:cNvSpPr/>
          <p:nvPr/>
        </p:nvSpPr>
        <p:spPr>
          <a:xfrm>
            <a:off x="1463040" y="51755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raise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463040" y="55138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самі повідомляємо про порушення бізнес-логіки — валідація, fail fast, власні класи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982</Words>
  <Application>Microsoft Macintosh PowerPoint</Application>
  <PresentationFormat>Custom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2</cp:revision>
  <dcterms:created xsi:type="dcterms:W3CDTF">2026-07-31T21:01:43Z</dcterms:created>
  <dcterms:modified xsi:type="dcterms:W3CDTF">2026-08-01T06:45:04Z</dcterms:modified>
</cp:coreProperties>
</file>