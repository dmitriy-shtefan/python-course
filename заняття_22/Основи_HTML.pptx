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A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155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8720965" y="352044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96596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5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5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26060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Основи HTML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розмітки вебсторінок: структура, теги та практика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r>
              <a:rPr lang="en-US" sz="2200" b="1" dirty="0">
                <a:solidFill>
                  <a:srgbClr val="8A8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</a:t>
            </a:r>
            <a:r>
              <a:rPr lang="en-US" sz="22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4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практичне заняття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HTML?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777240" cy="77724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704088" y="1572768"/>
            <a:ext cx="466344" cy="466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173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</a:t>
            </a: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(HyperText Markup Language) — мова розмітки, якою побудована кожна вебсторінка.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834640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072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робить HTML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68680" y="338328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 структуру сторінки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Розмічає вміст: текст, заголовки, списки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Показує, куди вставити зображення, посилання, форми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355080" y="251460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83464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28072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Чого HTML НЕ робить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675120" y="3383280"/>
            <a:ext cx="46177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виконує обчислення й логіку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умов (if) і циклів (for) — це не мова програмування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відповідає за поведінку — цим займається JavaScript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Будова HTML-елемента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HTML-елемент складається з трьох частин — розберімо приклад: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E1E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r>
              <a:rPr lang="en-US" sz="26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Моя перша сторінка</a:t>
            </a:r>
            <a:r>
              <a:rPr lang="en-US" sz="26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794760" cy="1737360"/>
          </a:xfrm>
          <a:prstGeom prst="roundRect">
            <a:avLst>
              <a:gd name="adj" fmla="val 4211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411480" cy="109728"/>
          </a:xfrm>
          <a:prstGeom prst="rect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Відкривальний тег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343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позначає початок елемента: &lt;h1&gt;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3429000"/>
            <a:ext cx="3794760" cy="1737360"/>
          </a:xfrm>
          <a:prstGeom prst="roundRect">
            <a:avLst>
              <a:gd name="adj" fmla="val 4211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4434840" y="3703320"/>
            <a:ext cx="411480" cy="10972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43484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Вміст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4343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або інші елементи всередині тега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0" y="3429000"/>
            <a:ext cx="3794760" cy="1737360"/>
          </a:xfrm>
          <a:prstGeom prst="roundRect">
            <a:avLst>
              <a:gd name="adj" fmla="val 4211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8046720" y="3703320"/>
            <a:ext cx="411480" cy="109728"/>
          </a:xfrm>
          <a:prstGeom prst="rect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804672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Закривальний тег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434340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позначає кінець елемента: &lt;/h1&gt; (зі слешем)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Порада: </a:t>
            </a:r>
            <a:r>
              <a:rPr lang="en-US" sz="14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більшість тегів парні — але деякі, наприклад </a:t>
            </a: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r>
              <a:rPr lang="en-US" sz="14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закривального тега не мають.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Заголовки й абзаци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35040" cy="4937760"/>
          </a:xfrm>
          <a:prstGeom prst="roundRect">
            <a:avLst>
              <a:gd name="adj" fmla="val 1852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41732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Ієрархія заголовків &lt;h1&gt;–&lt;h6&gt;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 </a:t>
            </a:r>
            <a:r>
              <a:rPr lang="en-US" sz="2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1 рівня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29992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 </a:t>
            </a:r>
            <a:r>
              <a:rPr lang="en-US" sz="22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2 рівня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62102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 </a:t>
            </a:r>
            <a:r>
              <a:rPr lang="en-US" sz="19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3 рівня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2428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&lt;h4&gt; </a:t>
            </a:r>
            <a:r>
              <a:rPr lang="en-US" sz="1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4 рівня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8680" y="48646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&lt;h5&gt; </a:t>
            </a:r>
            <a:r>
              <a:rPr lang="en-US" sz="14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5 рівня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54864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&lt;h6&gt; </a:t>
            </a:r>
            <a:r>
              <a:rPr lang="en-US" sz="12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Заголовок 6 рівня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1417320"/>
            <a:ext cx="4754880" cy="2286000"/>
          </a:xfrm>
          <a:prstGeom prst="roundRect">
            <a:avLst>
              <a:gd name="adj" fmla="val 4000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7132320" y="1691640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0" y="1794510"/>
            <a:ext cx="251460" cy="2514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7266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Абзац &lt;p&gt;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178040" y="233172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— мова розмітки, яку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використовують для створення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 вебсторінок.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858000" y="4023360"/>
            <a:ext cx="4754880" cy="2331720"/>
          </a:xfrm>
          <a:prstGeom prst="roundRect">
            <a:avLst>
              <a:gd name="adj" fmla="val 3922"/>
            </a:avLst>
          </a:prstGeom>
          <a:solidFill>
            <a:srgbClr val="1E1E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6"/>
          <p:cNvSpPr/>
          <p:nvPr/>
        </p:nvSpPr>
        <p:spPr>
          <a:xfrm>
            <a:off x="7132320" y="4297680"/>
            <a:ext cx="457200" cy="457200"/>
          </a:xfrm>
          <a:prstGeom prst="ellipse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17"/>
          <p:cNvSpPr/>
          <p:nvPr/>
        </p:nvSpPr>
        <p:spPr>
          <a:xfrm>
            <a:off x="772668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ієрархії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178040" y="4892040"/>
            <a:ext cx="4114800" cy="1016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сторінці має бути лише один &lt;h1&gt;. Далі заголовки йдуть за змістом, без пропуску рівнів: h2 → h3 → h4.</a:t>
            </a:r>
            <a:endParaRPr lang="en-US" sz="13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1F2CA2-2994-B320-D9DB-B178BE91A88E}"/>
              </a:ext>
            </a:extLst>
          </p:cNvPr>
          <p:cNvSpPr txBox="1"/>
          <p:nvPr/>
        </p:nvSpPr>
        <p:spPr>
          <a:xfrm>
            <a:off x="836214" y="174843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b="1" dirty="0">
                <a:solidFill>
                  <a:schemeClr val="bg1"/>
                </a:solidFill>
              </a:rPr>
              <a:t>H1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5CE68F-24F4-9AC8-C6C4-4030DEDFD701}"/>
              </a:ext>
            </a:extLst>
          </p:cNvPr>
          <p:cNvSpPr txBox="1"/>
          <p:nvPr/>
        </p:nvSpPr>
        <p:spPr>
          <a:xfrm>
            <a:off x="7175278" y="429321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A" sz="24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Контейнери та вкладеність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Елементи можна вкладати один в інший — так утворюється структура сторінки (батьківські й дочірні елементи).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2A2A3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606040"/>
            <a:ext cx="4572000" cy="3474720"/>
          </a:xfrm>
          <a:prstGeom prst="roundRect">
            <a:avLst>
              <a:gd name="adj" fmla="val 2105"/>
            </a:avLst>
          </a:prstGeom>
          <a:solidFill>
            <a:srgbClr val="3535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1188720" y="2743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25880" y="3200400"/>
            <a:ext cx="3840480" cy="2468880"/>
          </a:xfrm>
          <a:prstGeom prst="roundRect">
            <a:avLst>
              <a:gd name="adj" fmla="val 2222"/>
            </a:avLst>
          </a:prstGeom>
          <a:solidFill>
            <a:srgbClr val="45454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1554480" y="3337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3749040"/>
            <a:ext cx="3383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Текст, зображення,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інші елементи…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349240" cy="2017709"/>
          </a:xfrm>
          <a:prstGeom prst="roundRect">
            <a:avLst>
              <a:gd name="adj" fmla="val 3200"/>
            </a:avLst>
          </a:prstGeom>
          <a:solidFill>
            <a:srgbClr val="1E1E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6537960" y="219456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&lt;section&gt;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9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Вміст…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&lt;/section&gt;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4233672"/>
            <a:ext cx="5349240" cy="2258568"/>
          </a:xfrm>
          <a:prstGeom prst="roundRect">
            <a:avLst>
              <a:gd name="adj" fmla="val 4762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6537960" y="4507992"/>
            <a:ext cx="457200" cy="45720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830" y="4610862"/>
            <a:ext cx="251460" cy="2514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132320" y="450799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це потрібно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583680" y="5102352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div, section, article — контейнери для групування вмісту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Дочірній елемент завжди лежить всередині батьківського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Відступи в коді (2–4 пробіли) не впливають на сторінку, але роблять код читабельним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646358"/>
          </a:xfrm>
          <a:prstGeom prst="roundRect">
            <a:avLst>
              <a:gd name="adj" fmla="val 1818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18505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Маркований список  </a:t>
            </a: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2377440"/>
            <a:ext cx="4709160" cy="1874520"/>
          </a:xfrm>
          <a:prstGeom prst="roundRect">
            <a:avLst>
              <a:gd name="adj" fmla="val 3256"/>
            </a:avLst>
          </a:prstGeom>
          <a:solidFill>
            <a:srgbClr val="1E1E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1051560" y="251460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&lt;li&gt;Пункт списку&lt;/li&gt;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&lt;li&gt;Пункт списку&lt;/li&gt;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480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51560" y="4800600"/>
            <a:ext cx="4343400" cy="77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списку</a:t>
            </a:r>
            <a:endParaRPr lang="en-US" sz="14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 списку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463040"/>
            <a:ext cx="5349240" cy="4646358"/>
          </a:xfrm>
          <a:prstGeom prst="roundRect">
            <a:avLst>
              <a:gd name="adj" fmla="val 1818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17" y="1850517"/>
            <a:ext cx="276606" cy="2766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17190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Нумерований список  </a:t>
            </a: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583680" y="2377440"/>
            <a:ext cx="4709160" cy="1874520"/>
          </a:xfrm>
          <a:prstGeom prst="roundRect">
            <a:avLst>
              <a:gd name="adj" fmla="val 3256"/>
            </a:avLst>
          </a:prstGeom>
          <a:solidFill>
            <a:srgbClr val="1E1E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6766560" y="2514600"/>
            <a:ext cx="4343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&lt;li&gt;Перший пункт&lt;/li&gt;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&lt;li&gt;Другий пункт&lt;/li&gt;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&lt;/ol&gt;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583680" y="44805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766560" y="4800600"/>
            <a:ext cx="4343400" cy="776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Перший пункт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Другий пункт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63880" y="622369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r>
              <a:rPr lang="en-US" sz="13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елемент списку. Використовується лише всередині </a:t>
            </a: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r>
              <a:rPr lang="en-US" sz="13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або </a:t>
            </a:r>
            <a:r>
              <a:rPr lang="en-US" sz="13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r>
              <a:rPr lang="en-US" sz="13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IMAGES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Посилання та зображення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5029200"/>
          </a:xfrm>
          <a:prstGeom prst="roundRect">
            <a:avLst>
              <a:gd name="adj" fmla="val 1818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17" y="18505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190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Посилання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68680" y="2556891"/>
            <a:ext cx="4709160" cy="1051560"/>
          </a:xfrm>
          <a:prstGeom prst="roundRect">
            <a:avLst>
              <a:gd name="adj" fmla="val 6087"/>
            </a:avLst>
          </a:prstGeom>
          <a:solidFill>
            <a:srgbClr val="1E1E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1051560" y="2556891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href="https://..."&gt;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Текст посилання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864482"/>
            <a:ext cx="4709160" cy="23991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</a:t>
            </a:r>
            <a:r>
              <a:rPr lang="en-US" sz="16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&lt;a&gt;</a:t>
            </a: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створює клікабельне посилання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 </a:t>
            </a:r>
            <a:r>
              <a:rPr lang="en-US" sz="1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href</a:t>
            </a: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вказує, куди вести перехід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63640" y="1463040"/>
            <a:ext cx="5349240" cy="5029200"/>
          </a:xfrm>
          <a:prstGeom prst="roundRect">
            <a:avLst>
              <a:gd name="adj" fmla="val 1818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6537960" y="1737360"/>
            <a:ext cx="502920" cy="50292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1117" y="185051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78040" y="17190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Зображення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6614160" y="2556891"/>
            <a:ext cx="4709160" cy="1051560"/>
          </a:xfrm>
          <a:prstGeom prst="roundRect">
            <a:avLst>
              <a:gd name="adj" fmla="val 6087"/>
            </a:avLst>
          </a:prstGeom>
          <a:solidFill>
            <a:srgbClr val="1E1E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2"/>
          <p:cNvSpPr/>
          <p:nvPr/>
        </p:nvSpPr>
        <p:spPr>
          <a:xfrm>
            <a:off x="6797040" y="2556891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src="lviv.jpg"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alt="Львів"&gt;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83680" y="3864482"/>
            <a:ext cx="4709160" cy="23991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20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Тег </a:t>
            </a:r>
            <a:r>
              <a:rPr lang="en-US" sz="16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&lt;img&gt;</a:t>
            </a: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вставляє зображення, тег без пари</a:t>
            </a:r>
            <a:endParaRPr lang="uk-UA" sz="1600" dirty="0">
              <a:solidFill>
                <a:srgbClr val="2424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lnSpc>
                <a:spcPct val="1200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 </a:t>
            </a: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шлях до файлу зображення</a:t>
            </a:r>
            <a:b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</a:t>
            </a: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текстовий опис (для </a:t>
            </a:r>
            <a:r>
              <a:rPr lang="uk-UA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підказки</a:t>
            </a:r>
            <a:r>
              <a:rPr lang="en-US" sz="16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якщо файл не завантажився)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Атрибути class та id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Атрибути додають елементу додаткову інформацію — і дозволяють звертатись до нього з CSS чи JavaScript.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2A2A3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548640" cy="54864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4094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5856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267919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групує елементи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використати на будь-якій кількості елементів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елемент може мати кілька класів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521208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17171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1097280" y="521208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class="highlight"&gt;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63640" y="196596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2A2A3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Shape 11"/>
          <p:cNvSpPr/>
          <p:nvPr/>
        </p:nvSpPr>
        <p:spPr>
          <a:xfrm>
            <a:off x="6583680" y="2286000"/>
            <a:ext cx="548640" cy="548640"/>
          </a:xfrm>
          <a:prstGeom prst="ellipse">
            <a:avLst/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24" y="240944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225856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269480" y="2679192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A9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унікальний ідентифікатор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3200400"/>
            <a:ext cx="4617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один елемент з таким id на сторінці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4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не повторюється в межах документа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9400" y="5212080"/>
            <a:ext cx="4617720" cy="914400"/>
          </a:xfrm>
          <a:prstGeom prst="roundRect">
            <a:avLst>
              <a:gd name="adj" fmla="val 7000"/>
            </a:avLst>
          </a:prstGeom>
          <a:solidFill>
            <a:srgbClr val="17171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/>
          <p:nvPr/>
        </p:nvSpPr>
        <p:spPr>
          <a:xfrm>
            <a:off x="6812280" y="5212080"/>
            <a:ext cx="4251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id="header"&gt;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Картка місця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Зберемо все разом: контейнер, заголовок, абзаци, зображення й атрибут class — в одній картці.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1E1E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A8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53035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 class="place-card"&gt;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&lt;img src="lviv.jpg"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alt="Львів"&gt;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&lt;h2&gt;Львів&lt;/h2&gt;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&lt;p&gt;Україна&lt;/p&gt;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&lt;p&gt;Місто старовинної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архітектури.&lt;/p&gt;</a:t>
            </a:r>
            <a:endParaRPr lang="en-US" sz="1450" dirty="0"/>
          </a:p>
          <a:p>
            <a:pPr marL="0" indent="0">
              <a:lnSpc>
                <a:spcPct val="128000"/>
              </a:lnSpc>
              <a:buNone/>
            </a:pPr>
            <a:r>
              <a:rPr lang="en-US" sz="1450" b="1" dirty="0">
                <a:solidFill>
                  <a:srgbClr val="E34F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0" y="205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0" y="2331720"/>
            <a:ext cx="4754880" cy="4160520"/>
          </a:xfrm>
          <a:prstGeom prst="roundRect">
            <a:avLst>
              <a:gd name="adj" fmla="val 2198"/>
            </a:avLst>
          </a:prstGeom>
          <a:solidFill>
            <a:srgbClr val="F6F6F8"/>
          </a:solidFill>
          <a:ln w="12700">
            <a:solidFill>
              <a:srgbClr val="E3E3E8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7178040" y="2651760"/>
            <a:ext cx="4114800" cy="2011680"/>
          </a:xfrm>
          <a:prstGeom prst="roundRect">
            <a:avLst>
              <a:gd name="adj" fmla="val 3182"/>
            </a:avLst>
          </a:prstGeom>
          <a:solidFill>
            <a:srgbClr val="DDE3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8869680" y="3291840"/>
            <a:ext cx="731520" cy="731520"/>
          </a:xfrm>
          <a:prstGeom prst="ellipse">
            <a:avLst/>
          </a:prstGeom>
          <a:solidFill>
            <a:srgbClr val="A9B4C0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3474720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78040" y="4846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Львів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178040" y="5349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Україна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78040" y="57150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4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Місто старовинної архітектури.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9235440" y="-5486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34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ПІДСУМОК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85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ми сьогодні вивчили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088136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548640" y="1600200"/>
            <a:ext cx="1088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01368" y="1600200"/>
            <a:ext cx="1403604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1801368" y="1600200"/>
            <a:ext cx="14036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&lt;h1&gt;–&lt;h6&gt;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69564" y="1600200"/>
            <a:ext cx="1005840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7"/>
          <p:cNvSpPr/>
          <p:nvPr/>
        </p:nvSpPr>
        <p:spPr>
          <a:xfrm>
            <a:off x="3369564" y="16002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39996" y="1600200"/>
            <a:ext cx="1005840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4539996" y="16002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10428" y="1600200"/>
            <a:ext cx="1403604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1"/>
          <p:cNvSpPr/>
          <p:nvPr/>
        </p:nvSpPr>
        <p:spPr>
          <a:xfrm>
            <a:off x="5710428" y="1600200"/>
            <a:ext cx="14036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278624" y="1600200"/>
            <a:ext cx="1403604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3"/>
          <p:cNvSpPr/>
          <p:nvPr/>
        </p:nvSpPr>
        <p:spPr>
          <a:xfrm>
            <a:off x="7278624" y="1600200"/>
            <a:ext cx="14036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846820" y="1600200"/>
            <a:ext cx="1005840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5"/>
          <p:cNvSpPr/>
          <p:nvPr/>
        </p:nvSpPr>
        <p:spPr>
          <a:xfrm>
            <a:off x="8846820" y="16002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&lt;ul&gt;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0017252" y="1600200"/>
            <a:ext cx="1005840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7"/>
          <p:cNvSpPr/>
          <p:nvPr/>
        </p:nvSpPr>
        <p:spPr>
          <a:xfrm>
            <a:off x="10017252" y="16002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&lt;ol&gt;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2286000"/>
            <a:ext cx="1005840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2" name="Text 19"/>
          <p:cNvSpPr/>
          <p:nvPr/>
        </p:nvSpPr>
        <p:spPr>
          <a:xfrm>
            <a:off x="548640" y="2286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&lt;li&gt;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719072" y="2286000"/>
            <a:ext cx="1298448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4" name="Text 21"/>
          <p:cNvSpPr/>
          <p:nvPr/>
        </p:nvSpPr>
        <p:spPr>
          <a:xfrm>
            <a:off x="1719072" y="2286000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href&gt;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3182112" y="2286000"/>
            <a:ext cx="1824228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3"/>
          <p:cNvSpPr/>
          <p:nvPr/>
        </p:nvSpPr>
        <p:spPr>
          <a:xfrm>
            <a:off x="3182112" y="2286000"/>
            <a:ext cx="18242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 alt&gt;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170932" y="2286000"/>
            <a:ext cx="1005840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25"/>
          <p:cNvSpPr/>
          <p:nvPr/>
        </p:nvSpPr>
        <p:spPr>
          <a:xfrm>
            <a:off x="5170932" y="2286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341364" y="2286000"/>
            <a:ext cx="1005840" cy="502920"/>
          </a:xfrm>
          <a:prstGeom prst="roundRect">
            <a:avLst>
              <a:gd name="adj" fmla="val 16364"/>
            </a:avLst>
          </a:prstGeom>
          <a:solidFill>
            <a:srgbClr val="2A2A33"/>
          </a:solidFill>
          <a:ln w="12700">
            <a:solidFill>
              <a:srgbClr val="3A3A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0" name="Text 27"/>
          <p:cNvSpPr/>
          <p:nvPr/>
        </p:nvSpPr>
        <p:spPr>
          <a:xfrm>
            <a:off x="6341364" y="2286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E34F2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2" name="Shape 29"/>
          <p:cNvSpPr/>
          <p:nvPr/>
        </p:nvSpPr>
        <p:spPr>
          <a:xfrm>
            <a:off x="868680" y="5001768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846" y="5186934"/>
            <a:ext cx="452628" cy="45262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920240" y="48737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Наступний крок</a:t>
            </a:r>
            <a:endParaRPr lang="en-US" sz="1800" dirty="0"/>
          </a:p>
        </p:txBody>
      </p:sp>
      <p:sp>
        <p:nvSpPr>
          <p:cNvPr id="35" name="Text 31"/>
          <p:cNvSpPr/>
          <p:nvPr/>
        </p:nvSpPr>
        <p:spPr>
          <a:xfrm>
            <a:off x="1920240" y="530352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Створіть власний .html-файл і зберіть у ньому картку про своє улюблене місце — за прикладом із практики.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749</Words>
  <Application>Microsoft Macintosh PowerPoint</Application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2</cp:revision>
  <dcterms:created xsi:type="dcterms:W3CDTF">2026-07-24T18:39:12Z</dcterms:created>
  <dcterms:modified xsi:type="dcterms:W3CDTF">2026-07-24T18:59:34Z</dcterms:modified>
</cp:coreProperties>
</file>