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C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819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62C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262C4A">
              <a:alpha val="36078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b="1" kern="0" spc="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</a:t>
            </a:r>
            <a:r>
              <a:rPr lang="en-US" sz="1400" b="1" kern="0" spc="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</a:t>
            </a:r>
            <a:r>
              <a:rPr lang="uk-UA" sz="1400" b="1" kern="0" spc="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додатків з використанням </a:t>
            </a:r>
            <a:r>
              <a:rPr lang="en-US" sz="1400" b="1" kern="0" spc="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HTML до CSS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каркас сторінки та перше підключення стилів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1691640" cy="777240"/>
          </a:xfrm>
          <a:prstGeom prst="roundRect">
            <a:avLst>
              <a:gd name="adj" fmla="val 16471"/>
            </a:avLst>
          </a:prstGeom>
          <a:solidFill>
            <a:srgbClr val="E44D2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1264888" y="37490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606040" y="37490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3154680" y="3749040"/>
            <a:ext cx="1691640" cy="777240"/>
          </a:xfrm>
          <a:prstGeom prst="roundRect">
            <a:avLst>
              <a:gd name="adj" fmla="val 16471"/>
            </a:avLst>
          </a:prstGeom>
          <a:solidFill>
            <a:srgbClr val="1F5FD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9"/>
          <p:cNvSpPr/>
          <p:nvPr/>
        </p:nvSpPr>
        <p:spPr>
          <a:xfrm>
            <a:off x="3737286" y="37490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базовий каркас HTML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Спочатку дивимось на каркас цілком — потім розбираємо його зверху вниз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10131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13232" y="16093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914400" y="16093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115568" y="16093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1371600" y="15361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847088"/>
            <a:ext cx="54864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</a:t>
            </a: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</a:t>
            </a:r>
            <a:r>
              <a:rPr lang="en-US" sz="14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"uk"</a:t>
            </a: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</a:t>
            </a: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</a:t>
            </a:r>
            <a:r>
              <a:rPr lang="en-US" sz="14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</a:t>
            </a:r>
            <a:r>
              <a:rPr lang="en-US" sz="14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Моя сторінка</a:t>
            </a: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03720" y="1463040"/>
            <a:ext cx="4709160" cy="1874520"/>
          </a:xfrm>
          <a:prstGeom prst="roundRect">
            <a:avLst>
              <a:gd name="adj" fmla="val 4878"/>
            </a:avLst>
          </a:prstGeom>
          <a:solidFill>
            <a:srgbClr val="E7EE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7159752" y="1719072"/>
            <a:ext cx="566928" cy="566928"/>
          </a:xfrm>
          <a:prstGeom prst="ellipse">
            <a:avLst/>
          </a:prstGeom>
          <a:solidFill>
            <a:srgbClr val="1F5FD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0" descr="icons/hea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7347345" y="1866473"/>
            <a:ext cx="272125" cy="2721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095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&lt;head&gt; — службова частина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159752" y="21488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Тут зберігаються налаштування сторінки для браузера: кодування, назва вкладки — усе, чого користувач не бачить напряму.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03720" y="3566160"/>
            <a:ext cx="4709160" cy="1874520"/>
          </a:xfrm>
          <a:prstGeom prst="roundRect">
            <a:avLst>
              <a:gd name="adj" fmla="val 4878"/>
            </a:avLst>
          </a:prstGeom>
          <a:solidFill>
            <a:srgbClr val="FBEAE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3"/>
          <p:cNvSpPr/>
          <p:nvPr/>
        </p:nvSpPr>
        <p:spPr>
          <a:xfrm>
            <a:off x="7159752" y="3822192"/>
            <a:ext cx="566928" cy="566928"/>
          </a:xfrm>
          <a:prstGeom prst="ellipse">
            <a:avLst/>
          </a:prstGeom>
          <a:solidFill>
            <a:srgbClr val="E44D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1" descr="icons/body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7317201" y="3969593"/>
            <a:ext cx="272125" cy="27212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0956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&lt;body&gt; — видимий вміст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159752" y="42519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Більшість нового HTML-коду ми створюємо саме тут: заголовки, текст, списки, картки, зображення.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HTML до CSS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&lt;!DOCTYPE html&gt; і тег &lt;html&gt;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Перші рядки будь-якого HTML-документа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10131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13232" y="16093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914400" y="16093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115568" y="16093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822960" y="1847088"/>
            <a:ext cx="10561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</a:t>
            </a:r>
            <a:r>
              <a:rPr lang="en-US" sz="16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</a:t>
            </a:r>
            <a:r>
              <a:rPr lang="en-US" sz="16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6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"uk"</a:t>
            </a:r>
            <a:r>
              <a:rPr lang="en-US" sz="16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600" dirty="0">
                <a:solidFill>
                  <a:srgbClr val="6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&lt;/html&gt;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BEAE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749808" y="3401568"/>
            <a:ext cx="502920" cy="502920"/>
          </a:xfrm>
          <a:prstGeom prst="ellipse">
            <a:avLst/>
          </a:prstGeom>
          <a:solidFill>
            <a:srgbClr val="E44D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0" descr="icons/tags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80567" y="3532327"/>
            <a:ext cx="241402" cy="24140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33467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37033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Повідомляє браузеру, що документ написаний сучасним HTML5.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0" y="32004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7EE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2"/>
          <p:cNvSpPr/>
          <p:nvPr/>
        </p:nvSpPr>
        <p:spPr>
          <a:xfrm>
            <a:off x="6419088" y="3401568"/>
            <a:ext cx="502920" cy="502920"/>
          </a:xfrm>
          <a:prstGeom prst="ellipse">
            <a:avLst/>
          </a:prstGeom>
          <a:solidFill>
            <a:srgbClr val="1F5FD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1" descr="icons/layers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6549847" y="3532327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86600" y="33467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 — корінь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086600" y="37033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Кореневий елемент, що містить увесь документ від початку до кінця.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" y="48463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BEAE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6"/>
          <p:cNvSpPr/>
          <p:nvPr/>
        </p:nvSpPr>
        <p:spPr>
          <a:xfrm>
            <a:off x="749808" y="5047488"/>
            <a:ext cx="502920" cy="502920"/>
          </a:xfrm>
          <a:prstGeom prst="ellipse">
            <a:avLst/>
          </a:prstGeom>
          <a:solidFill>
            <a:srgbClr val="E44D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2" descr="icons/link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880567" y="5178247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49926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lang="uk"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17320" y="53492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Вказує основну мову сторінки — важливо для доступності та пошуковиків.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217920" y="48463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7EE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Shape 20"/>
          <p:cNvSpPr/>
          <p:nvPr/>
        </p:nvSpPr>
        <p:spPr>
          <a:xfrm>
            <a:off x="6419088" y="5047488"/>
            <a:ext cx="502920" cy="502920"/>
          </a:xfrm>
          <a:prstGeom prst="ellipse">
            <a:avLst/>
          </a:prstGeom>
          <a:solidFill>
            <a:srgbClr val="1F5FD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6" name="Image 3" descr="icons/check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6549847" y="5178247"/>
            <a:ext cx="241402" cy="24140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86600" y="49926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Одна пара тегів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086600" y="53492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Відкривальний і закривальний &lt;html&gt; охоплюють і &lt;head&gt;, і &lt;body&gt;.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HTML до CSS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зберігається у &lt;head&gt;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Інформація для браузера, а не для очей користувача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10131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13232" y="16550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914400" y="16550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115568" y="16550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</a:t>
            </a:r>
            <a:r>
              <a:rPr lang="en-US" sz="15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</a:t>
            </a:r>
            <a:r>
              <a:rPr lang="en-US" sz="15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r>
              <a:rPr lang="en-US" sz="15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</a:t>
            </a:r>
            <a:r>
              <a:rPr lang="en-US" sz="15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Моя сторінка</a:t>
            </a:r>
            <a:r>
              <a:rPr lang="en-US" sz="15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50876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F4F5F8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6720840" y="173736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6858000" y="1892808"/>
            <a:ext cx="146304" cy="146304"/>
          </a:xfrm>
          <a:prstGeom prst="ellipse">
            <a:avLst/>
          </a:prstGeom>
          <a:solidFill>
            <a:srgbClr val="1F5FD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708660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Моя сторінка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2286000"/>
            <a:ext cx="4663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720840" y="2468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браузер підписує вкладку — саме це задає &lt;title&gt;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3611880" cy="2176272"/>
          </a:xfrm>
          <a:prstGeom prst="roundRect">
            <a:avLst>
              <a:gd name="adj" fmla="val 4211"/>
            </a:avLst>
          </a:prstGeom>
          <a:solidFill>
            <a:srgbClr val="E7EE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749808" y="3950208"/>
            <a:ext cx="502920" cy="502920"/>
          </a:xfrm>
          <a:prstGeom prst="ellipse">
            <a:avLst/>
          </a:prstGeom>
          <a:solidFill>
            <a:srgbClr val="1F5FD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0" descr="icons/layers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80567" y="4080967"/>
            <a:ext cx="241402" cy="24140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9808" y="457200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 основний вміст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9808" y="4882896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&lt;head&gt; містить дані для браузера, а не те, що бачить користувач на сторінці.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43400" y="3749039"/>
            <a:ext cx="3611880" cy="2176271"/>
          </a:xfrm>
          <a:prstGeom prst="roundRect">
            <a:avLst>
              <a:gd name="adj" fmla="val 4211"/>
            </a:avLst>
          </a:prstGeom>
          <a:solidFill>
            <a:srgbClr val="E7EE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8"/>
          <p:cNvSpPr/>
          <p:nvPr/>
        </p:nvSpPr>
        <p:spPr>
          <a:xfrm>
            <a:off x="4544568" y="3950208"/>
            <a:ext cx="502920" cy="502920"/>
          </a:xfrm>
          <a:prstGeom prst="ellipse">
            <a:avLst/>
          </a:prstGeom>
          <a:solidFill>
            <a:srgbClr val="1F5FD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1" descr="icons/check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4675327" y="4080967"/>
            <a:ext cx="241402" cy="24140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544568" y="457200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 UTF-8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544568" y="4882896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Забезпечує коректне відображення українських літер та інших символів.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138160" y="3749040"/>
            <a:ext cx="3611880" cy="2176270"/>
          </a:xfrm>
          <a:prstGeom prst="roundRect">
            <a:avLst>
              <a:gd name="adj" fmla="val 4211"/>
            </a:avLst>
          </a:prstGeom>
          <a:solidFill>
            <a:srgbClr val="E7EE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2"/>
          <p:cNvSpPr/>
          <p:nvPr/>
        </p:nvSpPr>
        <p:spPr>
          <a:xfrm>
            <a:off x="8339328" y="3950208"/>
            <a:ext cx="502920" cy="502920"/>
          </a:xfrm>
          <a:prstGeom prst="ellipse">
            <a:avLst/>
          </a:prstGeom>
          <a:solidFill>
            <a:srgbClr val="1F5FD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7" name="Image 2" descr="icons/tags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8470087" y="4080967"/>
            <a:ext cx="241402" cy="24140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39328" y="457200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8339328" y="4882896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Задає назву вкладки браузера — це не заголовок усередині самої сторінки.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HTML до CSS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зберігається у &lt;body&gt;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Усе, що бачить користувач на сторінці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10131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13232" y="16550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914400" y="16550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115568" y="16550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</a:t>
            </a:r>
            <a:r>
              <a:rPr lang="en-US" sz="14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Мої улюблені місця</a:t>
            </a: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</a:t>
            </a:r>
            <a:r>
              <a:rPr lang="en-US" sz="14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Місця, які я відвідав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або хочу відвідати.</a:t>
            </a: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50876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6492240" y="1508760"/>
            <a:ext cx="5120640" cy="310896"/>
          </a:xfrm>
          <a:prstGeom prst="rect">
            <a:avLst/>
          </a:prstGeom>
          <a:solidFill>
            <a:srgbClr val="F4F5F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6656832" y="160934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6839712" y="16093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7022592" y="160934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7315200" y="15087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у браузері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улюблені місця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Місця, які я відвідав або хочу відвідати.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BEAE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E44D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9" name="Image 0" descr="icons/body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19886" y="4348886"/>
            <a:ext cx="263347" cy="26334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0876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Заголовки, текст, списки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08760" y="45720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&lt;body&gt; — місце для h1–h6, p, ul/ol, посилань, зображень і карток.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17920" y="39776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BEAE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Shape 20"/>
          <p:cNvSpPr/>
          <p:nvPr/>
        </p:nvSpPr>
        <p:spPr>
          <a:xfrm>
            <a:off x="6446520" y="4206240"/>
            <a:ext cx="548640" cy="548640"/>
          </a:xfrm>
          <a:prstGeom prst="ellipse">
            <a:avLst/>
          </a:prstGeom>
          <a:solidFill>
            <a:srgbClr val="E44D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4" name="Image 1" descr="icons/body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6589166" y="4348886"/>
            <a:ext cx="263347" cy="26334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17804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Відступи допомагають читати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7178040" y="45720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Вкладеність та відступи в коді показують структуру документа наочно.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HTML до CSS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і CSS відповідають за різне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вміст — без стилів і зі стилями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4F5F8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БЕЗ CSS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Мої улюблені місця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Місця, які я відвідав або хочу відвідати.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Стандартний вигляд браузера — жодних кольорів чи відступів на вибір автора.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1A1F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64922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A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ІЗ CSS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9659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улюблені місця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514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Місця, які я відвідав або хочу відвідати.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31546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Колір, шрифт і відступи вибрав автор сторінки через CSS-правила.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BEAE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777240" y="4270248"/>
            <a:ext cx="548640" cy="548640"/>
          </a:xfrm>
          <a:prstGeom prst="ellipse">
            <a:avLst/>
          </a:prstGeom>
          <a:solidFill>
            <a:srgbClr val="E44D2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4"/>
          <p:cNvSpPr/>
          <p:nvPr/>
        </p:nvSpPr>
        <p:spPr>
          <a:xfrm>
            <a:off x="146304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— структура та зміст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63040" y="4663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Селектори тегів, класів та id — це місце зв'язку з CSS.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7EE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7"/>
          <p:cNvSpPr/>
          <p:nvPr/>
        </p:nvSpPr>
        <p:spPr>
          <a:xfrm>
            <a:off x="6492240" y="4270248"/>
            <a:ext cx="548640" cy="548640"/>
          </a:xfrm>
          <a:prstGeom prst="ellipse">
            <a:avLst/>
          </a:prstGeom>
          <a:solidFill>
            <a:srgbClr val="1F5FD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18"/>
          <p:cNvSpPr/>
          <p:nvPr/>
        </p:nvSpPr>
        <p:spPr>
          <a:xfrm>
            <a:off x="717804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— кольори, шрифти, розташування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178040" y="4663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Оформлює вибрані HTML-елементи, не замінюючи HTML.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HTML до CSS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6" name="Image 3" descr="icons/check.png">
            <a:extLst>
              <a:ext uri="{FF2B5EF4-FFF2-40B4-BE49-F238E27FC236}">
                <a16:creationId xmlns:a16="http://schemas.microsoft.com/office/drawing/2014/main" id="{67CFE477-577C-5F95-0FB5-0B6770AEAE7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6640279" y="4424628"/>
            <a:ext cx="241402" cy="241402"/>
          </a:xfrm>
          <a:prstGeom prst="rect">
            <a:avLst/>
          </a:prstGeom>
        </p:spPr>
      </p:pic>
      <p:pic>
        <p:nvPicPr>
          <p:cNvPr id="27" name="Image 1" descr="icons/layers.png">
            <a:extLst>
              <a:ext uri="{FF2B5EF4-FFF2-40B4-BE49-F238E27FC236}">
                <a16:creationId xmlns:a16="http://schemas.microsoft.com/office/drawing/2014/main" id="{95039F86-8C8F-16C2-AB19-6D4951D9AD3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931066" y="4411990"/>
            <a:ext cx="241402" cy="2414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Додаємо CSS через тег &lt;style&gt;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&lt;style&gt; розміщуємо всередині &lt;head&gt;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10131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13232" y="16093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914400" y="16093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115568" y="16093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1371600" y="1536192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847088"/>
            <a:ext cx="6172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</a:t>
            </a:r>
            <a:r>
              <a:rPr lang="en-US" sz="13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</a:t>
            </a:r>
            <a:r>
              <a:rPr lang="en-US" sz="13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r>
              <a:rPr lang="en-US" sz="13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</a:t>
            </a:r>
            <a:r>
              <a:rPr lang="en-US" sz="13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Мої улюблені місця</a:t>
            </a:r>
            <a:r>
              <a:rPr lang="en-US" sz="13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&lt;style&gt;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background-color</a:t>
            </a:r>
            <a:r>
              <a:rPr lang="en-US" sz="13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#f3f4f6</a:t>
            </a:r>
            <a:r>
              <a:rPr lang="en-US" sz="13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.main-title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color</a:t>
            </a:r>
            <a:r>
              <a:rPr lang="en-US" sz="13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#1d4ed8</a:t>
            </a:r>
            <a:r>
              <a:rPr lang="en-US" sz="13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&lt;/style&gt;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155448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7EE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7644384" y="1691640"/>
            <a:ext cx="502920" cy="502920"/>
          </a:xfrm>
          <a:prstGeom prst="ellipse">
            <a:avLst/>
          </a:prstGeom>
          <a:solidFill>
            <a:srgbClr val="1F5FD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0" descr="icons/check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7775143" y="1822399"/>
            <a:ext cx="241402" cy="24140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75320" y="15544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CSS-правила пишемо між &lt;style&gt; і &lt;/style&gt;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98080" y="2487168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7EE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2"/>
          <p:cNvSpPr/>
          <p:nvPr/>
        </p:nvSpPr>
        <p:spPr>
          <a:xfrm>
            <a:off x="7644384" y="2624328"/>
            <a:ext cx="502920" cy="502920"/>
          </a:xfrm>
          <a:prstGeom prst="ellipse">
            <a:avLst/>
          </a:prstGeom>
          <a:solidFill>
            <a:srgbClr val="1F5FD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1" descr="icons/check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7775143" y="2755087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75320" y="248716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Селектор визначає, який елемент оформлюємо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498080" y="341985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7EE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Shape 15"/>
          <p:cNvSpPr/>
          <p:nvPr/>
        </p:nvSpPr>
        <p:spPr>
          <a:xfrm>
            <a:off x="7644384" y="3557016"/>
            <a:ext cx="502920" cy="502920"/>
          </a:xfrm>
          <a:prstGeom prst="ellipse">
            <a:avLst/>
          </a:prstGeom>
          <a:solidFill>
            <a:srgbClr val="1F5FD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2" descr="icons/check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7775143" y="3687775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75320" y="341985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Фігурні дужки містять властивості та значення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498080" y="4398264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1A1F3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3" name="Image 3" descr="icons/link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7699248" y="455371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99248" y="497433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великих сайтів CSS зазвичай виносять в окремий файл: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7699248" y="52852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</a:t>
            </a:r>
            <a:r>
              <a:rPr lang="en-US" sz="105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href="styles.css"&gt;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HTML до CSS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Зв'язок зі Streamlit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st.html() приймає HTML і CSS разом, в одному рядку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3931920"/>
          </a:xfrm>
          <a:prstGeom prst="roundRect">
            <a:avLst>
              <a:gd name="adj" fmla="val 1860"/>
            </a:avLst>
          </a:prstGeom>
          <a:solidFill>
            <a:srgbClr val="10131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13232" y="16550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914400" y="16550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115568" y="16550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1371600" y="1581912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892808"/>
            <a:ext cx="10561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74C0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st.html(</a:t>
            </a:r>
            <a:r>
              <a:rPr lang="en-US" sz="14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.main-title {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color: #1d4ed8;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class="main-title"&gt;</a:t>
            </a:r>
            <a:r>
              <a:rPr lang="en-US" sz="14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Мої улюблені місця</a:t>
            </a:r>
            <a:r>
              <a:rPr lang="en-US" sz="1400" dirty="0">
                <a:solidFill>
                  <a:srgbClr val="6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6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4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Місця, які я відвідав або хочу відвідати.</a:t>
            </a:r>
            <a:r>
              <a:rPr lang="en-US" sz="1400" dirty="0">
                <a:solidFill>
                  <a:srgbClr val="6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6235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4F5F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2"/>
          <p:cNvSpPr/>
          <p:nvPr/>
        </p:nvSpPr>
        <p:spPr>
          <a:xfrm>
            <a:off x="804672" y="5623560"/>
            <a:ext cx="10579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HTML + CSS — усе разом в одному багаторядковому рядку st.html("""...""")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HTML до CSS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657600" cy="3657600"/>
          </a:xfrm>
          <a:prstGeom prst="ellipse">
            <a:avLst/>
          </a:prstGeom>
          <a:solidFill>
            <a:srgbClr val="262C4A">
              <a:alpha val="34118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3291840" cy="3291840"/>
          </a:xfrm>
          <a:prstGeom prst="ellipse">
            <a:avLst/>
          </a:prstGeom>
          <a:solidFill>
            <a:srgbClr val="262C4A">
              <a:alpha val="40784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77240" y="594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Підсумок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варто запам'ятати про каркас HTML і перше підключення CSS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262C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005840" y="2354580"/>
            <a:ext cx="548640" cy="548640"/>
          </a:xfrm>
          <a:prstGeom prst="ellipse">
            <a:avLst/>
          </a:prstGeom>
          <a:solidFill>
            <a:srgbClr val="E44D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0" descr="icons/tags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148486" y="24972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1214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DOCTYPE і &lt;html&gt;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37360" y="25146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та коренева мова lang="uk".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55080" y="19202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262C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6583680" y="2354580"/>
            <a:ext cx="548640" cy="548640"/>
          </a:xfrm>
          <a:prstGeom prst="ellipse">
            <a:avLst/>
          </a:prstGeom>
          <a:solidFill>
            <a:srgbClr val="E44D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icons/head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6766518" y="249722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21214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315200" y="25146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Кодування UTF-8 і назва вкладки &lt;title&gt;.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77240" y="36118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262C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3"/>
          <p:cNvSpPr/>
          <p:nvPr/>
        </p:nvSpPr>
        <p:spPr>
          <a:xfrm>
            <a:off x="1005840" y="4046220"/>
            <a:ext cx="548640" cy="548640"/>
          </a:xfrm>
          <a:prstGeom prst="ellipse">
            <a:avLst/>
          </a:prstGeom>
          <a:solidFill>
            <a:srgbClr val="E44D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2" descr="icons/body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148486" y="418886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38130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737360" y="42062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Увесь видимий вміст сторінки.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355080" y="36118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262C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17"/>
          <p:cNvSpPr/>
          <p:nvPr/>
        </p:nvSpPr>
        <p:spPr>
          <a:xfrm>
            <a:off x="6583680" y="4046220"/>
            <a:ext cx="548640" cy="548640"/>
          </a:xfrm>
          <a:prstGeom prst="ellipse">
            <a:avLst/>
          </a:prstGeom>
          <a:solidFill>
            <a:srgbClr val="1F5FD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3" name="Image 3" descr="icons/css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326" y="418886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38130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315200" y="42062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CSS-правила оформлюють вибрані елементи HTML.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HTML до CSS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29" name="Image 2" descr="icons/check.png">
            <a:extLst>
              <a:ext uri="{FF2B5EF4-FFF2-40B4-BE49-F238E27FC236}">
                <a16:creationId xmlns:a16="http://schemas.microsoft.com/office/drawing/2014/main" id="{F69630D8-330A-FBF9-7D7A-9199162BCBC7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6741870" y="4199839"/>
            <a:ext cx="241402" cy="241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818</Words>
  <Application>Microsoft Macintosh PowerPoint</Application>
  <PresentationFormat>Widescreen</PresentationFormat>
  <Paragraphs>149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Штефан Дмитро</cp:lastModifiedBy>
  <cp:revision>3</cp:revision>
  <dcterms:created xsi:type="dcterms:W3CDTF">2026-07-26T12:21:19Z</dcterms:created>
  <dcterms:modified xsi:type="dcterms:W3CDTF">2026-07-26T12:36:20Z</dcterms:modified>
</cp:coreProperties>
</file>