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10309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72B">
            <a:alpha val="97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822960"/>
            <a:ext cx="3657600" cy="3291840"/>
          </a:xfrm>
          <a:prstGeom prst="roundRect">
            <a:avLst>
              <a:gd name="adj" fmla="val 3333"/>
            </a:avLst>
          </a:prstGeom>
          <a:solidFill>
            <a:srgbClr val="12172B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" name="Shape 1"/>
          <p:cNvSpPr/>
          <p:nvPr/>
        </p:nvSpPr>
        <p:spPr>
          <a:xfrm>
            <a:off x="8156448" y="987552"/>
            <a:ext cx="109728" cy="109728"/>
          </a:xfrm>
          <a:prstGeom prst="ellipse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4" name="Shape 2"/>
          <p:cNvSpPr/>
          <p:nvPr/>
        </p:nvSpPr>
        <p:spPr>
          <a:xfrm>
            <a:off x="8375904" y="987552"/>
            <a:ext cx="109728" cy="109728"/>
          </a:xfrm>
          <a:prstGeom prst="ellipse">
            <a:avLst/>
          </a:prstGeom>
          <a:solidFill>
            <a:srgbClr val="8BD45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8595360" y="987552"/>
            <a:ext cx="109728" cy="109728"/>
          </a:xfrm>
          <a:prstGeom prst="ellipse">
            <a:avLst/>
          </a:prstGeom>
          <a:solidFill>
            <a:srgbClr val="4FD1C5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8275320" y="13716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.card </a:t>
            </a: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75320" y="17830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</a:t>
            </a: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300" dirty="0">
                <a:solidFill>
                  <a:srgbClr val="8BD4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white</a:t>
            </a: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75320" y="21945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padding</a:t>
            </a: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300" dirty="0">
                <a:solidFill>
                  <a:srgbClr val="8BD4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16px</a:t>
            </a: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75320" y="26060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border-radius</a:t>
            </a: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300" dirty="0">
                <a:solidFill>
                  <a:srgbClr val="8BD4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12px</a:t>
            </a: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75320" y="30175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1031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4360" y="246888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Основи CSS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640080" y="379476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Мова стилів, що відповідає за зовнішній вигляд веб-сторінки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2960" y="5669280"/>
            <a:ext cx="440218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uk-UA" sz="13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Розробка </a:t>
            </a:r>
            <a:r>
              <a:rPr lang="en-US" sz="13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</a:t>
            </a:r>
            <a:r>
              <a:rPr lang="uk-UA" sz="13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застосунків з використанням </a:t>
            </a:r>
            <a:r>
              <a:rPr lang="en-US" sz="13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21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Що таке CSS?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554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</a:t>
            </a:r>
            <a:r>
              <a:rPr lang="en-US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(Cascading Style Sheets) — каскадна таблиця стилів.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48640" y="2368296"/>
            <a:ext cx="91440" cy="91440"/>
          </a:xfrm>
          <a:prstGeom prst="ellipse">
            <a:avLst/>
          </a:prstGeom>
          <a:solidFill>
            <a:srgbClr val="4FD1C5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822960" y="2212848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 мова стилів — вона не створює контент, а описує, як він виглядає.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236976"/>
            <a:ext cx="91440" cy="91440"/>
          </a:xfrm>
          <a:prstGeom prst="ellipse">
            <a:avLst/>
          </a:prstGeom>
          <a:solidFill>
            <a:srgbClr val="4FD1C5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822960" y="3081528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відповідає за кольори, шрифти, відступи, розміри й розташування елементів.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4105656"/>
            <a:ext cx="91440" cy="91440"/>
          </a:xfrm>
          <a:prstGeom prst="ellipse">
            <a:avLst/>
          </a:prstGeom>
          <a:solidFill>
            <a:srgbClr val="4FD1C5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822960" y="3950208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задає структуру сторінки, а CSS — її оформлення.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309360" y="1417320"/>
            <a:ext cx="2606040" cy="42062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  <a:effectLst>
            <a:outerShdw blurRad="127000" dist="38100" dir="5400000" algn="bl" rotWithShape="0">
              <a:srgbClr val="1B2333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6309360" y="15544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83680" y="2057400"/>
            <a:ext cx="2057400" cy="320040"/>
          </a:xfrm>
          <a:prstGeom prst="rect">
            <a:avLst/>
          </a:prstGeom>
          <a:solidFill>
            <a:srgbClr val="D9DEE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3" name="Shape 11"/>
          <p:cNvSpPr/>
          <p:nvPr/>
        </p:nvSpPr>
        <p:spPr>
          <a:xfrm>
            <a:off x="6583680" y="2606040"/>
            <a:ext cx="2057400" cy="146304"/>
          </a:xfrm>
          <a:prstGeom prst="rect">
            <a:avLst/>
          </a:prstGeom>
          <a:solidFill>
            <a:srgbClr val="E6E9F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4" name="Shape 12"/>
          <p:cNvSpPr/>
          <p:nvPr/>
        </p:nvSpPr>
        <p:spPr>
          <a:xfrm>
            <a:off x="6583680" y="2898648"/>
            <a:ext cx="2057400" cy="146304"/>
          </a:xfrm>
          <a:prstGeom prst="rect">
            <a:avLst/>
          </a:prstGeom>
          <a:solidFill>
            <a:srgbClr val="E6E9F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5" name="Shape 13"/>
          <p:cNvSpPr/>
          <p:nvPr/>
        </p:nvSpPr>
        <p:spPr>
          <a:xfrm>
            <a:off x="6583680" y="3191256"/>
            <a:ext cx="2057400" cy="146304"/>
          </a:xfrm>
          <a:prstGeom prst="rect">
            <a:avLst/>
          </a:prstGeom>
          <a:solidFill>
            <a:srgbClr val="E6E9F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6" name="Shape 14"/>
          <p:cNvSpPr/>
          <p:nvPr/>
        </p:nvSpPr>
        <p:spPr>
          <a:xfrm>
            <a:off x="6583680" y="3703320"/>
            <a:ext cx="1188720" cy="365760"/>
          </a:xfrm>
          <a:prstGeom prst="rect">
            <a:avLst/>
          </a:prstGeom>
          <a:solidFill>
            <a:srgbClr val="C7CCD6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6309360" y="51206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стилів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933688" y="3017520"/>
            <a:ext cx="256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961120" y="3383280"/>
            <a:ext cx="182880" cy="274320"/>
          </a:xfrm>
          <a:prstGeom prst="rightArrow">
            <a:avLst/>
          </a:prstGeom>
          <a:solidFill>
            <a:srgbClr val="4FD1C5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0" name="Shape 18"/>
          <p:cNvSpPr/>
          <p:nvPr/>
        </p:nvSpPr>
        <p:spPr>
          <a:xfrm>
            <a:off x="9189720" y="1417320"/>
            <a:ext cx="2606040" cy="4206240"/>
          </a:xfrm>
          <a:prstGeom prst="roundRect">
            <a:avLst>
              <a:gd name="adj" fmla="val 3509"/>
            </a:avLst>
          </a:prstGeom>
          <a:solidFill>
            <a:srgbClr val="12172B"/>
          </a:solidFill>
          <a:ln w="12700">
            <a:solidFill>
              <a:srgbClr val="E2E6EE"/>
            </a:solidFill>
            <a:prstDash val="solid"/>
          </a:ln>
          <a:effectLst>
            <a:outerShdw blurRad="127000" dist="38100" dir="5400000" algn="bl" rotWithShape="0">
              <a:srgbClr val="1B2333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1" name="Text 19"/>
          <p:cNvSpPr/>
          <p:nvPr/>
        </p:nvSpPr>
        <p:spPr>
          <a:xfrm>
            <a:off x="9189720" y="15544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464040" y="2057400"/>
            <a:ext cx="2057400" cy="320040"/>
          </a:xfrm>
          <a:prstGeom prst="roundRect">
            <a:avLst>
              <a:gd name="adj" fmla="val 14286"/>
            </a:avLst>
          </a:prstGeom>
          <a:solidFill>
            <a:srgbClr val="4FD1C5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3" name="Shape 21"/>
          <p:cNvSpPr/>
          <p:nvPr/>
        </p:nvSpPr>
        <p:spPr>
          <a:xfrm>
            <a:off x="9464040" y="2606040"/>
            <a:ext cx="2057400" cy="146304"/>
          </a:xfrm>
          <a:prstGeom prst="rect">
            <a:avLst/>
          </a:prstGeom>
          <a:solidFill>
            <a:srgbClr val="3A4A6B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4" name="Shape 22"/>
          <p:cNvSpPr/>
          <p:nvPr/>
        </p:nvSpPr>
        <p:spPr>
          <a:xfrm>
            <a:off x="9464040" y="2898648"/>
            <a:ext cx="2057400" cy="146304"/>
          </a:xfrm>
          <a:prstGeom prst="rect">
            <a:avLst/>
          </a:prstGeom>
          <a:solidFill>
            <a:srgbClr val="3A4A6B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5" name="Shape 23"/>
          <p:cNvSpPr/>
          <p:nvPr/>
        </p:nvSpPr>
        <p:spPr>
          <a:xfrm>
            <a:off x="9464040" y="3191256"/>
            <a:ext cx="2057400" cy="146304"/>
          </a:xfrm>
          <a:prstGeom prst="rect">
            <a:avLst/>
          </a:prstGeom>
          <a:solidFill>
            <a:srgbClr val="3A4A6B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6" name="Shape 24"/>
          <p:cNvSpPr/>
          <p:nvPr/>
        </p:nvSpPr>
        <p:spPr>
          <a:xfrm>
            <a:off x="9464040" y="3703320"/>
            <a:ext cx="1188720" cy="365760"/>
          </a:xfrm>
          <a:prstGeom prst="roundRect">
            <a:avLst>
              <a:gd name="adj" fmla="val 20000"/>
            </a:avLst>
          </a:prstGeom>
          <a:solidFill>
            <a:srgbClr val="F4A261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7" name="Text 25"/>
          <p:cNvSpPr/>
          <p:nvPr/>
        </p:nvSpPr>
        <p:spPr>
          <a:xfrm>
            <a:off x="9189720" y="51206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зі стилями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9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9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Основи CSS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21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Як підключити CSS до сторінки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20440" cy="370332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  <a:effectLst>
            <a:outerShdw blurRad="127000" dist="38100" dir="5400000" algn="bl" rotWithShape="0">
              <a:srgbClr val="1B2333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594360" cy="594360"/>
          </a:xfrm>
          <a:prstGeom prst="ellipse">
            <a:avLst/>
          </a:prstGeom>
          <a:solidFill>
            <a:srgbClr val="12172B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5" name="Image 0" descr="/home/claude/css_pptx/icon_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" y="1840230"/>
            <a:ext cx="297180" cy="2971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4231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1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Атрибут style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22960" y="288036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Стилі прямо всередині тегу. Зручно для швидкої перевірки, але важко підтримувати.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22960" y="4069080"/>
            <a:ext cx="2971800" cy="864660"/>
          </a:xfrm>
          <a:prstGeom prst="roundRect">
            <a:avLst>
              <a:gd name="adj" fmla="val 9412"/>
            </a:avLst>
          </a:prstGeom>
          <a:solidFill>
            <a:srgbClr val="12172B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9" name="Text 6"/>
          <p:cNvSpPr/>
          <p:nvPr/>
        </p:nvSpPr>
        <p:spPr>
          <a:xfrm>
            <a:off x="960120" y="4178808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 style="color: red"&gt;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89120" y="1417320"/>
            <a:ext cx="3520440" cy="370332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  <a:effectLst>
            <a:outerShdw blurRad="127000" dist="38100" dir="5400000" algn="bl" rotWithShape="0">
              <a:srgbClr val="1B2333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1" name="Shape 8"/>
          <p:cNvSpPr/>
          <p:nvPr/>
        </p:nvSpPr>
        <p:spPr>
          <a:xfrm>
            <a:off x="4663440" y="1691640"/>
            <a:ext cx="594360" cy="594360"/>
          </a:xfrm>
          <a:prstGeom prst="ellipse">
            <a:avLst/>
          </a:prstGeom>
          <a:solidFill>
            <a:srgbClr val="12172B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2" name="Image 1" descr="/home/claude/css_pptx/icon_fileco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2030" y="1840230"/>
            <a:ext cx="297180" cy="2971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63440" y="24231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1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Тег &lt;style&gt;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663440" y="288036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Всі стилі зібрані в &lt;head&gt; документа. Добре підходить для навчальних прикладів.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4663440" y="4069079"/>
            <a:ext cx="2971800" cy="864661"/>
          </a:xfrm>
          <a:prstGeom prst="roundRect">
            <a:avLst>
              <a:gd name="adj" fmla="val 9412"/>
            </a:avLst>
          </a:prstGeom>
          <a:solidFill>
            <a:srgbClr val="12172B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6" name="Text 12"/>
          <p:cNvSpPr/>
          <p:nvPr/>
        </p:nvSpPr>
        <p:spPr>
          <a:xfrm>
            <a:off x="4800600" y="4178808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&lt;style&gt;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4800600" y="4398264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 { color: red; }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4800600" y="4617720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&lt;/style&gt;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8229600" y="1417320"/>
            <a:ext cx="3520440" cy="370332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  <a:effectLst>
            <a:outerShdw blurRad="127000" dist="38100" dir="5400000" algn="bl" rotWithShape="0">
              <a:srgbClr val="1B2333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0" name="Shape 16"/>
          <p:cNvSpPr/>
          <p:nvPr/>
        </p:nvSpPr>
        <p:spPr>
          <a:xfrm>
            <a:off x="8503920" y="1691640"/>
            <a:ext cx="594360" cy="594360"/>
          </a:xfrm>
          <a:prstGeom prst="ellipse">
            <a:avLst/>
          </a:prstGeom>
          <a:solidFill>
            <a:srgbClr val="12172B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1" name="Image 2" descr="/home/claude/css_pptx/icon_lay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2510" y="1840230"/>
            <a:ext cx="297180" cy="2971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503920" y="24231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1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Окремий файл</a:t>
            </a:r>
            <a:endParaRPr lang="en-US" sz="1700" dirty="0"/>
          </a:p>
        </p:txBody>
      </p:sp>
      <p:sp>
        <p:nvSpPr>
          <p:cNvPr id="23" name="Text 18"/>
          <p:cNvSpPr/>
          <p:nvPr/>
        </p:nvSpPr>
        <p:spPr>
          <a:xfrm>
            <a:off x="8503920" y="288036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styles.css підключається через &lt;link&gt;. Стандарт для реальних проєктів.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8503920" y="4069080"/>
            <a:ext cx="2971800" cy="864660"/>
          </a:xfrm>
          <a:prstGeom prst="roundRect">
            <a:avLst>
              <a:gd name="adj" fmla="val 9412"/>
            </a:avLst>
          </a:prstGeom>
          <a:solidFill>
            <a:srgbClr val="12172B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5" name="Text 20"/>
          <p:cNvSpPr/>
          <p:nvPr/>
        </p:nvSpPr>
        <p:spPr>
          <a:xfrm>
            <a:off x="8641080" y="4178808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&lt;link rel="stylesheet"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8641080" y="4398264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href="styles.css"&gt;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548640" y="534924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1B2B4B"/>
          </a:solidFill>
          <a:ln w="12700">
            <a:solidFill>
              <a:srgbClr val="2C3B63"/>
            </a:solidFill>
            <a:prstDash val="solid"/>
          </a:ln>
          <a:effectLst>
            <a:outerShdw blurRad="127000" dist="38100" dir="5400000" algn="bl" rotWithShape="0">
              <a:srgbClr val="1B2333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30" name="Text 24"/>
          <p:cNvSpPr/>
          <p:nvPr/>
        </p:nvSpPr>
        <p:spPr>
          <a:xfrm>
            <a:off x="822960" y="5349240"/>
            <a:ext cx="10561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навчального прикладу </a:t>
            </a: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 будемо використовувати тег </a:t>
            </a:r>
            <a:r>
              <a:rPr lang="en-US" sz="1500" b="1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&lt;style&gt;</a:t>
            </a:r>
            <a:endParaRPr lang="en-US" sz="1500" dirty="0"/>
          </a:p>
        </p:txBody>
      </p:sp>
      <p:sp>
        <p:nvSpPr>
          <p:cNvPr id="31" name="Text 25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9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9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Основи CSS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21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Будова CSS-правила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Кожне CSS-правило складається з трьох частин: селектор, властивість і значення.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737360" y="2011679"/>
            <a:ext cx="8686800" cy="2077999"/>
          </a:xfrm>
          <a:prstGeom prst="roundRect">
            <a:avLst>
              <a:gd name="adj" fmla="val 5581"/>
            </a:avLst>
          </a:prstGeom>
          <a:solidFill>
            <a:srgbClr val="12172B"/>
          </a:solidFill>
          <a:ln/>
          <a:effectLst>
            <a:outerShdw blurRad="152400" dist="50800" dir="5400000" algn="bl" rotWithShape="0">
              <a:srgbClr val="1B2333">
                <a:alpha val="2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1938528" y="2176272"/>
            <a:ext cx="109728" cy="109728"/>
          </a:xfrm>
          <a:prstGeom prst="ellipse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2157984" y="2176272"/>
            <a:ext cx="109728" cy="109728"/>
          </a:xfrm>
          <a:prstGeom prst="ellipse">
            <a:avLst/>
          </a:prstGeom>
          <a:solidFill>
            <a:srgbClr val="8BD45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2377440" y="2176272"/>
            <a:ext cx="109728" cy="109728"/>
          </a:xfrm>
          <a:prstGeom prst="ellipse">
            <a:avLst/>
          </a:prstGeom>
          <a:solidFill>
            <a:srgbClr val="4FD1C5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2194560" y="26060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.place-card </a:t>
            </a: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560320" y="306324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background-color</a:t>
            </a: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2200" b="1" dirty="0">
                <a:solidFill>
                  <a:srgbClr val="8BD4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white</a:t>
            </a: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194560" y="35204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48640" y="434340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  <a:effectLst>
            <a:outerShdw blurRad="127000" dist="38100" dir="5400000" algn="bl" rotWithShape="0">
              <a:srgbClr val="1B2333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2" name="Shape 10"/>
          <p:cNvSpPr/>
          <p:nvPr/>
        </p:nvSpPr>
        <p:spPr>
          <a:xfrm>
            <a:off x="548640" y="4343400"/>
            <a:ext cx="128016" cy="1691640"/>
          </a:xfrm>
          <a:prstGeom prst="rect">
            <a:avLst/>
          </a:prstGeom>
          <a:solidFill>
            <a:srgbClr val="4FD1C5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868680" y="454456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1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Селектор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8680" y="4965192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.place-card — до якого елемента застосувати стиль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389120" y="434340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  <a:effectLst>
            <a:outerShdw blurRad="127000" dist="38100" dir="5400000" algn="bl" rotWithShape="0">
              <a:srgbClr val="1B2333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6" name="Shape 14"/>
          <p:cNvSpPr/>
          <p:nvPr/>
        </p:nvSpPr>
        <p:spPr>
          <a:xfrm>
            <a:off x="4389120" y="4343400"/>
            <a:ext cx="128016" cy="169164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4709160" y="454456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1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Властивість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709160" y="4965192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background-color — що саме змінюємо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229600" y="434340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  <a:effectLst>
            <a:outerShdw blurRad="127000" dist="38100" dir="5400000" algn="bl" rotWithShape="0">
              <a:srgbClr val="1B2333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0" name="Shape 18"/>
          <p:cNvSpPr/>
          <p:nvPr/>
        </p:nvSpPr>
        <p:spPr>
          <a:xfrm>
            <a:off x="8229600" y="4343400"/>
            <a:ext cx="128016" cy="1691640"/>
          </a:xfrm>
          <a:prstGeom prst="rect">
            <a:avLst/>
          </a:prstGeom>
          <a:solidFill>
            <a:srgbClr val="8BD45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1" name="Text 19"/>
          <p:cNvSpPr/>
          <p:nvPr/>
        </p:nvSpPr>
        <p:spPr>
          <a:xfrm>
            <a:off x="8549640" y="454456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1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Значення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549640" y="4965192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— яким буде результат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9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9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Основи CSS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21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Основні селектори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20440" cy="448056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  <a:effectLst>
            <a:outerShdw blurRad="127000" dist="38100" dir="5400000" algn="bl" rotWithShape="0">
              <a:srgbClr val="1B2333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4" name="Shape 2"/>
          <p:cNvSpPr/>
          <p:nvPr/>
        </p:nvSpPr>
        <p:spPr>
          <a:xfrm>
            <a:off x="1965960" y="1783080"/>
            <a:ext cx="685800" cy="685800"/>
          </a:xfrm>
          <a:prstGeom prst="ellipse">
            <a:avLst/>
          </a:prstGeom>
          <a:solidFill>
            <a:srgbClr val="12172B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5" name="Image 0" descr="/home/claude/css_pptx/icon_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7410" y="1954530"/>
            <a:ext cx="342900" cy="3429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6060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1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 тегом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960120" y="3063240"/>
            <a:ext cx="2697480" cy="502920"/>
          </a:xfrm>
          <a:prstGeom prst="roundRect">
            <a:avLst>
              <a:gd name="adj" fmla="val 14545"/>
            </a:avLst>
          </a:prstGeom>
          <a:solidFill>
            <a:srgbClr val="12172B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8" name="Text 5"/>
          <p:cNvSpPr/>
          <p:nvPr/>
        </p:nvSpPr>
        <p:spPr>
          <a:xfrm>
            <a:off x="960120" y="306324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{ }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374904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Застосовує стиль до всіх елементів цього тегу на сторінці.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22960" y="4846320"/>
            <a:ext cx="2971800" cy="0"/>
          </a:xfrm>
          <a:prstGeom prst="line">
            <a:avLst/>
          </a:prstGeom>
          <a:noFill/>
          <a:ln w="12700">
            <a:solidFill>
              <a:srgbClr val="E2E6E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8"/>
          <p:cNvSpPr/>
          <p:nvPr/>
        </p:nvSpPr>
        <p:spPr>
          <a:xfrm>
            <a:off x="822960" y="498348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Усі абзаци &lt;p&gt; стануть однаковими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389120" y="1463040"/>
            <a:ext cx="3520440" cy="448056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  <a:effectLst>
            <a:outerShdw blurRad="127000" dist="38100" dir="5400000" algn="bl" rotWithShape="0">
              <a:srgbClr val="1B2333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3" name="Shape 10"/>
          <p:cNvSpPr/>
          <p:nvPr/>
        </p:nvSpPr>
        <p:spPr>
          <a:xfrm>
            <a:off x="5806440" y="1783080"/>
            <a:ext cx="685800" cy="685800"/>
          </a:xfrm>
          <a:prstGeom prst="ellipse">
            <a:avLst/>
          </a:prstGeom>
          <a:solidFill>
            <a:srgbClr val="12172B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4" name="Image 1" descr="/home/claude/css_pptx/icon_tag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7890" y="1954530"/>
            <a:ext cx="342900" cy="3429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572000" y="26060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1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 класом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4800600" y="3063240"/>
            <a:ext cx="2697480" cy="502920"/>
          </a:xfrm>
          <a:prstGeom prst="roundRect">
            <a:avLst>
              <a:gd name="adj" fmla="val 14545"/>
            </a:avLst>
          </a:prstGeom>
          <a:solidFill>
            <a:srgbClr val="12172B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7" name="Text 13"/>
          <p:cNvSpPr/>
          <p:nvPr/>
        </p:nvSpPr>
        <p:spPr>
          <a:xfrm>
            <a:off x="4800600" y="306324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.place-card { }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4663440" y="374904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Застосовує стиль до всіх елементів з таким класом.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4663440" y="4846320"/>
            <a:ext cx="2971800" cy="0"/>
          </a:xfrm>
          <a:prstGeom prst="line">
            <a:avLst/>
          </a:prstGeom>
          <a:noFill/>
          <a:ln w="12700">
            <a:solidFill>
              <a:srgbClr val="E2E6E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Text 16"/>
          <p:cNvSpPr/>
          <p:nvPr/>
        </p:nvSpPr>
        <p:spPr>
          <a:xfrm>
            <a:off x="4663440" y="498348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class="place-card" у HTML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8229600" y="1463040"/>
            <a:ext cx="3520440" cy="448056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  <a:effectLst>
            <a:outerShdw blurRad="127000" dist="38100" dir="5400000" algn="bl" rotWithShape="0">
              <a:srgbClr val="1B2333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2" name="Shape 18"/>
          <p:cNvSpPr/>
          <p:nvPr/>
        </p:nvSpPr>
        <p:spPr>
          <a:xfrm>
            <a:off x="9646920" y="1783080"/>
            <a:ext cx="685800" cy="685800"/>
          </a:xfrm>
          <a:prstGeom prst="ellipse">
            <a:avLst/>
          </a:prstGeom>
          <a:solidFill>
            <a:srgbClr val="12172B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3" name="Image 2" descr="/home/claude/css_pptx/icon_hashta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8370" y="1954530"/>
            <a:ext cx="342900" cy="3429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412480" y="26060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1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 ідентифікатором</a:t>
            </a:r>
            <a:endParaRPr lang="en-US" sz="1600" dirty="0"/>
          </a:p>
        </p:txBody>
      </p:sp>
      <p:sp>
        <p:nvSpPr>
          <p:cNvPr id="25" name="Shape 20"/>
          <p:cNvSpPr/>
          <p:nvPr/>
        </p:nvSpPr>
        <p:spPr>
          <a:xfrm>
            <a:off x="8641080" y="3063240"/>
            <a:ext cx="2697480" cy="502920"/>
          </a:xfrm>
          <a:prstGeom prst="roundRect">
            <a:avLst>
              <a:gd name="adj" fmla="val 14545"/>
            </a:avLst>
          </a:prstGeom>
          <a:solidFill>
            <a:srgbClr val="12172B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6" name="Text 21"/>
          <p:cNvSpPr/>
          <p:nvPr/>
        </p:nvSpPr>
        <p:spPr>
          <a:xfrm>
            <a:off x="8641080" y="306324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#main-title { }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8503920" y="374904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Застосовує стиль до єдиного унікального елемента.</a:t>
            </a:r>
            <a:endParaRPr lang="en-US" sz="1400" dirty="0"/>
          </a:p>
        </p:txBody>
      </p:sp>
      <p:sp>
        <p:nvSpPr>
          <p:cNvPr id="28" name="Shape 23"/>
          <p:cNvSpPr/>
          <p:nvPr/>
        </p:nvSpPr>
        <p:spPr>
          <a:xfrm>
            <a:off x="8503920" y="4846320"/>
            <a:ext cx="2971800" cy="0"/>
          </a:xfrm>
          <a:prstGeom prst="line">
            <a:avLst/>
          </a:prstGeom>
          <a:noFill/>
          <a:ln w="12700">
            <a:solidFill>
              <a:srgbClr val="E2E6E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9" name="Text 24"/>
          <p:cNvSpPr/>
          <p:nvPr/>
        </p:nvSpPr>
        <p:spPr>
          <a:xfrm>
            <a:off x="8503920" y="498348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id="main-title" у HTML</a:t>
            </a:r>
            <a:endParaRPr lang="en-US" sz="1150" dirty="0"/>
          </a:p>
        </p:txBody>
      </p:sp>
      <p:sp>
        <p:nvSpPr>
          <p:cNvPr id="30" name="Text 25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9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9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Основи CSS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21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Кольори й текст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9496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82296" cy="658368"/>
          </a:xfrm>
          <a:prstGeom prst="rect">
            <a:avLst/>
          </a:prstGeom>
          <a:solidFill>
            <a:srgbClr val="4FD1C5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1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200400" y="146304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колір тексту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539496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82296" cy="658368"/>
          </a:xfrm>
          <a:prstGeom prst="rect">
            <a:avLst/>
          </a:prstGeom>
          <a:solidFill>
            <a:srgbClr val="4FD1C5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822960" y="228600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1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background-color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200400" y="228600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колір фону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108960"/>
            <a:ext cx="539496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82296" cy="658368"/>
          </a:xfrm>
          <a:prstGeom prst="rect">
            <a:avLst/>
          </a:prstGeom>
          <a:solidFill>
            <a:srgbClr val="4FD1C5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822960" y="310896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1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font-family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200400" y="310896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шрифт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931920"/>
            <a:ext cx="539496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82296" cy="658368"/>
          </a:xfrm>
          <a:prstGeom prst="rect">
            <a:avLst/>
          </a:prstGeom>
          <a:solidFill>
            <a:srgbClr val="4FD1C5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822960" y="393192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1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font-size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200400" y="393192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розмір тексту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754880"/>
            <a:ext cx="539496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Shape 18"/>
          <p:cNvSpPr/>
          <p:nvPr/>
        </p:nvSpPr>
        <p:spPr>
          <a:xfrm>
            <a:off x="548640" y="4754880"/>
            <a:ext cx="82296" cy="658368"/>
          </a:xfrm>
          <a:prstGeom prst="rect">
            <a:avLst/>
          </a:prstGeom>
          <a:solidFill>
            <a:srgbClr val="4FD1C5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1" name="Text 19"/>
          <p:cNvSpPr/>
          <p:nvPr/>
        </p:nvSpPr>
        <p:spPr>
          <a:xfrm>
            <a:off x="822960" y="475488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1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font-weight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200400" y="475488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жирність тексту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92240" y="1463040"/>
            <a:ext cx="5120640" cy="1691640"/>
          </a:xfrm>
          <a:prstGeom prst="roundRect">
            <a:avLst>
              <a:gd name="adj" fmla="val 7742"/>
            </a:avLst>
          </a:prstGeom>
          <a:solidFill>
            <a:srgbClr val="12172B"/>
          </a:solidFill>
          <a:ln/>
          <a:effectLst>
            <a:outerShdw blurRad="152400" dist="50800" dir="5400000" algn="bl" rotWithShape="0">
              <a:srgbClr val="1B2333">
                <a:alpha val="2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4" name="Shape 22"/>
          <p:cNvSpPr/>
          <p:nvPr/>
        </p:nvSpPr>
        <p:spPr>
          <a:xfrm>
            <a:off x="6693408" y="1627632"/>
            <a:ext cx="109728" cy="109728"/>
          </a:xfrm>
          <a:prstGeom prst="ellipse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5" name="Shape 23"/>
          <p:cNvSpPr/>
          <p:nvPr/>
        </p:nvSpPr>
        <p:spPr>
          <a:xfrm>
            <a:off x="6912864" y="1627632"/>
            <a:ext cx="109728" cy="109728"/>
          </a:xfrm>
          <a:prstGeom prst="ellipse">
            <a:avLst/>
          </a:prstGeom>
          <a:solidFill>
            <a:srgbClr val="8BD45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6" name="Shape 24"/>
          <p:cNvSpPr/>
          <p:nvPr/>
        </p:nvSpPr>
        <p:spPr>
          <a:xfrm>
            <a:off x="7132320" y="1627632"/>
            <a:ext cx="109728" cy="109728"/>
          </a:xfrm>
          <a:prstGeom prst="ellipse">
            <a:avLst/>
          </a:prstGeom>
          <a:solidFill>
            <a:srgbClr val="4FD1C5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7" name="Text 25"/>
          <p:cNvSpPr/>
          <p:nvPr/>
        </p:nvSpPr>
        <p:spPr>
          <a:xfrm>
            <a:off x="6812280" y="19659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.title </a:t>
            </a: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132320" y="2240280"/>
            <a:ext cx="4206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300" dirty="0">
                <a:solidFill>
                  <a:srgbClr val="8BD4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navy</a:t>
            </a: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132320" y="24688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font-weight</a:t>
            </a: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300" dirty="0">
                <a:solidFill>
                  <a:srgbClr val="8BD4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bold</a:t>
            </a: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492240" y="3429000"/>
            <a:ext cx="51206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  <a:effectLst>
            <a:outerShdw blurRad="127000" dist="38100" dir="5400000" algn="bl" rotWithShape="0">
              <a:srgbClr val="1B2333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31" name="Text 29"/>
          <p:cNvSpPr/>
          <p:nvPr/>
        </p:nvSpPr>
        <p:spPr>
          <a:xfrm>
            <a:off x="6766560" y="37033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Improve Your Place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6766560" y="43434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 виглядає текст після застосування стилів кольору, шрифту й жирності.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766560" y="4937760"/>
            <a:ext cx="1920240" cy="502920"/>
          </a:xfrm>
          <a:prstGeom prst="roundRect">
            <a:avLst>
              <a:gd name="adj" fmla="val 49091"/>
            </a:avLst>
          </a:prstGeom>
          <a:solidFill>
            <a:srgbClr val="F4A261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4" name="Text 32"/>
          <p:cNvSpPr/>
          <p:nvPr/>
        </p:nvSpPr>
        <p:spPr>
          <a:xfrm>
            <a:off x="6766560" y="49377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background-color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9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9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Основи CSS</a:t>
            </a:r>
            <a:endParaRPr lang="en-US" sz="1000" dirty="0"/>
          </a:p>
        </p:txBody>
      </p:sp>
      <p:sp>
        <p:nvSpPr>
          <p:cNvPr id="37" name="Text 25">
            <a:extLst>
              <a:ext uri="{FF2B5EF4-FFF2-40B4-BE49-F238E27FC236}">
                <a16:creationId xmlns:a16="http://schemas.microsoft.com/office/drawing/2014/main" id="{5A69AC97-09E9-F398-F105-85E597FA94E2}"/>
              </a:ext>
            </a:extLst>
          </p:cNvPr>
          <p:cNvSpPr/>
          <p:nvPr/>
        </p:nvSpPr>
        <p:spPr>
          <a:xfrm>
            <a:off x="6803136" y="270205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21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Блокова модель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Кожен елемент — це прямокутний блок: вміст, обгорнутий у padding, border і margin.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206240" y="1874520"/>
            <a:ext cx="5852160" cy="4297680"/>
          </a:xfrm>
          <a:prstGeom prst="roundRect">
            <a:avLst>
              <a:gd name="adj" fmla="val 1702"/>
            </a:avLst>
          </a:prstGeom>
          <a:solidFill>
            <a:srgbClr val="FBE6D4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4754880" y="2331720"/>
            <a:ext cx="4754880" cy="3383280"/>
          </a:xfrm>
          <a:prstGeom prst="rect">
            <a:avLst/>
          </a:prstGeom>
          <a:solidFill>
            <a:srgbClr val="FBEFC7"/>
          </a:solidFill>
          <a:ln w="25400">
            <a:solidFill>
              <a:srgbClr val="9A7B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5166360" y="2697480"/>
            <a:ext cx="3931920" cy="2651760"/>
          </a:xfrm>
          <a:prstGeom prst="roundRect">
            <a:avLst>
              <a:gd name="adj" fmla="val 2759"/>
            </a:avLst>
          </a:prstGeom>
          <a:solidFill>
            <a:srgbClr val="D9F2E6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5760720" y="3291840"/>
            <a:ext cx="2743200" cy="1463040"/>
          </a:xfrm>
          <a:prstGeom prst="roundRect">
            <a:avLst>
              <a:gd name="adj" fmla="val 5000"/>
            </a:avLst>
          </a:prstGeom>
          <a:solidFill>
            <a:srgbClr val="12172B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4206240" y="194767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0" y="240487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A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166360" y="27706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760720" y="32918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вміст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103120"/>
            <a:ext cx="32004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  <a:effectLst>
            <a:outerShdw blurRad="127000" dist="38100" dir="5400000" algn="bl" rotWithShape="0">
              <a:srgbClr val="1B2333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777240" y="2103120"/>
            <a:ext cx="2743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E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 </a:t>
            </a:r>
            <a:r>
              <a:rPr lang="en-US" sz="14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внутрішній відступ, простір між вмістом і рамкою.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572000"/>
            <a:ext cx="32004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  <a:effectLst>
            <a:outerShdw blurRad="127000" dist="38100" dir="5400000" algn="bl" rotWithShape="0">
              <a:srgbClr val="1B2333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5" name="Text 13"/>
          <p:cNvSpPr/>
          <p:nvPr/>
        </p:nvSpPr>
        <p:spPr>
          <a:xfrm>
            <a:off x="777240" y="4572000"/>
            <a:ext cx="2743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</a:t>
            </a:r>
            <a:r>
              <a:rPr lang="en-US" sz="14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зовнішній відступ, простір між блоком і сусідніми елементами.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9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9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Основи CSS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21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Оформлення картки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120640" cy="4480560"/>
          </a:xfrm>
          <a:prstGeom prst="roundRect">
            <a:avLst>
              <a:gd name="adj" fmla="val 2449"/>
            </a:avLst>
          </a:prstGeom>
          <a:solidFill>
            <a:srgbClr val="12172B"/>
          </a:solidFill>
          <a:ln/>
          <a:effectLst>
            <a:outerShdw blurRad="152400" dist="50800" dir="5400000" algn="bl" rotWithShape="0">
              <a:srgbClr val="1B2333">
                <a:alpha val="2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4" name="Shape 2"/>
          <p:cNvSpPr/>
          <p:nvPr/>
        </p:nvSpPr>
        <p:spPr>
          <a:xfrm>
            <a:off x="749808" y="1581912"/>
            <a:ext cx="109728" cy="109728"/>
          </a:xfrm>
          <a:prstGeom prst="ellipse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969264" y="1581912"/>
            <a:ext cx="109728" cy="109728"/>
          </a:xfrm>
          <a:prstGeom prst="ellipse">
            <a:avLst/>
          </a:prstGeom>
          <a:solidFill>
            <a:srgbClr val="8BD45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1188720" y="1581912"/>
            <a:ext cx="109728" cy="109728"/>
          </a:xfrm>
          <a:prstGeom prst="ellipse">
            <a:avLst/>
          </a:prstGeom>
          <a:solidFill>
            <a:srgbClr val="4FD1C5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914400" y="20116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.place-card </a:t>
            </a:r>
            <a:r>
              <a:rPr lang="en-US" sz="1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14400" y="24688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width</a:t>
            </a:r>
            <a:r>
              <a:rPr lang="en-US" sz="1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450" dirty="0">
                <a:solidFill>
                  <a:srgbClr val="8BD4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280px</a:t>
            </a:r>
            <a:r>
              <a:rPr lang="en-US" sz="1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14400" y="29260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</a:t>
            </a:r>
            <a:r>
              <a:rPr lang="en-US" sz="1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450" dirty="0">
                <a:solidFill>
                  <a:srgbClr val="8BD4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1px solid #ddd</a:t>
            </a:r>
            <a:r>
              <a:rPr lang="en-US" sz="1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914400" y="33832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border-radius</a:t>
            </a:r>
            <a:r>
              <a:rPr lang="en-US" sz="1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450" dirty="0">
                <a:solidFill>
                  <a:srgbClr val="8BD4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14px</a:t>
            </a:r>
            <a:r>
              <a:rPr lang="en-US" sz="1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914400" y="38404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box-shadow</a:t>
            </a:r>
            <a:r>
              <a:rPr lang="en-US" sz="1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450" dirty="0">
                <a:solidFill>
                  <a:srgbClr val="8BD4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4px 12px</a:t>
            </a:r>
            <a:r>
              <a:rPr lang="en-US" sz="1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14400" y="42976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8BD4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rgba(0,0,0,.15)</a:t>
            </a:r>
            <a:r>
              <a:rPr lang="en-US" sz="1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914400" y="47548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overflow</a:t>
            </a:r>
            <a:r>
              <a:rPr lang="en-US" sz="1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450" dirty="0">
                <a:solidFill>
                  <a:srgbClr val="8BD4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hidden</a:t>
            </a:r>
            <a:r>
              <a:rPr lang="en-US" sz="1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914400" y="52120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263640" y="1737360"/>
            <a:ext cx="3063240" cy="3749040"/>
          </a:xfrm>
          <a:prstGeom prst="roundRect">
            <a:avLst>
              <a:gd name="adj" fmla="val 4776"/>
            </a:avLst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  <a:effectLst>
            <a:outerShdw blurRad="228600" dist="101600" dir="5400000" algn="bl" rotWithShape="0">
              <a:srgbClr val="1B2333">
                <a:alpha val="2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6" name="Shape 14"/>
          <p:cNvSpPr/>
          <p:nvPr/>
        </p:nvSpPr>
        <p:spPr>
          <a:xfrm>
            <a:off x="6263640" y="1737360"/>
            <a:ext cx="3063240" cy="1920240"/>
          </a:xfrm>
          <a:prstGeom prst="rect">
            <a:avLst/>
          </a:prstGeom>
          <a:solidFill>
            <a:srgbClr val="4FD1C5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7" name="Shape 15"/>
          <p:cNvSpPr/>
          <p:nvPr/>
        </p:nvSpPr>
        <p:spPr>
          <a:xfrm>
            <a:off x="7338060" y="224028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8" name="Image 0" descr="/home/claude/css_pptx/icon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6660" y="2468880"/>
            <a:ext cx="457200" cy="45720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6492240" y="38404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1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Місто мрії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6492240" y="425196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Затишне кафе у центрі міста з видом на парк.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9601200" y="17373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border-radius згладжує кути картки і зображення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9601200" y="31089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box-shadow додає глибини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9601200" y="39319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overflow: hidden обрізає зображення по контуру картки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9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9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Основи CSS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21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Розташування елементів через Flexbox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212080" cy="1920240"/>
          </a:xfrm>
          <a:prstGeom prst="roundRect">
            <a:avLst>
              <a:gd name="adj" fmla="val 6000"/>
            </a:avLst>
          </a:prstGeom>
          <a:solidFill>
            <a:srgbClr val="12172B"/>
          </a:solidFill>
          <a:ln/>
          <a:effectLst>
            <a:outerShdw blurRad="152400" dist="50800" dir="5400000" algn="bl" rotWithShape="0">
              <a:srgbClr val="1B2333">
                <a:alpha val="2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4" name="Shape 2"/>
          <p:cNvSpPr/>
          <p:nvPr/>
        </p:nvSpPr>
        <p:spPr>
          <a:xfrm>
            <a:off x="749808" y="1536192"/>
            <a:ext cx="109728" cy="109728"/>
          </a:xfrm>
          <a:prstGeom prst="ellipse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969264" y="1536192"/>
            <a:ext cx="109728" cy="109728"/>
          </a:xfrm>
          <a:prstGeom prst="ellipse">
            <a:avLst/>
          </a:prstGeom>
          <a:solidFill>
            <a:srgbClr val="8BD45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1188720" y="1536192"/>
            <a:ext cx="109728" cy="109728"/>
          </a:xfrm>
          <a:prstGeom prst="ellipse">
            <a:avLst/>
          </a:prstGeom>
          <a:solidFill>
            <a:srgbClr val="4FD1C5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914400" y="17373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.container </a:t>
            </a: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02996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</a:t>
            </a: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400" dirty="0">
                <a:solidFill>
                  <a:srgbClr val="8BD4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</a:t>
            </a: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232257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flex-wrap</a:t>
            </a: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400" dirty="0">
                <a:solidFill>
                  <a:srgbClr val="8BD4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wrap</a:t>
            </a: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61518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gap</a:t>
            </a: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400" dirty="0">
                <a:solidFill>
                  <a:srgbClr val="8BD4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16px</a:t>
            </a: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290779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751450"/>
            <a:ext cx="82296" cy="82296"/>
          </a:xfrm>
          <a:prstGeom prst="ellipse">
            <a:avLst/>
          </a:prstGeom>
          <a:solidFill>
            <a:srgbClr val="4FD1C5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777240" y="355581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1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display: flex </a:t>
            </a: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вмикає флекс-розташування для контейнера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104700"/>
            <a:ext cx="82296" cy="82296"/>
          </a:xfrm>
          <a:prstGeom prst="ellipse">
            <a:avLst/>
          </a:prstGeom>
          <a:solidFill>
            <a:srgbClr val="4FD1C5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5" name="Text 13"/>
          <p:cNvSpPr/>
          <p:nvPr/>
        </p:nvSpPr>
        <p:spPr>
          <a:xfrm>
            <a:off x="777240" y="390906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1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flex-wrap </a:t>
            </a: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дозволяє елементам переноситись на новий рядок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472620"/>
            <a:ext cx="82296" cy="82296"/>
          </a:xfrm>
          <a:prstGeom prst="ellipse">
            <a:avLst/>
          </a:prstGeom>
          <a:solidFill>
            <a:srgbClr val="4FD1C5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777240" y="427698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1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gap </a:t>
            </a: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задає відстань між елементами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309360" y="1371600"/>
            <a:ext cx="534924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  <a:effectLst>
            <a:outerShdw blurRad="127000" dist="38100" dir="5400000" algn="bl" rotWithShape="0">
              <a:srgbClr val="1B2333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9" name="Text 17"/>
          <p:cNvSpPr/>
          <p:nvPr/>
        </p:nvSpPr>
        <p:spPr>
          <a:xfrm>
            <a:off x="6583680" y="155448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.container { display: flex; flex-wrap: wrap; }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629400" y="2057400"/>
            <a:ext cx="1417320" cy="1417320"/>
          </a:xfrm>
          <a:prstGeom prst="roundRect">
            <a:avLst>
              <a:gd name="adj" fmla="val 6452"/>
            </a:avLst>
          </a:prstGeom>
          <a:solidFill>
            <a:srgbClr val="1B2B4B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1" name="Text 19"/>
          <p:cNvSpPr/>
          <p:nvPr/>
        </p:nvSpPr>
        <p:spPr>
          <a:xfrm>
            <a:off x="6629400" y="26289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Картка 1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302752" y="2057400"/>
            <a:ext cx="1417320" cy="1417320"/>
          </a:xfrm>
          <a:prstGeom prst="roundRect">
            <a:avLst>
              <a:gd name="adj" fmla="val 6452"/>
            </a:avLst>
          </a:prstGeom>
          <a:solidFill>
            <a:srgbClr val="4FD1C5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3" name="Text 21"/>
          <p:cNvSpPr/>
          <p:nvPr/>
        </p:nvSpPr>
        <p:spPr>
          <a:xfrm>
            <a:off x="8302752" y="26289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1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Картка 2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976104" y="2057400"/>
            <a:ext cx="1417320" cy="1417320"/>
          </a:xfrm>
          <a:prstGeom prst="roundRect">
            <a:avLst>
              <a:gd name="adj" fmla="val 6452"/>
            </a:avLst>
          </a:prstGeom>
          <a:solidFill>
            <a:srgbClr val="1B2B4B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5" name="Text 23"/>
          <p:cNvSpPr/>
          <p:nvPr/>
        </p:nvSpPr>
        <p:spPr>
          <a:xfrm>
            <a:off x="9976104" y="26289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Картка 3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629400" y="3730752"/>
            <a:ext cx="1417320" cy="1417320"/>
          </a:xfrm>
          <a:prstGeom prst="roundRect">
            <a:avLst>
              <a:gd name="adj" fmla="val 6452"/>
            </a:avLst>
          </a:prstGeom>
          <a:solidFill>
            <a:srgbClr val="4FD1C5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7" name="Text 25"/>
          <p:cNvSpPr/>
          <p:nvPr/>
        </p:nvSpPr>
        <p:spPr>
          <a:xfrm>
            <a:off x="6629400" y="430225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1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Картка 4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302752" y="3730752"/>
            <a:ext cx="1417320" cy="1417320"/>
          </a:xfrm>
          <a:prstGeom prst="roundRect">
            <a:avLst>
              <a:gd name="adj" fmla="val 6452"/>
            </a:avLst>
          </a:prstGeom>
          <a:solidFill>
            <a:srgbClr val="1B2B4B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9" name="Text 27"/>
          <p:cNvSpPr/>
          <p:nvPr/>
        </p:nvSpPr>
        <p:spPr>
          <a:xfrm>
            <a:off x="8302752" y="430225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Картка 5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976104" y="3730752"/>
            <a:ext cx="1417320" cy="1417320"/>
          </a:xfrm>
          <a:prstGeom prst="roundRect">
            <a:avLst>
              <a:gd name="adj" fmla="val 6452"/>
            </a:avLst>
          </a:prstGeom>
          <a:solidFill>
            <a:srgbClr val="4FD1C5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1" name="Text 29"/>
          <p:cNvSpPr/>
          <p:nvPr/>
        </p:nvSpPr>
        <p:spPr>
          <a:xfrm>
            <a:off x="9976104" y="430225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1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Картка 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583680" y="5349240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Картки автоматично переносяться на новий рядок, коли не вистачає місця в ряду.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9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9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Основи CSS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Ефект наведення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FD1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Псевдоклас :hover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120640" cy="1371600"/>
          </a:xfrm>
          <a:prstGeom prst="roundRect">
            <a:avLst>
              <a:gd name="adj" fmla="val 8000"/>
            </a:avLst>
          </a:prstGeom>
          <a:solidFill>
            <a:srgbClr val="1B2B4B"/>
          </a:solidFill>
          <a:ln/>
          <a:effectLst>
            <a:outerShdw blurRad="152400" dist="50800" dir="5400000" algn="bl" rotWithShape="0">
              <a:srgbClr val="1B2333">
                <a:alpha val="2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749808" y="1993392"/>
            <a:ext cx="109728" cy="109728"/>
          </a:xfrm>
          <a:prstGeom prst="ellipse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969264" y="1993392"/>
            <a:ext cx="109728" cy="109728"/>
          </a:xfrm>
          <a:prstGeom prst="ellipse">
            <a:avLst/>
          </a:prstGeom>
          <a:solidFill>
            <a:srgbClr val="8BD45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1188720" y="1993392"/>
            <a:ext cx="109728" cy="109728"/>
          </a:xfrm>
          <a:prstGeom prst="ellipse">
            <a:avLst/>
          </a:prstGeom>
          <a:solidFill>
            <a:srgbClr val="4FD1C5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914400" y="22860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.place-card:hover </a:t>
            </a: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26060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transform</a:t>
            </a: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400" dirty="0">
                <a:solidFill>
                  <a:srgbClr val="8BD4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scale(1.05)</a:t>
            </a: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9260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3520440"/>
            <a:ext cx="1737360" cy="1371600"/>
          </a:xfrm>
          <a:prstGeom prst="roundRect">
            <a:avLst>
              <a:gd name="adj" fmla="val 6667"/>
            </a:avLst>
          </a:prstGeom>
          <a:solidFill>
            <a:srgbClr val="1B2B4B"/>
          </a:solidFill>
          <a:ln w="12700">
            <a:solidFill>
              <a:srgbClr val="2C3B6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822960" y="40690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Картка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49834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звичайний стан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880360" y="4023360"/>
            <a:ext cx="640080" cy="365760"/>
          </a:xfrm>
          <a:prstGeom prst="rightArrow">
            <a:avLst/>
          </a:prstGeom>
          <a:solidFill>
            <a:srgbClr val="4FD1C5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5" name="Shape 13"/>
          <p:cNvSpPr/>
          <p:nvPr/>
        </p:nvSpPr>
        <p:spPr>
          <a:xfrm>
            <a:off x="3794760" y="3337560"/>
            <a:ext cx="2011680" cy="1700784"/>
          </a:xfrm>
          <a:prstGeom prst="roundRect">
            <a:avLst>
              <a:gd name="adj" fmla="val 6452"/>
            </a:avLst>
          </a:prstGeom>
          <a:solidFill>
            <a:srgbClr val="4FD1C5"/>
          </a:solidFill>
          <a:ln/>
          <a:effectLst>
            <a:outerShdw blurRad="203200" dist="762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/>
          <p:nvPr/>
        </p:nvSpPr>
        <p:spPr>
          <a:xfrm>
            <a:off x="3794760" y="40507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1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Картка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3520440" y="517550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 наведення (hover)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492240" y="1325880"/>
            <a:ext cx="5166360" cy="4937760"/>
          </a:xfrm>
          <a:prstGeom prst="roundRect">
            <a:avLst>
              <a:gd name="adj" fmla="val 1852"/>
            </a:avLst>
          </a:prstGeom>
          <a:solidFill>
            <a:srgbClr val="1B2B4B"/>
          </a:solidFill>
          <a:ln w="12700">
            <a:solidFill>
              <a:srgbClr val="2C3B63"/>
            </a:solidFill>
            <a:prstDash val="solid"/>
          </a:ln>
          <a:effectLst>
            <a:outerShdw blurRad="127000" dist="38100" dir="5400000" algn="bl" rotWithShape="0">
              <a:srgbClr val="1B2333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3" name="Text 19"/>
          <p:cNvSpPr/>
          <p:nvPr/>
        </p:nvSpPr>
        <p:spPr>
          <a:xfrm>
            <a:off x="6858000" y="164592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Практичне завдання</a:t>
            </a:r>
            <a:endParaRPr lang="en-US" sz="1800" dirty="0"/>
          </a:p>
        </p:txBody>
      </p:sp>
      <p:sp>
        <p:nvSpPr>
          <p:cNvPr id="24" name="Text 20"/>
          <p:cNvSpPr/>
          <p:nvPr/>
        </p:nvSpPr>
        <p:spPr>
          <a:xfrm>
            <a:off x="6858000" y="246888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Оформіть HTML-картку місця за допомогою CSS:</a:t>
            </a:r>
            <a:endParaRPr lang="en-US" sz="1350" dirty="0"/>
          </a:p>
        </p:txBody>
      </p:sp>
      <p:sp>
        <p:nvSpPr>
          <p:cNvPr id="25" name="Shape 21"/>
          <p:cNvSpPr/>
          <p:nvPr/>
        </p:nvSpPr>
        <p:spPr>
          <a:xfrm>
            <a:off x="6858000" y="3017520"/>
            <a:ext cx="292608" cy="292608"/>
          </a:xfrm>
          <a:prstGeom prst="ellipse">
            <a:avLst/>
          </a:prstGeom>
          <a:solidFill>
            <a:srgbClr val="2C3B63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6" name="Image 2" descr="/home/claude/css_pptx/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6522" y="3076042"/>
            <a:ext cx="175565" cy="175565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7315200" y="303480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Додайте клас .place-card і задайте фон та відступи</a:t>
            </a:r>
            <a:endParaRPr lang="en-US" sz="1250" dirty="0"/>
          </a:p>
        </p:txBody>
      </p:sp>
      <p:sp>
        <p:nvSpPr>
          <p:cNvPr id="28" name="Shape 23"/>
          <p:cNvSpPr/>
          <p:nvPr/>
        </p:nvSpPr>
        <p:spPr>
          <a:xfrm>
            <a:off x="6858000" y="3675888"/>
            <a:ext cx="292608" cy="292608"/>
          </a:xfrm>
          <a:prstGeom prst="ellipse">
            <a:avLst/>
          </a:prstGeom>
          <a:solidFill>
            <a:srgbClr val="2C3B63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9" name="Image 3" descr="/home/claude/css_pptx/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6522" y="3734410"/>
            <a:ext cx="175565" cy="175565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315200" y="3693168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Округліть кути через border-radius</a:t>
            </a:r>
            <a:endParaRPr lang="en-US" sz="1250" dirty="0"/>
          </a:p>
        </p:txBody>
      </p:sp>
      <p:sp>
        <p:nvSpPr>
          <p:cNvPr id="31" name="Shape 25"/>
          <p:cNvSpPr/>
          <p:nvPr/>
        </p:nvSpPr>
        <p:spPr>
          <a:xfrm>
            <a:off x="6858000" y="4334256"/>
            <a:ext cx="292608" cy="292608"/>
          </a:xfrm>
          <a:prstGeom prst="ellipse">
            <a:avLst/>
          </a:prstGeom>
          <a:solidFill>
            <a:srgbClr val="2C3B63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32" name="Image 4" descr="/home/claude/css_pptx/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6522" y="4392778"/>
            <a:ext cx="175565" cy="175565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7315200" y="4351536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Додайте box-shadow для об'єму</a:t>
            </a:r>
            <a:endParaRPr lang="en-US" sz="1250" dirty="0"/>
          </a:p>
        </p:txBody>
      </p:sp>
      <p:sp>
        <p:nvSpPr>
          <p:cNvPr id="34" name="Shape 27"/>
          <p:cNvSpPr/>
          <p:nvPr/>
        </p:nvSpPr>
        <p:spPr>
          <a:xfrm>
            <a:off x="6858000" y="4992624"/>
            <a:ext cx="292608" cy="292608"/>
          </a:xfrm>
          <a:prstGeom prst="ellipse">
            <a:avLst/>
          </a:prstGeom>
          <a:solidFill>
            <a:srgbClr val="2C3B63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35" name="Image 5" descr="/home/claude/css_pptx/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6522" y="5051146"/>
            <a:ext cx="175565" cy="175565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7315200" y="5009904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Розташуйте кілька карток через display: flex і gap</a:t>
            </a:r>
            <a:endParaRPr lang="en-US" sz="1250" dirty="0"/>
          </a:p>
        </p:txBody>
      </p:sp>
      <p:sp>
        <p:nvSpPr>
          <p:cNvPr id="37" name="Shape 29"/>
          <p:cNvSpPr/>
          <p:nvPr/>
        </p:nvSpPr>
        <p:spPr>
          <a:xfrm>
            <a:off x="6858000" y="5650992"/>
            <a:ext cx="292608" cy="292608"/>
          </a:xfrm>
          <a:prstGeom prst="ellipse">
            <a:avLst/>
          </a:prstGeom>
          <a:solidFill>
            <a:srgbClr val="2C3B63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38" name="Image 6" descr="/home/claude/css_pptx/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6522" y="5709514"/>
            <a:ext cx="175565" cy="175565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7315200" y="5668272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Додайте ефект :hover з transform: scale()</a:t>
            </a:r>
            <a:endParaRPr lang="en-US" sz="1250" dirty="0"/>
          </a:p>
        </p:txBody>
      </p:sp>
      <p:sp>
        <p:nvSpPr>
          <p:cNvPr id="40" name="Text 31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1" name="Text 32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8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Основи CSS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1861</TotalTime>
  <Words>661</Words>
  <Application>Microsoft Macintosh PowerPoint</Application>
  <PresentationFormat>Widescreen</PresentationFormat>
  <Paragraphs>158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Штефан Дмитро</cp:lastModifiedBy>
  <cp:revision>3</cp:revision>
  <dcterms:created xsi:type="dcterms:W3CDTF">2026-07-25T05:00:14Z</dcterms:created>
  <dcterms:modified xsi:type="dcterms:W3CDTF">2026-07-26T12:13:53Z</dcterms:modified>
</cp:coreProperties>
</file>