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5" r:id="rId6"/>
    <p:sldId id="266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78BFB"/>
    <a:srgbClr val="141A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460"/>
    <p:restoredTop sz="94610"/>
  </p:normalViewPr>
  <p:slideViewPr>
    <p:cSldViewPr snapToGrid="0" snapToObjects="1">
      <p:cViewPr>
        <p:scale>
          <a:sx n="130" d="100"/>
          <a:sy n="130" d="100"/>
        </p:scale>
        <p:origin x="936" y="6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35818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188720"/>
            <a:ext cx="3840480" cy="3840480"/>
          </a:xfrm>
          <a:prstGeom prst="ellipse">
            <a:avLst/>
          </a:prstGeom>
          <a:solidFill>
            <a:srgbClr val="141A47">
              <a:alpha val="50196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Shape 1"/>
          <p:cNvSpPr/>
          <p:nvPr/>
        </p:nvSpPr>
        <p:spPr>
          <a:xfrm>
            <a:off x="-1371600" y="4754880"/>
            <a:ext cx="3108960" cy="3108960"/>
          </a:xfrm>
          <a:prstGeom prst="ellipse">
            <a:avLst/>
          </a:prstGeom>
          <a:solidFill>
            <a:srgbClr val="141A47">
              <a:alpha val="43922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4" name="Shape 2"/>
          <p:cNvSpPr/>
          <p:nvPr/>
        </p:nvSpPr>
        <p:spPr>
          <a:xfrm>
            <a:off x="731520" y="731520"/>
            <a:ext cx="1371600" cy="13716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Text 3"/>
          <p:cNvSpPr/>
          <p:nvPr/>
        </p:nvSpPr>
        <p:spPr>
          <a:xfrm>
            <a:off x="822960" y="233172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kern="0" spc="400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ООП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822960" y="2788920"/>
            <a:ext cx="9875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Об'єктно-орієнтоване програмування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822960" y="39776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Класи, об'єкти та методи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1300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Створення </a:t>
            </a:r>
            <a:r>
              <a:rPr lang="en-US" sz="1300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</a:t>
            </a:r>
            <a:r>
              <a:rPr lang="uk-UA" sz="1300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додатків з використанням </a:t>
            </a:r>
            <a:r>
              <a:rPr lang="en-US" sz="1300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pic>
        <p:nvPicPr>
          <p:cNvPr id="10" name="Image 0" descr="/home/claude/oop_deck/icons/userGrad_navy.png">
            <a:extLst>
              <a:ext uri="{FF2B5EF4-FFF2-40B4-BE49-F238E27FC236}">
                <a16:creationId xmlns:a16="http://schemas.microsoft.com/office/drawing/2014/main" id="{238D7329-8A05-28A7-3A89-019C94BF78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408" y="1052248"/>
            <a:ext cx="714609" cy="7146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90372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Цілі заняття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UA" dirty="0"/>
          </a:p>
        </p:txBody>
      </p:sp>
      <p:sp>
        <p:nvSpPr>
          <p:cNvPr id="5" name="Shape 3"/>
          <p:cNvSpPr/>
          <p:nvPr/>
        </p:nvSpPr>
        <p:spPr>
          <a:xfrm>
            <a:off x="845820" y="256032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oop_deck/icons/gradCa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526" y="274685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13055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uk-UA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З</a:t>
            </a: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найомство з ООП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83080" y="26974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</a:pPr>
            <a:r>
              <a:rPr lang="en-UA" sz="1400" dirty="0">
                <a:solidFill>
                  <a:srgbClr val="CADCFC"/>
                </a:solidFill>
                <a:latin typeface="Calibri" pitchFamily="34" charset="0"/>
                <a:cs typeface="Calibri" pitchFamily="34" charset="-120"/>
              </a:rPr>
              <a:t>ООП — це спосіб будувати програму з об’єктів, які мають власні дані та можуть виконувати певні дії.</a:t>
            </a:r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87452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6423660" y="256032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1" descr="/home/claude/oop_deck/icons/layerGroup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198" y="274685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360920" y="213055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 — це шаблон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7360920" y="269748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 об'єкт — конкретний екземпляр, створений за цим шаблоном.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429768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Shape 11"/>
          <p:cNvSpPr/>
          <p:nvPr/>
        </p:nvSpPr>
        <p:spPr>
          <a:xfrm>
            <a:off x="845820" y="498348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2" descr="/home/claude/oop_deck/icons/listUl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2358" y="517001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455371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Словник проти класу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1783080" y="51206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Порівняємо два способи описати один запис — і зрозуміємо, навіщо потрібен клас.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217920" y="4297680"/>
            <a:ext cx="5257800" cy="2148840"/>
          </a:xfrm>
          <a:prstGeom prst="roundRect">
            <a:avLst>
              <a:gd name="adj" fmla="val 5106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0" name="Shape 15"/>
          <p:cNvSpPr/>
          <p:nvPr/>
        </p:nvSpPr>
        <p:spPr>
          <a:xfrm>
            <a:off x="6423660" y="4983480"/>
            <a:ext cx="777240" cy="77724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1" name="Image 3" descr="/home/claude/oop_deck/icons/cogs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0198" y="517001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360920" y="4553712"/>
            <a:ext cx="3886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 — функція в класі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7360920" y="5120640"/>
            <a:ext cx="38404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Побачимо, як звичайна функція перетворюється на дію об'єкта.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 — це шаблон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3C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Уявіть креслення будинку. Саме креслення — ще не будинок.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5394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3C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 описує, </a:t>
            </a: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 дані</a:t>
            </a:r>
            <a:r>
              <a:rPr lang="en-US" sz="1600" dirty="0">
                <a:solidFill>
                  <a:srgbClr val="3C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та </a:t>
            </a: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які дії</a:t>
            </a:r>
            <a:r>
              <a:rPr lang="en-US" sz="1600" dirty="0">
                <a:solidFill>
                  <a:srgbClr val="3C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будуть у кожного об'єкта — але сам по собі клас не є жодним конкретним студентом, машиною чи товаром.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2743200" y="3840480"/>
            <a:ext cx="1188720" cy="1188720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oop_deck/icons/layerGroup_white.png"/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3028493" y="4125773"/>
            <a:ext cx="618134" cy="6181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5120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 = креслення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92239" y="1737360"/>
            <a:ext cx="5296637" cy="2651760"/>
          </a:xfrm>
          <a:prstGeom prst="roundRect">
            <a:avLst>
              <a:gd name="adj" fmla="val 3448"/>
            </a:avLst>
          </a:prstGeom>
          <a:solidFill>
            <a:srgbClr val="10163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Text 6"/>
          <p:cNvSpPr/>
          <p:nvPr/>
        </p:nvSpPr>
        <p:spPr>
          <a:xfrm>
            <a:off x="6748272" y="1920240"/>
            <a:ext cx="4803648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Клас — шаблон для майбутніх студентів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Student: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pass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Поки що клас нікого не описує —</a:t>
            </a:r>
            <a:endParaRPr lang="en-US" sz="16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6B78A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лише каже, що таке "Student" загалом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492240" y="4617720"/>
            <a:ext cx="5296636" cy="1417320"/>
          </a:xfrm>
          <a:prstGeom prst="roundRect">
            <a:avLst>
              <a:gd name="adj" fmla="val 6452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8"/>
          <p:cNvSpPr/>
          <p:nvPr/>
        </p:nvSpPr>
        <p:spPr>
          <a:xfrm>
            <a:off x="6766560" y="475488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i="1" dirty="0">
                <a:solidFill>
                  <a:srgbClr val="23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Аналогія: форма для печива — це клас. Печиво, яке ви з неї виріжете — це об'єкти.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Об'єкт — конкретний екземпляр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C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клас — багато різних об'єктів, кожен зі своїми даними.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2743200"/>
          </a:xfrm>
          <a:prstGeom prst="roundRect">
            <a:avLst>
              <a:gd name="adj" fmla="val 3333"/>
            </a:avLst>
          </a:prstGeom>
          <a:solidFill>
            <a:srgbClr val="10163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896112" y="2011680"/>
            <a:ext cx="4974336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age):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self.age = age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student1 = Student("Оксана", 19)</a:t>
            </a:r>
            <a:endParaRPr lang="en-US" sz="13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student2 = Student("Марко", 21)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40080" y="47091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3C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Кожен виклик Student(...) створює новий, незалежний об'єкт зі своїм набором даних.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0" y="1828800"/>
            <a:ext cx="2377440" cy="265176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7223760" y="214884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9" name="Image 0" descr="/home/claude/oop_deck/icons/userGra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2712" y="2368296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2940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629400" y="3657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Оксана, 19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9189720" y="1828800"/>
            <a:ext cx="2377440" cy="265176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0"/>
          <p:cNvSpPr/>
          <p:nvPr/>
        </p:nvSpPr>
        <p:spPr>
          <a:xfrm>
            <a:off x="9921240" y="214884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1" descr="/home/claude/oop_deck/icons/userGra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70192" y="2368296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326880" y="32461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student2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9326880" y="36576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Марко, 21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6492240" y="4709160"/>
            <a:ext cx="5074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шаблон Student → різні об'єкти з різними даними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B5C"/>
                </a:solidFill>
                <a:latin typeface="Cambria" pitchFamily="34" charset="0"/>
              </a:rPr>
              <a:t>Конструктор __init__</a:t>
            </a:r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C4570"/>
                </a:solidFill>
                <a:latin typeface="Calibri" pitchFamily="34" charset="0"/>
                <a:cs typeface="Calibri" pitchFamily="34" charset="-120"/>
              </a:rPr>
              <a:t>Спеціальний метод, який Python запускає одразу після створення об'єкта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217920" cy="2651760"/>
          </a:xfrm>
          <a:prstGeom prst="roundRect">
            <a:avLst>
              <a:gd name="adj" fmla="val 3448"/>
            </a:avLst>
          </a:prstGeom>
          <a:solidFill>
            <a:srgbClr val="10163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896112" y="2103120"/>
            <a:ext cx="570585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Student: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age):   # конструктор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self.age = age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student1 = Student("Оксана", 19)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7132320" y="19659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/home/claude/oop_deck/icons/boxOpen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6275" y="211957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79" y="1920240"/>
            <a:ext cx="3971249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 ми пишемо Student("Оксана", 19), Python створює порожній об'єкт і одразу викликає __init__.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9" name="Shape 6"/>
          <p:cNvSpPr/>
          <p:nvPr/>
        </p:nvSpPr>
        <p:spPr>
          <a:xfrm>
            <a:off x="7132320" y="29718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0" name="Image 1" descr="/home/claude/oop_deck/icons/arrowRight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95771" y="312541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55280" y="2926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"Оксана" і 19 потрапляють у параметри name та age методу __init__.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2" name="Shape 8"/>
          <p:cNvSpPr/>
          <p:nvPr/>
        </p:nvSpPr>
        <p:spPr>
          <a:xfrm>
            <a:off x="7132320" y="39776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2" descr="/home/claude/oop_deck/icons/checkCircle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85939" y="4131259"/>
            <a:ext cx="332842" cy="33284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39319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002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 записує їх у self.name і self.age — тепер об'єкт "пам'ятає" свої дані.</a:t>
            </a:r>
            <a:endParaRPr lang="en-US" sz="1400" dirty="0">
              <a:solidFill>
                <a:srgbClr val="002060"/>
              </a:solidFill>
            </a:endParaRPr>
          </a:p>
        </p:txBody>
      </p:sp>
      <p:sp>
        <p:nvSpPr>
          <p:cNvPr id="15" name="Shape 10"/>
          <p:cNvSpPr/>
          <p:nvPr/>
        </p:nvSpPr>
        <p:spPr>
          <a:xfrm>
            <a:off x="640080" y="4892040"/>
            <a:ext cx="6217920" cy="1325880"/>
          </a:xfrm>
          <a:prstGeom prst="roundRect">
            <a:avLst>
              <a:gd name="adj" fmla="val 8276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Text 11"/>
          <p:cNvSpPr/>
          <p:nvPr/>
        </p:nvSpPr>
        <p:spPr>
          <a:xfrm>
            <a:off x="868680" y="5029200"/>
            <a:ext cx="5760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__init__ 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часто називають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конструктором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він "конструює" початковий стан об'єкта. Дві риски з двох боків (__) — позначення спеціальних методів Python.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 — посилання на об'єкт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C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Чому кожен метод класу починається з параметра self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0" cy="2880360"/>
          </a:xfrm>
          <a:prstGeom prst="roundRect">
            <a:avLst>
              <a:gd name="adj" fmla="val 3175"/>
            </a:avLst>
          </a:prstGeom>
          <a:solidFill>
            <a:srgbClr val="10163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896112" y="1965960"/>
            <a:ext cx="4974336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name):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   # self = цей об'єкт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 = Student("Оксана")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 = Student("Марко")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print(s1.name)   # Оксана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print(s2.name)   # Марко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480060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3C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Під час виклику s1 = Student("Оксана") Python сам підставляє s1 замість self всередині методу.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92240" y="1783080"/>
            <a:ext cx="2377440" cy="288036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8" name="Shape 6"/>
          <p:cNvSpPr/>
          <p:nvPr/>
        </p:nvSpPr>
        <p:spPr>
          <a:xfrm>
            <a:off x="7223760" y="201168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9" name="Image 0" descr="/home/claude/oop_deck/icons/cube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3048" y="2231136"/>
            <a:ext cx="475488" cy="47548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62940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 → s1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629400" y="34747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self.name = "Оксана"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9189720" y="1783080"/>
            <a:ext cx="2377440" cy="2880360"/>
          </a:xfrm>
          <a:prstGeom prst="roundRect">
            <a:avLst>
              <a:gd name="adj" fmla="val 4615"/>
            </a:avLst>
          </a:prstGeom>
          <a:solidFill>
            <a:srgbClr val="1E2761"/>
          </a:solidFill>
          <a:ln/>
          <a:effectLst>
            <a:outerShdw blurRad="76200" dist="25400" dir="54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13" name="Shape 10"/>
          <p:cNvSpPr/>
          <p:nvPr/>
        </p:nvSpPr>
        <p:spPr>
          <a:xfrm>
            <a:off x="9921240" y="201168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4" name="Image 1" descr="/home/claude/oop_deck/icons/cube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0528" y="2231136"/>
            <a:ext cx="475488" cy="47548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9326880" y="30175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 → s2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9326880" y="3474720"/>
            <a:ext cx="2103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self.name = "Марко"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40080" y="5486400"/>
            <a:ext cx="10424160" cy="777240"/>
          </a:xfrm>
          <a:prstGeom prst="roundRect">
            <a:avLst>
              <a:gd name="adj" fmla="val 14118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8" name="Text 14"/>
          <p:cNvSpPr/>
          <p:nvPr/>
        </p:nvSpPr>
        <p:spPr>
          <a:xfrm>
            <a:off x="868680" y="5559552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1E276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self </a:t>
            </a:r>
            <a:r>
              <a:rPr lang="en-US" sz="1400" dirty="0">
                <a:solidFill>
                  <a:srgbClr val="23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не зарезервоване слово, а домовленість: перший параметр методу завжди означає "той об'єкт, який зараз викликав метод". Назва може бути іншою, але так роблять усі — тримайтесь конвенції.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 проти об'єкта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143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Порівняння двох понять, які часто плутають на старті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77240" y="1828800"/>
            <a:ext cx="5120640" cy="4114800"/>
          </a:xfrm>
          <a:prstGeom prst="roundRect">
            <a:avLst>
              <a:gd name="adj" fmla="val 3111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5" name="Shape 3"/>
          <p:cNvSpPr/>
          <p:nvPr/>
        </p:nvSpPr>
        <p:spPr>
          <a:xfrm>
            <a:off x="2857500" y="2125980"/>
            <a:ext cx="960120" cy="960120"/>
          </a:xfrm>
          <a:prstGeom prst="ellipse">
            <a:avLst/>
          </a:prstGeom>
          <a:solidFill>
            <a:srgbClr val="CADCFC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6" name="Image 0" descr="/home/claude/oop_deck/icons/layerGrou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761" y="2356409"/>
            <a:ext cx="499262" cy="4992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00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234440" y="379476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шаблон / креслення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Визначається один раз у коді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займає "реальних" даних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Приклад: class Student: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309360" y="1828800"/>
            <a:ext cx="5120640" cy="4114800"/>
          </a:xfrm>
          <a:prstGeom prst="roundRect">
            <a:avLst>
              <a:gd name="adj" fmla="val 3111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0" name="Shape 7"/>
          <p:cNvSpPr/>
          <p:nvPr/>
        </p:nvSpPr>
        <p:spPr>
          <a:xfrm>
            <a:off x="8389620" y="2125980"/>
            <a:ext cx="960120" cy="9601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1" name="Image 1" descr="/home/claude/oop_deck/icons/userGrad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9545" y="2356409"/>
            <a:ext cx="499262" cy="49926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09360" y="32004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ОБ'ЄКТ</a:t>
            </a:r>
            <a:endParaRPr lang="en-US" sz="2000" dirty="0"/>
          </a:p>
        </p:txBody>
      </p:sp>
      <p:sp>
        <p:nvSpPr>
          <p:cNvPr id="13" name="Text 9"/>
          <p:cNvSpPr/>
          <p:nvPr/>
        </p:nvSpPr>
        <p:spPr>
          <a:xfrm>
            <a:off x="6766560" y="3794760"/>
            <a:ext cx="42062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 конкретний екземпляр класу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Створюється під час виконання коду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Містить власні реальні дані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Приклад: student1 = Student(...)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Словник проти класу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C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Два способи описати один запис про студента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Словник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0" cy="2468880"/>
          </a:xfrm>
          <a:prstGeom prst="roundRect">
            <a:avLst>
              <a:gd name="adj" fmla="val 3704"/>
            </a:avLst>
          </a:prstGeom>
          <a:solidFill>
            <a:srgbClr val="10163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6" name="Text 4"/>
          <p:cNvSpPr/>
          <p:nvPr/>
        </p:nvSpPr>
        <p:spPr>
          <a:xfrm>
            <a:off x="896112" y="2286000"/>
            <a:ext cx="49743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{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"name": "Іван",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"age": 20,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"group": "КН-21",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print(student["name"])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55080" y="1691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355080" y="2103120"/>
            <a:ext cx="5212080" cy="2468880"/>
          </a:xfrm>
          <a:prstGeom prst="roundRect">
            <a:avLst>
              <a:gd name="adj" fmla="val 3704"/>
            </a:avLst>
          </a:prstGeom>
          <a:solidFill>
            <a:srgbClr val="10163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9" name="Text 7"/>
          <p:cNvSpPr/>
          <p:nvPr/>
        </p:nvSpPr>
        <p:spPr>
          <a:xfrm>
            <a:off x="6611112" y="2286000"/>
            <a:ext cx="470001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age, group):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self.age = age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self.group = group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student = Student("Іван", 20, "КН-21")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print(student.name)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4800600"/>
            <a:ext cx="10927080" cy="1417320"/>
          </a:xfrm>
          <a:prstGeom prst="roundRect">
            <a:avLst>
              <a:gd name="adj" fmla="val 7742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Text 9"/>
          <p:cNvSpPr/>
          <p:nvPr/>
        </p:nvSpPr>
        <p:spPr>
          <a:xfrm>
            <a:off x="914400" y="4937760"/>
            <a:ext cx="103784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23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словнику легко помилитись у ключі (student["nmae"]) — Python мовчки не підкаже помилку. </a:t>
            </a:r>
            <a:r>
              <a:rPr lang="en-US" sz="1600" b="1" i="1" dirty="0">
                <a:solidFill>
                  <a:srgbClr val="23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 класі структура фіксована, а student.name перевіряється редактором і зрозуміліша при читанні коду.</a:t>
            </a:r>
            <a:endParaRPr lang="en-US" sz="1600" i="1" dirty="0"/>
          </a:p>
        </p:txBody>
      </p:sp>
      <p:sp>
        <p:nvSpPr>
          <p:cNvPr id="12" name="Text 10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 — функція всередині класу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515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— це та сама def, тільки "живе" всередині класу й уміє звертатись до даних об'єкта через self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6217920" cy="3108960"/>
          </a:xfrm>
          <a:prstGeom prst="roundRect">
            <a:avLst>
              <a:gd name="adj" fmla="val 2941"/>
            </a:avLst>
          </a:prstGeom>
          <a:solidFill>
            <a:srgbClr val="10163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896112" y="2103120"/>
            <a:ext cx="5705856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class Student: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__init__(self, name, grade):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self.name = name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self.grade = grade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def is_passing(self):        # метод</a:t>
            </a:r>
            <a:endParaRPr lang="en-US" sz="14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return self.grade &gt;= 60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132320" y="196596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/home/claude/oop_deck/icons/cogs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85939" y="211957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0" y="192024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 — це посилання на конкретний об'єкт, який викликав метод.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7132320" y="297180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0" name="Image 1" descr="/home/claude/oop_deck/icons/checkCircle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5939" y="3125419"/>
            <a:ext cx="332842" cy="33284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955280" y="29260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 бачить дані саме цього об'єкта: self.grade — його оцінка.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7132320" y="3977640"/>
            <a:ext cx="640080" cy="64008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3" name="Image 2" descr="/home/claude/oop_deck/icons/arrowRight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5603" y="4131259"/>
            <a:ext cx="332842" cy="33284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393192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 методу залежить від об'єкта — той самий метод, різні відповіді.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uk-UA" sz="3000" b="1" dirty="0">
                <a:solidFill>
                  <a:srgbClr val="232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Виклик Метода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3C45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 → об'єкти → метод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5486400" cy="2286000"/>
          </a:xfrm>
          <a:prstGeom prst="roundRect">
            <a:avLst>
              <a:gd name="adj" fmla="val 4000"/>
            </a:avLst>
          </a:prstGeom>
          <a:solidFill>
            <a:srgbClr val="10163A"/>
          </a:solidFill>
          <a:ln/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UA"/>
          </a:p>
        </p:txBody>
      </p:sp>
      <p:sp>
        <p:nvSpPr>
          <p:cNvPr id="5" name="Text 3"/>
          <p:cNvSpPr/>
          <p:nvPr/>
        </p:nvSpPr>
        <p:spPr>
          <a:xfrm>
            <a:off x="896112" y="1965960"/>
            <a:ext cx="4974336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s1 = Student("Оксана", 85)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s2 = Student("Марко", 45)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print(s1.is_passing())   # True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print(s2.is_passing())   # False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4251960"/>
            <a:ext cx="5486400" cy="2148840"/>
          </a:xfrm>
          <a:prstGeom prst="roundRect">
            <a:avLst>
              <a:gd name="adj" fmla="val 5106"/>
            </a:avLst>
          </a:prstGeom>
          <a:solidFill>
            <a:srgbClr val="CADCFC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7" name="Text 5"/>
          <p:cNvSpPr/>
          <p:nvPr/>
        </p:nvSpPr>
        <p:spPr>
          <a:xfrm>
            <a:off x="868680" y="4389120"/>
            <a:ext cx="502920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3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Створюємо два об'єкти класу Student — s1 і s2, кожен зі своєю оцінкою.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3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Викликаємо s1.is_passing() — Python підставляє s1 замість self.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3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Усередині методу self.grade — це саме s1.grade, тобто 85.</a:t>
            </a:r>
            <a:endParaRPr lang="en-US" sz="1400" dirty="0"/>
          </a:p>
          <a:p>
            <a:pPr marL="0" indent="0">
              <a:lnSpc>
                <a:spcPct val="115000"/>
              </a:lnSpc>
              <a:spcAft>
                <a:spcPts val="800"/>
              </a:spcAft>
              <a:buNone/>
            </a:pPr>
            <a:r>
              <a:rPr lang="en-US" sz="1400" dirty="0">
                <a:solidFill>
                  <a:srgbClr val="232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85 &gt;= 60 → True. Для s2: 45 &gt;= 60 → False.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92240" y="1783080"/>
            <a:ext cx="5074920" cy="20574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9" name="Shape 7"/>
          <p:cNvSpPr/>
          <p:nvPr/>
        </p:nvSpPr>
        <p:spPr>
          <a:xfrm>
            <a:off x="6858000" y="2212848"/>
            <a:ext cx="1188720" cy="118872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0" name="Image 0" descr="/home/claude/oop_deck/icons/userGra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789" y="2507973"/>
            <a:ext cx="618134" cy="61813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229600" y="21031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s1 — Оксана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8229600" y="2560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= 85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229600" y="301752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2C3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is_passing() → True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92240" y="4114800"/>
            <a:ext cx="5074920" cy="2057400"/>
          </a:xfrm>
          <a:prstGeom prst="roundRect">
            <a:avLst>
              <a:gd name="adj" fmla="val 5333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5" name="Shape 12"/>
          <p:cNvSpPr/>
          <p:nvPr/>
        </p:nvSpPr>
        <p:spPr>
          <a:xfrm>
            <a:off x="6858000" y="4544568"/>
            <a:ext cx="1188720" cy="1188720"/>
          </a:xfrm>
          <a:prstGeom prst="ellipse">
            <a:avLst/>
          </a:prstGeom>
          <a:solidFill>
            <a:srgbClr val="6B78A8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6" name="Image 1" descr="/home/claude/oop_deck/icons/userGra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2789" y="4829861"/>
            <a:ext cx="618134" cy="61813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229600" y="44348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s2 — Марко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8229600" y="4892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grade = 45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229600" y="534924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08A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is_passing() → False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1280160"/>
            <a:ext cx="3840480" cy="3840480"/>
          </a:xfrm>
          <a:prstGeom prst="ellipse">
            <a:avLst/>
          </a:prstGeom>
          <a:solidFill>
            <a:srgbClr val="141A47">
              <a:alpha val="49412"/>
            </a:srgbClr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3" name="Text 1"/>
          <p:cNvSpPr/>
          <p:nvPr/>
        </p:nvSpPr>
        <p:spPr>
          <a:xfrm>
            <a:off x="640080" y="5486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Підсумки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Чотири ідеї, які варто запам'ятати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6" name="Shape 4"/>
          <p:cNvSpPr/>
          <p:nvPr/>
        </p:nvSpPr>
        <p:spPr>
          <a:xfrm>
            <a:off x="1440180" y="228600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7" name="Image 0" descr="/home/claude/oop_deck/icons/layerGroup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59636" y="2505456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77240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Клас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22960" y="374904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шаблон, який описує майбутні дані та поведінку.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10712" y="196596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1" name="Shape 8"/>
          <p:cNvSpPr/>
          <p:nvPr/>
        </p:nvSpPr>
        <p:spPr>
          <a:xfrm>
            <a:off x="4210812" y="228600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2" name="Image 1" descr="/home/claude/oop_deck/icons/userGrad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59764" y="2505456"/>
            <a:ext cx="475488" cy="47548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47872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Об'єкт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93592" y="374904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конкретний екземпляр, створений за класом, зі своїми даними.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181344" y="196596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16" name="Shape 12"/>
          <p:cNvSpPr/>
          <p:nvPr/>
        </p:nvSpPr>
        <p:spPr>
          <a:xfrm>
            <a:off x="6981444" y="228600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17" name="Image 2" descr="/home/claude/oop_deck/icons/cogs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0" y="2505456"/>
            <a:ext cx="475488" cy="47548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18504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Метод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6364224" y="374904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функція всередині класу, що діє через self.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8951976" y="1965960"/>
            <a:ext cx="2514600" cy="2834640"/>
          </a:xfrm>
          <a:prstGeom prst="roundRect">
            <a:avLst>
              <a:gd name="adj" fmla="val 4364"/>
            </a:avLst>
          </a:prstGeom>
          <a:solidFill>
            <a:srgbClr val="141A47"/>
          </a:solidFill>
          <a:ln/>
        </p:spPr>
        <p:txBody>
          <a:bodyPr/>
          <a:lstStyle/>
          <a:p>
            <a:endParaRPr lang="en-UA"/>
          </a:p>
        </p:txBody>
      </p:sp>
      <p:sp>
        <p:nvSpPr>
          <p:cNvPr id="21" name="Shape 16"/>
          <p:cNvSpPr/>
          <p:nvPr/>
        </p:nvSpPr>
        <p:spPr>
          <a:xfrm>
            <a:off x="9752076" y="2286000"/>
            <a:ext cx="914400" cy="914400"/>
          </a:xfrm>
          <a:prstGeom prst="ellipse">
            <a:avLst/>
          </a:prstGeom>
          <a:solidFill>
            <a:srgbClr val="02C39A"/>
          </a:solidFill>
          <a:ln/>
        </p:spPr>
        <p:txBody>
          <a:bodyPr/>
          <a:lstStyle/>
          <a:p>
            <a:endParaRPr lang="en-UA"/>
          </a:p>
        </p:txBody>
      </p:sp>
      <p:pic>
        <p:nvPicPr>
          <p:cNvPr id="22" name="Image 3" descr="/home/claude/oop_deck/icons/checkCircle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71532" y="2505456"/>
            <a:ext cx="475488" cy="47548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089136" y="33375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self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9134856" y="3749040"/>
            <a:ext cx="2148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посилання на той об'єкт, який викликав метод.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40080" y="53492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Питання: чим клас відрізняється від об'єкта? Навіщо потрібен self у методі?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1277295" y="644652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8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</TotalTime>
  <Words>1069</Words>
  <Application>Microsoft Macintosh PowerPoint</Application>
  <PresentationFormat>Widescreen</PresentationFormat>
  <Paragraphs>161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Штефан Дмитро</cp:lastModifiedBy>
  <cp:revision>3</cp:revision>
  <dcterms:created xsi:type="dcterms:W3CDTF">2026-07-17T20:45:20Z</dcterms:created>
  <dcterms:modified xsi:type="dcterms:W3CDTF">2026-07-18T07:38:56Z</dcterms:modified>
</cp:coreProperties>
</file>