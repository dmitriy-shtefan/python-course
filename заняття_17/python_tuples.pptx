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4"/>
    <p:restoredTop sz="94647"/>
  </p:normalViewPr>
  <p:slideViewPr>
    <p:cSldViewPr snapToGrid="0">
      <p:cViewPr varScale="1">
        <p:scale>
          <a:sx n="141" d="100"/>
          <a:sy n="141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AF988A-6C33-4B2F-860D-75D356C13C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5B8FF9"/>
          </a:solidFill>
          <a:ln w="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CD5C8C-1D02-4C3E-B36E-77751D649BEB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12192000" cy="647700"/>
          </a:xfrm>
          <a:prstGeom prst="rect">
            <a:avLst/>
          </a:prstGeom>
          <a:solidFill>
            <a:srgbClr val="161B2E"/>
          </a:solidFill>
          <a:ln w="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1B871-ED66-4ECB-B1A7-7B925FE965F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B8FF9"/>
                </a:solidFill>
                <a:latin typeface="Calibri"/>
                <a:ea typeface="Calibri"/>
                <a:cs typeface="Calibri"/>
              </a:defRPr>
            </a:pPr>
            <a:r>
              <a:rPr lang="uk-UA" sz="1650" b="0" noProof="0" dirty="0">
                <a:solidFill>
                  <a:srgbClr val="5B8FF9"/>
                </a:solidFill>
                <a:latin typeface="Calibri"/>
                <a:ea typeface="Calibri"/>
                <a:cs typeface="Calibri"/>
              </a:rPr>
              <a:t>Створення web-додатків з використанням </a:t>
            </a:r>
            <a:r>
              <a:rPr lang="en-US" sz="1650" b="0" noProof="0" dirty="0">
                <a:solidFill>
                  <a:srgbClr val="5B8FF9"/>
                </a:solidFill>
                <a:latin typeface="Calibri"/>
                <a:ea typeface="Calibri"/>
                <a:cs typeface="Calibri"/>
              </a:rPr>
              <a:t>Python</a:t>
            </a:r>
            <a:endParaRPr lang="uk-UA" sz="1650" b="0" noProof="0" dirty="0">
              <a:solidFill>
                <a:srgbClr val="5B8FF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DA8EE-48B1-4BAF-8922-2A57E765E511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4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lang="uk-UA" sz="4350" b="1" noProof="0" dirty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Кортежі в </a:t>
            </a:r>
            <a:r>
              <a:rPr lang="en-US" sz="4350" b="1" noProof="0" dirty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Python</a:t>
            </a:r>
            <a:endParaRPr lang="uk-UA" sz="4350" b="1" noProof="0" dirty="0">
              <a:solidFill>
                <a:srgbClr val="FFFFF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2FCA4-0804-4604-9AFC-DC855A1F8FB6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100" b="0">
                <a:solidFill>
                  <a:srgbClr val="E8EEFE"/>
                </a:solidFill>
                <a:latin typeface="Calibri"/>
                <a:ea typeface="Calibri"/>
                <a:cs typeface="Calibri"/>
              </a:defRPr>
            </a:pPr>
            <a:r>
              <a:rPr lang="uk-UA" sz="2100" b="0" noProof="0" dirty="0">
                <a:solidFill>
                  <a:srgbClr val="E8EEFE"/>
                </a:solidFill>
                <a:latin typeface="Calibri"/>
                <a:ea typeface="Calibri"/>
                <a:cs typeface="Calibri"/>
              </a:rPr>
              <a:t>Незмінні послідовності для фіксованих даних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0579F6-C5EB-4FB5-8DA5-B9CFE90BEE06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7524750" cy="1428750"/>
          </a:xfrm>
          <a:prstGeom prst="roundRect">
            <a:avLst>
              <a:gd name="adj" fmla="val 8000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uk-UA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B5C43B-63EA-4203-AAC4-4FD3F499CD3A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86025D-04F5-4DA5-8271-99F5C2F40E0C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266171-8264-4E9A-8941-EFE3A67D9472}"/>
              </a:ext>
            </a:extLst>
          </p:cNvPr>
          <p:cNvSpPr>
            <a:spLocks noGrp="1"/>
          </p:cNvSpPr>
          <p:nvPr/>
        </p:nvSpPr>
        <p:spPr>
          <a:xfrm>
            <a:off x="1409700" y="390525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1E57F9-8476-489F-9016-F52D4288FB31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706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lang="en-US" sz="18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 = ("Олена", "+380501112233")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lang="en-US" sz="18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name, phone = contact_pair</a:t>
            </a:r>
          </a:p>
        </p:txBody>
      </p:sp>
    </p:spTree>
    <p:extLst>
      <p:ext uri="{BB962C8B-B14F-4D97-AF65-F5344CB8AC3E}">
        <p14:creationId xmlns:p14="http://schemas.microsoft.com/office/powerpoint/2010/main" val="78714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7B9A2F-0764-4083-A2D1-33610F22AF3D}"/>
              </a:ext>
            </a:extLst>
          </p:cNvPr>
          <p:cNvSpPr>
            <a:spLocks noGrp="1"/>
          </p:cNvSpPr>
          <p:nvPr/>
        </p:nvSpPr>
        <p:spPr>
          <a:xfrm>
            <a:off x="578069" y="409575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lang="uk-UA" sz="2700" b="1" noProof="0" dirty="0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Кортеж схожий на список, але його не змінюють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57FA5-ED28-429D-9CCE-1273FCC2BC46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900" b="0" noProof="0" dirty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547E18-6318-4193-8A4C-4673F21072F1}"/>
              </a:ext>
            </a:extLst>
          </p:cNvPr>
          <p:cNvSpPr>
            <a:spLocks noGrp="1"/>
          </p:cNvSpPr>
          <p:nvPr/>
        </p:nvSpPr>
        <p:spPr>
          <a:xfrm>
            <a:off x="685799" y="1352550"/>
            <a:ext cx="4541442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uk-UA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5A27B0-2F0D-4F04-A046-81A5062BBE31}"/>
              </a:ext>
            </a:extLst>
          </p:cNvPr>
          <p:cNvSpPr>
            <a:spLocks noGrp="1"/>
          </p:cNvSpPr>
          <p:nvPr/>
        </p:nvSpPr>
        <p:spPr>
          <a:xfrm>
            <a:off x="685799" y="1352550"/>
            <a:ext cx="76200" cy="2095500"/>
          </a:xfrm>
          <a:prstGeom prst="rect">
            <a:avLst/>
          </a:prstGeom>
          <a:solidFill>
            <a:srgbClr val="5B8FF9"/>
          </a:solidFill>
          <a:ln w="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24AA7A-D66D-4D8E-8AA0-0F1860B73D77}"/>
              </a:ext>
            </a:extLst>
          </p:cNvPr>
          <p:cNvSpPr>
            <a:spLocks noGrp="1"/>
          </p:cNvSpPr>
          <p:nvPr/>
        </p:nvSpPr>
        <p:spPr>
          <a:xfrm>
            <a:off x="952499" y="15811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5506" lnSpcReduction="20000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2300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Список</a:t>
            </a:r>
            <a:endParaRPr lang="uk-UA" sz="1800" b="1" noProof="0" dirty="0">
              <a:solidFill>
                <a:srgbClr val="1A1F3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83AA8-2F8D-4792-BBF1-4CE167146F74}"/>
              </a:ext>
            </a:extLst>
          </p:cNvPr>
          <p:cNvSpPr>
            <a:spLocks noGrp="1"/>
          </p:cNvSpPr>
          <p:nvPr/>
        </p:nvSpPr>
        <p:spPr>
          <a:xfrm>
            <a:off x="952499" y="2095500"/>
            <a:ext cx="3752287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1600" b="0" noProof="0" dirty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Коли дані можуть змінюватися: додавати, видаляти, замінювати елементи.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40196B-7620-45D7-A8C0-CDF6331786B8}"/>
              </a:ext>
            </a:extLst>
          </p:cNvPr>
          <p:cNvSpPr>
            <a:spLocks noGrp="1"/>
          </p:cNvSpPr>
          <p:nvPr/>
        </p:nvSpPr>
        <p:spPr>
          <a:xfrm>
            <a:off x="5969627" y="1390650"/>
            <a:ext cx="4541443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uk-U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93591A-3993-4979-975E-56328A224DC9}"/>
              </a:ext>
            </a:extLst>
          </p:cNvPr>
          <p:cNvSpPr>
            <a:spLocks noGrp="1"/>
          </p:cNvSpPr>
          <p:nvPr/>
        </p:nvSpPr>
        <p:spPr>
          <a:xfrm>
            <a:off x="5969628" y="1390650"/>
            <a:ext cx="76200" cy="2095500"/>
          </a:xfrm>
          <a:prstGeom prst="rect">
            <a:avLst/>
          </a:prstGeom>
          <a:solidFill>
            <a:srgbClr val="3DC9B0"/>
          </a:solidFill>
          <a:ln w="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4487D2-92C4-4BEC-8E15-917D6B896F28}"/>
              </a:ext>
            </a:extLst>
          </p:cNvPr>
          <p:cNvSpPr>
            <a:spLocks noGrp="1"/>
          </p:cNvSpPr>
          <p:nvPr/>
        </p:nvSpPr>
        <p:spPr>
          <a:xfrm>
            <a:off x="6236328" y="16192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5506" lnSpcReduction="20000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2300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Кортеж</a:t>
            </a:r>
            <a:endParaRPr lang="uk-UA" sz="1800" b="1" noProof="0" dirty="0">
              <a:solidFill>
                <a:srgbClr val="1A1F3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D419DB-79A2-4E12-AA09-57EC9922A4C1}"/>
              </a:ext>
            </a:extLst>
          </p:cNvPr>
          <p:cNvSpPr>
            <a:spLocks noGrp="1"/>
          </p:cNvSpPr>
          <p:nvPr/>
        </p:nvSpPr>
        <p:spPr>
          <a:xfrm>
            <a:off x="6236328" y="2057400"/>
            <a:ext cx="3604788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1600" b="0" noProof="0" dirty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Коли набір значень фіксований і після створення його краще не змінювати.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62BA08-422B-48E7-9629-94DB61608E5A}"/>
              </a:ext>
            </a:extLst>
          </p:cNvPr>
          <p:cNvSpPr>
            <a:spLocks noGrp="1"/>
          </p:cNvSpPr>
          <p:nvPr/>
        </p:nvSpPr>
        <p:spPr>
          <a:xfrm>
            <a:off x="685799" y="3771900"/>
            <a:ext cx="9825273" cy="2000250"/>
          </a:xfrm>
          <a:prstGeom prst="roundRect">
            <a:avLst>
              <a:gd name="adj" fmla="val 5714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34DC69-B61C-4582-B6CC-CC9B4CF54489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ECE69A-305F-4EC7-988E-E8DF9DE32350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5E99EC-E4C9-4C95-B37F-9BFA0708BDC9}"/>
              </a:ext>
            </a:extLst>
          </p:cNvPr>
          <p:cNvSpPr>
            <a:spLocks noGrp="1"/>
          </p:cNvSpPr>
          <p:nvPr/>
        </p:nvSpPr>
        <p:spPr>
          <a:xfrm>
            <a:off x="1409700" y="398145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F59D7-F613-437E-8FEF-A8AAD9E20E28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65532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5409" lnSpcReduction="10000"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cities = ["Київ", "Львів"]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cities.append("Одеса")</a:t>
            </a:r>
          </a:p>
          <a:p>
            <a:endParaRPr sz="1650" b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point = (10, 20)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# point[0] = 30  →  помилка</a:t>
            </a:r>
          </a:p>
        </p:txBody>
      </p:sp>
    </p:spTree>
    <p:extLst>
      <p:ext uri="{BB962C8B-B14F-4D97-AF65-F5344CB8AC3E}">
        <p14:creationId xmlns:p14="http://schemas.microsoft.com/office/powerpoint/2010/main" val="84591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55B10B-A3F2-4F4B-B307-77D505DEEEB9}"/>
              </a:ext>
            </a:extLst>
          </p:cNvPr>
          <p:cNvSpPr>
            <a:spLocks noGrp="1"/>
          </p:cNvSpPr>
          <p:nvPr/>
        </p:nvSpPr>
        <p:spPr>
          <a:xfrm>
            <a:off x="631934" y="447675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lang="uk-UA" sz="2700" b="1" noProof="0" dirty="0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Індекси, len та перебір працюють знайомо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3ABDE0-AE66-479F-8671-343E4EF50A62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03CF2A-DA82-44F5-8203-597CAAA5B1DF}"/>
              </a:ext>
            </a:extLst>
          </p:cNvPr>
          <p:cNvSpPr>
            <a:spLocks noGrp="1"/>
          </p:cNvSpPr>
          <p:nvPr/>
        </p:nvSpPr>
        <p:spPr>
          <a:xfrm>
            <a:off x="631934" y="135255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3B873D-5C71-41ED-BAA6-DF00EB960C00}"/>
              </a:ext>
            </a:extLst>
          </p:cNvPr>
          <p:cNvSpPr>
            <a:spLocks noGrp="1"/>
          </p:cNvSpPr>
          <p:nvPr/>
        </p:nvSpPr>
        <p:spPr>
          <a:xfrm>
            <a:off x="860534" y="156210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CDB28A-19F6-49DC-A168-9D0BCA44918A}"/>
              </a:ext>
            </a:extLst>
          </p:cNvPr>
          <p:cNvSpPr>
            <a:spLocks noGrp="1"/>
          </p:cNvSpPr>
          <p:nvPr/>
        </p:nvSpPr>
        <p:spPr>
          <a:xfrm>
            <a:off x="1108184" y="156210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EBAAFF-ED63-4E81-8993-08F60CA3205D}"/>
              </a:ext>
            </a:extLst>
          </p:cNvPr>
          <p:cNvSpPr>
            <a:spLocks noGrp="1"/>
          </p:cNvSpPr>
          <p:nvPr/>
        </p:nvSpPr>
        <p:spPr>
          <a:xfrm>
            <a:off x="1355834" y="156210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FAB914-57E1-422C-ABC6-713055BD1C96}"/>
              </a:ext>
            </a:extLst>
          </p:cNvPr>
          <p:cNvSpPr>
            <a:spLocks noGrp="1"/>
          </p:cNvSpPr>
          <p:nvPr/>
        </p:nvSpPr>
        <p:spPr>
          <a:xfrm>
            <a:off x="860534" y="1885950"/>
            <a:ext cx="48768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 = ("Олена", "+380501112233")</a:t>
            </a:r>
          </a:p>
          <a:p>
            <a:endParaRPr sz="1650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print(contact_pair[0])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print(contact_pair[1])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print(</a:t>
            </a:r>
            <a:r>
              <a:rPr lang="en-US" sz="165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65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(contact_pair))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F7B1C1-515A-4FE9-934F-9BFB5CC768AB}"/>
              </a:ext>
            </a:extLst>
          </p:cNvPr>
          <p:cNvSpPr>
            <a:spLocks noGrp="1"/>
          </p:cNvSpPr>
          <p:nvPr/>
        </p:nvSpPr>
        <p:spPr>
          <a:xfrm>
            <a:off x="6651734" y="162877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89293-5586-49DC-A327-A2FC4677CDAE}"/>
              </a:ext>
            </a:extLst>
          </p:cNvPr>
          <p:cNvSpPr>
            <a:spLocks noGrp="1"/>
          </p:cNvSpPr>
          <p:nvPr/>
        </p:nvSpPr>
        <p:spPr>
          <a:xfrm>
            <a:off x="6918434" y="15430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650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Індекс `0` дає перше значення.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16B728-E7B5-483F-B0AB-627112CE3226}"/>
              </a:ext>
            </a:extLst>
          </p:cNvPr>
          <p:cNvSpPr>
            <a:spLocks noGrp="1"/>
          </p:cNvSpPr>
          <p:nvPr/>
        </p:nvSpPr>
        <p:spPr>
          <a:xfrm>
            <a:off x="6651734" y="221932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A3156A-77FC-4955-929E-505FA89BDBBF}"/>
              </a:ext>
            </a:extLst>
          </p:cNvPr>
          <p:cNvSpPr>
            <a:spLocks noGrp="1"/>
          </p:cNvSpPr>
          <p:nvPr/>
        </p:nvSpPr>
        <p:spPr>
          <a:xfrm>
            <a:off x="6918434" y="21336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650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Індекс `1` дає друге значення.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B4918F-3FBF-4C9B-BE55-FF2DC9CCA9DE}"/>
              </a:ext>
            </a:extLst>
          </p:cNvPr>
          <p:cNvSpPr>
            <a:spLocks noGrp="1"/>
          </p:cNvSpPr>
          <p:nvPr/>
        </p:nvSpPr>
        <p:spPr>
          <a:xfrm>
            <a:off x="6651734" y="280987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8EB761-52D7-4E20-AF2E-7F782AE86389}"/>
              </a:ext>
            </a:extLst>
          </p:cNvPr>
          <p:cNvSpPr>
            <a:spLocks noGrp="1"/>
          </p:cNvSpPr>
          <p:nvPr/>
        </p:nvSpPr>
        <p:spPr>
          <a:xfrm>
            <a:off x="6918434" y="27241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650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`len()` рахує кількість елементів.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AD7457-845F-456A-9A91-9C15E59D3075}"/>
              </a:ext>
            </a:extLst>
          </p:cNvPr>
          <p:cNvSpPr>
            <a:spLocks noGrp="1"/>
          </p:cNvSpPr>
          <p:nvPr/>
        </p:nvSpPr>
        <p:spPr>
          <a:xfrm>
            <a:off x="631934" y="4248150"/>
            <a:ext cx="5334000" cy="1695450"/>
          </a:xfrm>
          <a:prstGeom prst="roundRect">
            <a:avLst>
              <a:gd name="adj" fmla="val 6742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053221-F648-4297-A8B8-F67317D0E9B5}"/>
              </a:ext>
            </a:extLst>
          </p:cNvPr>
          <p:cNvSpPr>
            <a:spLocks noGrp="1"/>
          </p:cNvSpPr>
          <p:nvPr/>
        </p:nvSpPr>
        <p:spPr>
          <a:xfrm>
            <a:off x="860534" y="445770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458ADA-9B5F-4C91-9BE6-2AF9488CD431}"/>
              </a:ext>
            </a:extLst>
          </p:cNvPr>
          <p:cNvSpPr>
            <a:spLocks noGrp="1"/>
          </p:cNvSpPr>
          <p:nvPr/>
        </p:nvSpPr>
        <p:spPr>
          <a:xfrm>
            <a:off x="1108184" y="445770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2B140E-BAA3-40D8-B82D-A5578C4D1E26}"/>
              </a:ext>
            </a:extLst>
          </p:cNvPr>
          <p:cNvSpPr>
            <a:spLocks noGrp="1"/>
          </p:cNvSpPr>
          <p:nvPr/>
        </p:nvSpPr>
        <p:spPr>
          <a:xfrm>
            <a:off x="1355834" y="445770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E17F9-1F99-4523-B0EB-520B45DC82FD}"/>
              </a:ext>
            </a:extLst>
          </p:cNvPr>
          <p:cNvSpPr>
            <a:spLocks noGrp="1"/>
          </p:cNvSpPr>
          <p:nvPr/>
        </p:nvSpPr>
        <p:spPr>
          <a:xfrm>
            <a:off x="860534" y="4781550"/>
            <a:ext cx="4876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8623" lnSpcReduction="10000"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colors = ("red", "green", "blue")</a:t>
            </a:r>
          </a:p>
          <a:p>
            <a:endParaRPr sz="1650" b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for color in colors: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print(color)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95F86-9A4A-4EEA-9060-FDD364D98400}"/>
              </a:ext>
            </a:extLst>
          </p:cNvPr>
          <p:cNvSpPr>
            <a:spLocks noGrp="1"/>
          </p:cNvSpPr>
          <p:nvPr/>
        </p:nvSpPr>
        <p:spPr>
          <a:xfrm>
            <a:off x="6651734" y="4343400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6067"/>
          </a:bodyPr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Базові операції зі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списками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майже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повністю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переносяться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 на </a:t>
            </a:r>
            <a:r>
              <a:rPr lang="uk-UA"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кортежі</a:t>
            </a:r>
            <a:r>
              <a:rPr sz="1800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96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EEEA3FB-8BCE-4D3E-B84F-A396CB2B807A}"/>
              </a:ext>
            </a:extLst>
          </p:cNvPr>
          <p:cNvSpPr>
            <a:spLocks noGrp="1"/>
          </p:cNvSpPr>
          <p:nvPr/>
        </p:nvSpPr>
        <p:spPr>
          <a:xfrm>
            <a:off x="685800" y="5723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1596"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Розпакування робить код коротшим і читабельнішим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F690C-6872-420F-850C-274678EEB86B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7743C1-F4DE-4584-9245-A4897D36E5CB}"/>
              </a:ext>
            </a:extLst>
          </p:cNvPr>
          <p:cNvSpPr>
            <a:spLocks noGrp="1"/>
          </p:cNvSpPr>
          <p:nvPr/>
        </p:nvSpPr>
        <p:spPr>
          <a:xfrm>
            <a:off x="685800" y="1570400"/>
            <a:ext cx="4953000" cy="120807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uk-UA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0A7E11-9C79-49FE-A121-7E239B2EE920}"/>
              </a:ext>
            </a:extLst>
          </p:cNvPr>
          <p:cNvSpPr>
            <a:spLocks noGrp="1"/>
          </p:cNvSpPr>
          <p:nvPr/>
        </p:nvSpPr>
        <p:spPr>
          <a:xfrm>
            <a:off x="685800" y="1570400"/>
            <a:ext cx="76200" cy="1208072"/>
          </a:xfrm>
          <a:prstGeom prst="rect">
            <a:avLst/>
          </a:prstGeom>
          <a:solidFill>
            <a:srgbClr val="5B8FF9"/>
          </a:solidFill>
          <a:ln w="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57A67-FD92-41C7-9B04-0397B7C8E0B2}"/>
              </a:ext>
            </a:extLst>
          </p:cNvPr>
          <p:cNvSpPr>
            <a:spLocks noGrp="1"/>
          </p:cNvSpPr>
          <p:nvPr/>
        </p:nvSpPr>
        <p:spPr>
          <a:xfrm>
            <a:off x="952500" y="179900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До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E8DC00-F84A-4668-A9CD-633002B99DDF}"/>
              </a:ext>
            </a:extLst>
          </p:cNvPr>
          <p:cNvSpPr>
            <a:spLocks noGrp="1"/>
          </p:cNvSpPr>
          <p:nvPr/>
        </p:nvSpPr>
        <p:spPr>
          <a:xfrm>
            <a:off x="952500" y="2237150"/>
            <a:ext cx="445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7103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1425" b="0" noProof="0" dirty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Ми звертаємося до елементів за індексами.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9B034E-4FCA-49CE-85E6-A531461B0222}"/>
              </a:ext>
            </a:extLst>
          </p:cNvPr>
          <p:cNvSpPr>
            <a:spLocks noGrp="1"/>
          </p:cNvSpPr>
          <p:nvPr/>
        </p:nvSpPr>
        <p:spPr>
          <a:xfrm>
            <a:off x="685800" y="3090250"/>
            <a:ext cx="4953000" cy="1809750"/>
          </a:xfrm>
          <a:prstGeom prst="roundRect">
            <a:avLst>
              <a:gd name="adj" fmla="val 6316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CA0C3D-5F56-4E49-AD1F-AA6144F8DA57}"/>
              </a:ext>
            </a:extLst>
          </p:cNvPr>
          <p:cNvSpPr>
            <a:spLocks noGrp="1"/>
          </p:cNvSpPr>
          <p:nvPr/>
        </p:nvSpPr>
        <p:spPr>
          <a:xfrm>
            <a:off x="914400" y="329980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0CC7B8-28FA-454A-A423-E4AE14264FEA}"/>
              </a:ext>
            </a:extLst>
          </p:cNvPr>
          <p:cNvSpPr>
            <a:spLocks noGrp="1"/>
          </p:cNvSpPr>
          <p:nvPr/>
        </p:nvSpPr>
        <p:spPr>
          <a:xfrm>
            <a:off x="1162050" y="329980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FFE2F6-AE46-4AA1-854B-3B9AA7781848}"/>
              </a:ext>
            </a:extLst>
          </p:cNvPr>
          <p:cNvSpPr>
            <a:spLocks noGrp="1"/>
          </p:cNvSpPr>
          <p:nvPr/>
        </p:nvSpPr>
        <p:spPr>
          <a:xfrm>
            <a:off x="1409700" y="329980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F2D80B-7BB8-4CC2-8535-FFDD27D6A97E}"/>
              </a:ext>
            </a:extLst>
          </p:cNvPr>
          <p:cNvSpPr>
            <a:spLocks noGrp="1"/>
          </p:cNvSpPr>
          <p:nvPr/>
        </p:nvSpPr>
        <p:spPr>
          <a:xfrm>
            <a:off x="914400" y="3623650"/>
            <a:ext cx="44958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 = ("Олена", "+380501112233")</a:t>
            </a:r>
          </a:p>
          <a:p>
            <a:endParaRPr sz="1500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name = contact_pair[0]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phone = contact_pair[1]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67CF9D-B388-49AD-9495-48BE1B20A191}"/>
              </a:ext>
            </a:extLst>
          </p:cNvPr>
          <p:cNvSpPr>
            <a:spLocks noGrp="1"/>
          </p:cNvSpPr>
          <p:nvPr/>
        </p:nvSpPr>
        <p:spPr>
          <a:xfrm>
            <a:off x="6286500" y="1570400"/>
            <a:ext cx="4953000" cy="120807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uk-UA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9B821-C4ED-435F-9F89-5F98E603C3CE}"/>
              </a:ext>
            </a:extLst>
          </p:cNvPr>
          <p:cNvSpPr>
            <a:spLocks noGrp="1"/>
          </p:cNvSpPr>
          <p:nvPr/>
        </p:nvSpPr>
        <p:spPr>
          <a:xfrm>
            <a:off x="6286500" y="1570400"/>
            <a:ext cx="45719" cy="1208072"/>
          </a:xfrm>
          <a:prstGeom prst="rect">
            <a:avLst/>
          </a:prstGeom>
          <a:solidFill>
            <a:srgbClr val="3DC9B0"/>
          </a:solidFill>
          <a:ln w="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D5415A-175C-4CBA-A5D0-9444DE456F06}"/>
              </a:ext>
            </a:extLst>
          </p:cNvPr>
          <p:cNvSpPr>
            <a:spLocks noGrp="1"/>
          </p:cNvSpPr>
          <p:nvPr/>
        </p:nvSpPr>
        <p:spPr>
          <a:xfrm>
            <a:off x="6553200" y="179900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800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Після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6AC01A-E792-42EB-BD9E-9731DAC486A6}"/>
              </a:ext>
            </a:extLst>
          </p:cNvPr>
          <p:cNvSpPr>
            <a:spLocks noGrp="1"/>
          </p:cNvSpPr>
          <p:nvPr/>
        </p:nvSpPr>
        <p:spPr>
          <a:xfrm>
            <a:off x="6553200" y="2237150"/>
            <a:ext cx="445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7103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1425" b="0" noProof="0" dirty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Python сам розкладає значення у змінні.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1707C7-CCC7-4ACA-98DD-3F85439A001A}"/>
              </a:ext>
            </a:extLst>
          </p:cNvPr>
          <p:cNvSpPr>
            <a:spLocks noGrp="1"/>
          </p:cNvSpPr>
          <p:nvPr/>
        </p:nvSpPr>
        <p:spPr>
          <a:xfrm>
            <a:off x="6286500" y="3090250"/>
            <a:ext cx="4953000" cy="1809750"/>
          </a:xfrm>
          <a:prstGeom prst="roundRect">
            <a:avLst>
              <a:gd name="adj" fmla="val 6316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FAE8E7-2760-4A2A-8ED5-13E849AF1B23}"/>
              </a:ext>
            </a:extLst>
          </p:cNvPr>
          <p:cNvSpPr>
            <a:spLocks noGrp="1"/>
          </p:cNvSpPr>
          <p:nvPr/>
        </p:nvSpPr>
        <p:spPr>
          <a:xfrm>
            <a:off x="6515100" y="329980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3F7B6E-0E85-4B42-A1C5-439D2E7F8A2C}"/>
              </a:ext>
            </a:extLst>
          </p:cNvPr>
          <p:cNvSpPr>
            <a:spLocks noGrp="1"/>
          </p:cNvSpPr>
          <p:nvPr/>
        </p:nvSpPr>
        <p:spPr>
          <a:xfrm>
            <a:off x="6762750" y="329980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D8F602-A771-414F-9551-76E1A0B8CA13}"/>
              </a:ext>
            </a:extLst>
          </p:cNvPr>
          <p:cNvSpPr>
            <a:spLocks noGrp="1"/>
          </p:cNvSpPr>
          <p:nvPr/>
        </p:nvSpPr>
        <p:spPr>
          <a:xfrm>
            <a:off x="7010400" y="329980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59F6D2-9679-45B1-9F45-09FA58019E7C}"/>
              </a:ext>
            </a:extLst>
          </p:cNvPr>
          <p:cNvSpPr>
            <a:spLocks noGrp="1"/>
          </p:cNvSpPr>
          <p:nvPr/>
        </p:nvSpPr>
        <p:spPr>
          <a:xfrm>
            <a:off x="6515100" y="3623650"/>
            <a:ext cx="44958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 = ("Олена", "+380501112233")</a:t>
            </a:r>
          </a:p>
          <a:p>
            <a:endParaRPr sz="1500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name, phone = contact_pair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9826A4-ABB0-4780-B94B-641F8616CB45}"/>
              </a:ext>
            </a:extLst>
          </p:cNvPr>
          <p:cNvSpPr>
            <a:spLocks noGrp="1"/>
          </p:cNvSpPr>
          <p:nvPr/>
        </p:nvSpPr>
        <p:spPr>
          <a:xfrm>
            <a:off x="1905000" y="5374175"/>
            <a:ext cx="838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0833"/>
          </a:bodyPr>
          <a:lstStyle/>
          <a:p>
            <a:pPr algn="ctr">
              <a:lnSpc>
                <a:spcPct val="112000"/>
              </a:lnSpc>
              <a:buNone/>
              <a:defRPr sz="187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lang="uk-UA" sz="1875" b="0" noProof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Розпаковування працює, коли кількість змінних збігається з кількістю значень у кортежі.</a:t>
            </a:r>
          </a:p>
        </p:txBody>
      </p:sp>
    </p:spTree>
    <p:extLst>
      <p:ext uri="{BB962C8B-B14F-4D97-AF65-F5344CB8AC3E}">
        <p14:creationId xmlns:p14="http://schemas.microsoft.com/office/powerpoint/2010/main" val="199399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7AE8E36-6BE9-40DC-B895-BBD1D82EF60D}"/>
              </a:ext>
            </a:extLst>
          </p:cNvPr>
          <p:cNvSpPr>
            <a:spLocks noGrp="1"/>
          </p:cNvSpPr>
          <p:nvPr/>
        </p:nvSpPr>
        <p:spPr>
          <a:xfrm>
            <a:off x="654867" y="597058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lang="uk-UA" sz="2700" b="1" noProof="0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Список кортежів зручний для пар значень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BEBB9-5E38-4E0D-AB30-D64B41CC1349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C0AE0F-895E-4633-90F4-9EA6D8ED89E9}"/>
              </a:ext>
            </a:extLst>
          </p:cNvPr>
          <p:cNvSpPr>
            <a:spLocks noGrp="1"/>
          </p:cNvSpPr>
          <p:nvPr/>
        </p:nvSpPr>
        <p:spPr>
          <a:xfrm>
            <a:off x="722014" y="1806732"/>
            <a:ext cx="6286500" cy="3524250"/>
          </a:xfrm>
          <a:prstGeom prst="roundRect">
            <a:avLst>
              <a:gd name="adj" fmla="val 3243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41DFBB-BB60-4474-8156-62DD154CCC46}"/>
              </a:ext>
            </a:extLst>
          </p:cNvPr>
          <p:cNvSpPr>
            <a:spLocks noGrp="1"/>
          </p:cNvSpPr>
          <p:nvPr/>
        </p:nvSpPr>
        <p:spPr>
          <a:xfrm>
            <a:off x="950614" y="2016282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F333AB-E059-4523-9BEA-E16123C62683}"/>
              </a:ext>
            </a:extLst>
          </p:cNvPr>
          <p:cNvSpPr>
            <a:spLocks noGrp="1"/>
          </p:cNvSpPr>
          <p:nvPr/>
        </p:nvSpPr>
        <p:spPr>
          <a:xfrm>
            <a:off x="1198264" y="2016282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89F17E-6750-49CB-8E06-D8091AF3ED12}"/>
              </a:ext>
            </a:extLst>
          </p:cNvPr>
          <p:cNvSpPr>
            <a:spLocks noGrp="1"/>
          </p:cNvSpPr>
          <p:nvPr/>
        </p:nvSpPr>
        <p:spPr>
          <a:xfrm>
            <a:off x="1445914" y="2016282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E0E73-361C-43C2-8617-8A570C4E576F}"/>
              </a:ext>
            </a:extLst>
          </p:cNvPr>
          <p:cNvSpPr>
            <a:spLocks noGrp="1"/>
          </p:cNvSpPr>
          <p:nvPr/>
        </p:nvSpPr>
        <p:spPr>
          <a:xfrm>
            <a:off x="950614" y="2340132"/>
            <a:ext cx="5829300" cy="2838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lang="uk-UA" sz="15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contact_pairs </a:t>
            </a: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= [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("Олена", "+380501112233"),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("</a:t>
            </a:r>
            <a:r>
              <a:rPr lang="uk-UA" sz="15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Максим</a:t>
            </a: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", "+380671234567"),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("</a:t>
            </a:r>
            <a:r>
              <a:rPr lang="uk-UA" sz="15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Ірина</a:t>
            </a: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", "+380931112244"),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endParaRPr sz="1500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for name, phone in </a:t>
            </a:r>
            <a:r>
              <a:rPr lang="uk-UA" sz="1500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contact_pairs</a:t>
            </a: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print(f"{name}: {phone}")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168B4-7347-4757-AC02-BFCF443AB3DF}"/>
              </a:ext>
            </a:extLst>
          </p:cNvPr>
          <p:cNvSpPr>
            <a:spLocks noGrp="1"/>
          </p:cNvSpPr>
          <p:nvPr/>
        </p:nvSpPr>
        <p:spPr>
          <a:xfrm>
            <a:off x="7580014" y="1806732"/>
            <a:ext cx="3048000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2534"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2000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Що тут важливо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1E9E9A-B8FA-4CFC-991B-07A40F11DE07}"/>
              </a:ext>
            </a:extLst>
          </p:cNvPr>
          <p:cNvSpPr>
            <a:spLocks noGrp="1"/>
          </p:cNvSpPr>
          <p:nvPr/>
        </p:nvSpPr>
        <p:spPr>
          <a:xfrm>
            <a:off x="7580014" y="2635407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050B3-3C73-418B-90D1-48F7AC37ECAD}"/>
              </a:ext>
            </a:extLst>
          </p:cNvPr>
          <p:cNvSpPr>
            <a:spLocks noGrp="1"/>
          </p:cNvSpPr>
          <p:nvPr/>
        </p:nvSpPr>
        <p:spPr>
          <a:xfrm>
            <a:off x="7846714" y="2549682"/>
            <a:ext cx="3623272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6426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600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Зовнішній список може змінюватися.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100636-436E-4D63-8F83-0917D687570B}"/>
              </a:ext>
            </a:extLst>
          </p:cNvPr>
          <p:cNvSpPr>
            <a:spLocks noGrp="1"/>
          </p:cNvSpPr>
          <p:nvPr/>
        </p:nvSpPr>
        <p:spPr>
          <a:xfrm>
            <a:off x="7580014" y="3302157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9ACD07-0BE7-4D2A-A4C1-C5B69C762FE6}"/>
              </a:ext>
            </a:extLst>
          </p:cNvPr>
          <p:cNvSpPr>
            <a:spLocks noGrp="1"/>
          </p:cNvSpPr>
          <p:nvPr/>
        </p:nvSpPr>
        <p:spPr>
          <a:xfrm>
            <a:off x="7846714" y="3216431"/>
            <a:ext cx="3429000" cy="628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7740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575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Кожна пара всередині має фіксований формат.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7C00DC-6B2B-49E4-9C66-AD57CDC75B96}"/>
              </a:ext>
            </a:extLst>
          </p:cNvPr>
          <p:cNvSpPr>
            <a:spLocks noGrp="1"/>
          </p:cNvSpPr>
          <p:nvPr/>
        </p:nvSpPr>
        <p:spPr>
          <a:xfrm>
            <a:off x="7580014" y="4102257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DE1788-9141-49FA-9FBF-58869F5003A7}"/>
              </a:ext>
            </a:extLst>
          </p:cNvPr>
          <p:cNvSpPr>
            <a:spLocks noGrp="1"/>
          </p:cNvSpPr>
          <p:nvPr/>
        </p:nvSpPr>
        <p:spPr>
          <a:xfrm>
            <a:off x="7846714" y="4016532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575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Цикл одразу розпаковує пару у `name` і `phone`.</a:t>
            </a:r>
          </a:p>
        </p:txBody>
      </p:sp>
    </p:spTree>
    <p:extLst>
      <p:ext uri="{BB962C8B-B14F-4D97-AF65-F5344CB8AC3E}">
        <p14:creationId xmlns:p14="http://schemas.microsoft.com/office/powerpoint/2010/main" val="146111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82F628D-1A55-492B-A66D-FECB58460623}"/>
              </a:ext>
            </a:extLst>
          </p:cNvPr>
          <p:cNvSpPr>
            <a:spLocks noGrp="1"/>
          </p:cNvSpPr>
          <p:nvPr/>
        </p:nvSpPr>
        <p:spPr>
          <a:xfrm>
            <a:off x="582439" y="550187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Фіксовані налаштування краще тримати у кортежах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CA7F8-BADA-4BE4-9703-E01C2445C7EB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75FB5C-9045-41B4-9180-9F365D121E1B}"/>
              </a:ext>
            </a:extLst>
          </p:cNvPr>
          <p:cNvSpPr>
            <a:spLocks noGrp="1"/>
          </p:cNvSpPr>
          <p:nvPr/>
        </p:nvSpPr>
        <p:spPr>
          <a:xfrm>
            <a:off x="658639" y="1426487"/>
            <a:ext cx="7239000" cy="1581150"/>
          </a:xfrm>
          <a:prstGeom prst="roundRect">
            <a:avLst>
              <a:gd name="adj" fmla="val 7229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182EC5-7ED1-469F-AAC7-D199F4A03444}"/>
              </a:ext>
            </a:extLst>
          </p:cNvPr>
          <p:cNvSpPr>
            <a:spLocks noGrp="1"/>
          </p:cNvSpPr>
          <p:nvPr/>
        </p:nvSpPr>
        <p:spPr>
          <a:xfrm>
            <a:off x="887239" y="1636037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47A28C-131F-4451-AE17-52296BD51B90}"/>
              </a:ext>
            </a:extLst>
          </p:cNvPr>
          <p:cNvSpPr>
            <a:spLocks noGrp="1"/>
          </p:cNvSpPr>
          <p:nvPr/>
        </p:nvSpPr>
        <p:spPr>
          <a:xfrm>
            <a:off x="1134889" y="1636037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A162BB-190D-4D97-9DB5-B40EE42DBC25}"/>
              </a:ext>
            </a:extLst>
          </p:cNvPr>
          <p:cNvSpPr>
            <a:spLocks noGrp="1"/>
          </p:cNvSpPr>
          <p:nvPr/>
        </p:nvSpPr>
        <p:spPr>
          <a:xfrm>
            <a:off x="1382539" y="1636037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D9636-C585-4049-A9C8-552B72E8B934}"/>
              </a:ext>
            </a:extLst>
          </p:cNvPr>
          <p:cNvSpPr>
            <a:spLocks noGrp="1"/>
          </p:cNvSpPr>
          <p:nvPr/>
        </p:nvSpPr>
        <p:spPr>
          <a:xfrm>
            <a:off x="887239" y="1959887"/>
            <a:ext cx="67818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FIELDS = ("id", "name", "phone", "email", "city", "notes")</a:t>
            </a:r>
          </a:p>
          <a:p>
            <a:endParaRPr sz="1500" b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REQUIRED_FIELDS = ("name", "phone", "email")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02E985-E4D9-41F5-9C3B-AFC8F74D8D59}"/>
              </a:ext>
            </a:extLst>
          </p:cNvPr>
          <p:cNvSpPr>
            <a:spLocks noGrp="1"/>
          </p:cNvSpPr>
          <p:nvPr/>
        </p:nvSpPr>
        <p:spPr>
          <a:xfrm>
            <a:off x="658639" y="3502937"/>
            <a:ext cx="3238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19282E-F2D5-4273-B2A1-C6AC76B8EB6D}"/>
              </a:ext>
            </a:extLst>
          </p:cNvPr>
          <p:cNvSpPr>
            <a:spLocks noGrp="1"/>
          </p:cNvSpPr>
          <p:nvPr/>
        </p:nvSpPr>
        <p:spPr>
          <a:xfrm>
            <a:off x="658639" y="3502937"/>
            <a:ext cx="76200" cy="1619250"/>
          </a:xfrm>
          <a:prstGeom prst="rect">
            <a:avLst/>
          </a:prstGeom>
          <a:solidFill>
            <a:srgbClr val="5B8FF9"/>
          </a:solidFill>
          <a:ln w="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C50B4-BA7C-4989-AEDF-88A285693CF7}"/>
              </a:ext>
            </a:extLst>
          </p:cNvPr>
          <p:cNvSpPr>
            <a:spLocks noGrp="1"/>
          </p:cNvSpPr>
          <p:nvPr/>
        </p:nvSpPr>
        <p:spPr>
          <a:xfrm>
            <a:off x="925339" y="3731537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FIELDS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583BDB-B7F9-4FBF-BFD2-14043B6D6EEE}"/>
              </a:ext>
            </a:extLst>
          </p:cNvPr>
          <p:cNvSpPr>
            <a:spLocks noGrp="1"/>
          </p:cNvSpPr>
          <p:nvPr/>
        </p:nvSpPr>
        <p:spPr>
          <a:xfrm>
            <a:off x="925339" y="4169687"/>
            <a:ext cx="274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664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Порядок колонок для JSON або CSV не має випадково змінюватися.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AF0820-E51D-4305-A4B1-E1EAC965E062}"/>
              </a:ext>
            </a:extLst>
          </p:cNvPr>
          <p:cNvSpPr>
            <a:spLocks noGrp="1"/>
          </p:cNvSpPr>
          <p:nvPr/>
        </p:nvSpPr>
        <p:spPr>
          <a:xfrm>
            <a:off x="4449589" y="3502937"/>
            <a:ext cx="3238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7B8CD-D694-4782-83CB-25DE8BC6E294}"/>
              </a:ext>
            </a:extLst>
          </p:cNvPr>
          <p:cNvSpPr>
            <a:spLocks noGrp="1"/>
          </p:cNvSpPr>
          <p:nvPr/>
        </p:nvSpPr>
        <p:spPr>
          <a:xfrm>
            <a:off x="4449589" y="3502937"/>
            <a:ext cx="76200" cy="1619250"/>
          </a:xfrm>
          <a:prstGeom prst="rect">
            <a:avLst/>
          </a:prstGeom>
          <a:solidFill>
            <a:srgbClr val="3DC9B0"/>
          </a:solidFill>
          <a:ln w="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FB882-97C7-49FD-8DD8-E189C4830016}"/>
              </a:ext>
            </a:extLst>
          </p:cNvPr>
          <p:cNvSpPr>
            <a:spLocks noGrp="1"/>
          </p:cNvSpPr>
          <p:nvPr/>
        </p:nvSpPr>
        <p:spPr>
          <a:xfrm>
            <a:off x="4716289" y="3731537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REQUIRED_FIELDS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17C84-CAE2-4D5E-BE2E-B1697BC046A7}"/>
              </a:ext>
            </a:extLst>
          </p:cNvPr>
          <p:cNvSpPr>
            <a:spLocks noGrp="1"/>
          </p:cNvSpPr>
          <p:nvPr/>
        </p:nvSpPr>
        <p:spPr>
          <a:xfrm>
            <a:off x="4716289" y="4169687"/>
            <a:ext cx="274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Список обов'язкових полів є правилом програми.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85F1EE1-C9C4-4131-8ECA-1F6C6C821929}"/>
              </a:ext>
            </a:extLst>
          </p:cNvPr>
          <p:cNvSpPr>
            <a:spLocks noGrp="1"/>
          </p:cNvSpPr>
          <p:nvPr/>
        </p:nvSpPr>
        <p:spPr>
          <a:xfrm>
            <a:off x="8240539" y="3502937"/>
            <a:ext cx="3026122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EA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0FB9E6-2B54-4CAD-923B-F2EAC5A86ECE}"/>
              </a:ext>
            </a:extLst>
          </p:cNvPr>
          <p:cNvSpPr>
            <a:spLocks noGrp="1"/>
          </p:cNvSpPr>
          <p:nvPr/>
        </p:nvSpPr>
        <p:spPr>
          <a:xfrm>
            <a:off x="8240539" y="3502937"/>
            <a:ext cx="76200" cy="1619250"/>
          </a:xfrm>
          <a:prstGeom prst="rect">
            <a:avLst/>
          </a:prstGeom>
          <a:solidFill>
            <a:srgbClr val="C9A0FF"/>
          </a:solidFill>
          <a:ln w="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E4AB19-B25B-48B5-80AA-05A97E9AA3DF}"/>
              </a:ext>
            </a:extLst>
          </p:cNvPr>
          <p:cNvSpPr>
            <a:spLocks noGrp="1"/>
          </p:cNvSpPr>
          <p:nvPr/>
        </p:nvSpPr>
        <p:spPr>
          <a:xfrm>
            <a:off x="8507239" y="3731537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CITIES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D4891D-401E-4354-A3BC-51C7DE8E59A6}"/>
              </a:ext>
            </a:extLst>
          </p:cNvPr>
          <p:cNvSpPr>
            <a:spLocks noGrp="1"/>
          </p:cNvSpPr>
          <p:nvPr/>
        </p:nvSpPr>
        <p:spPr>
          <a:xfrm>
            <a:off x="8507239" y="4169687"/>
            <a:ext cx="2171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664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Варіанти міста у формі теж можна зберігати як кортеж.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1B720F-E5A1-4125-99D8-2F4A2DC58CDF}"/>
              </a:ext>
            </a:extLst>
          </p:cNvPr>
          <p:cNvSpPr>
            <a:spLocks noGrp="1"/>
          </p:cNvSpPr>
          <p:nvPr/>
        </p:nvSpPr>
        <p:spPr>
          <a:xfrm>
            <a:off x="658639" y="5560337"/>
            <a:ext cx="9867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5094"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 не робить програму складнішою. Він підказує: ці значення є домовленістю, а не робочим списком.</a:t>
            </a:r>
          </a:p>
        </p:txBody>
      </p:sp>
    </p:spTree>
    <p:extLst>
      <p:ext uri="{BB962C8B-B14F-4D97-AF65-F5344CB8AC3E}">
        <p14:creationId xmlns:p14="http://schemas.microsoft.com/office/powerpoint/2010/main" val="129949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FF2E004-136B-45A0-8930-90589310C0DB}"/>
              </a:ext>
            </a:extLst>
          </p:cNvPr>
          <p:cNvSpPr>
            <a:spLocks noGrp="1"/>
          </p:cNvSpPr>
          <p:nvPr/>
        </p:nvSpPr>
        <p:spPr>
          <a:xfrm>
            <a:off x="609599" y="323850"/>
            <a:ext cx="10390361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lang="uk-UA" sz="2600" b="1" noProof="0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Функція може повернути кортеж з результатом перевірки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30739-2E40-45F4-9C20-EDC585BF33BE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CCA5C9-C38A-4EB2-ABB3-AFF2079BFA67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6477000" cy="3333750"/>
          </a:xfrm>
          <a:prstGeom prst="roundRect">
            <a:avLst>
              <a:gd name="adj" fmla="val 3429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B32A1A-6036-4690-BD25-D595AFB95958}"/>
              </a:ext>
            </a:extLst>
          </p:cNvPr>
          <p:cNvSpPr>
            <a:spLocks noGrp="1"/>
          </p:cNvSpPr>
          <p:nvPr/>
        </p:nvSpPr>
        <p:spPr>
          <a:xfrm>
            <a:off x="914400" y="140970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75B62C-81AF-4C79-9830-184FF3E990DA}"/>
              </a:ext>
            </a:extLst>
          </p:cNvPr>
          <p:cNvSpPr>
            <a:spLocks noGrp="1"/>
          </p:cNvSpPr>
          <p:nvPr/>
        </p:nvSpPr>
        <p:spPr>
          <a:xfrm>
            <a:off x="1162050" y="140970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D489B-192F-4A4B-BE15-245D9ABC6098}"/>
              </a:ext>
            </a:extLst>
          </p:cNvPr>
          <p:cNvSpPr>
            <a:spLocks noGrp="1"/>
          </p:cNvSpPr>
          <p:nvPr/>
        </p:nvSpPr>
        <p:spPr>
          <a:xfrm>
            <a:off x="1409700" y="140970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32C541-81C8-492B-B90A-5DCF3073D765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60198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def validate_email(email):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if "@" not in email: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    return False, "Email має містити @."</a:t>
            </a:r>
          </a:p>
          <a:p>
            <a:endParaRPr sz="1425" b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if "." not in email: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    return False, "Email має містити крапку."</a:t>
            </a:r>
          </a:p>
          <a:p>
            <a:endParaRPr sz="1425" b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return True, ""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3E258A-31E3-4ED0-AACD-4ED1064A1C24}"/>
              </a:ext>
            </a:extLst>
          </p:cNvPr>
          <p:cNvSpPr>
            <a:spLocks noGrp="1"/>
          </p:cNvSpPr>
          <p:nvPr/>
        </p:nvSpPr>
        <p:spPr>
          <a:xfrm>
            <a:off x="685800" y="4914899"/>
            <a:ext cx="6477000" cy="1404419"/>
          </a:xfrm>
          <a:prstGeom prst="roundRect">
            <a:avLst>
              <a:gd name="adj" fmla="val 9375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0E345F-82B6-4DBD-BFCD-47F4F6EEBE23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483E0-5FF4-4E82-AD9A-19AD568FE825}"/>
              </a:ext>
            </a:extLst>
          </p:cNvPr>
          <p:cNvSpPr>
            <a:spLocks noGrp="1"/>
          </p:cNvSpPr>
          <p:nvPr/>
        </p:nvSpPr>
        <p:spPr>
          <a:xfrm>
            <a:off x="1162050" y="512445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222174-CF65-4CFE-B7F8-F8CBC12C7C7B}"/>
              </a:ext>
            </a:extLst>
          </p:cNvPr>
          <p:cNvSpPr>
            <a:spLocks noGrp="1"/>
          </p:cNvSpPr>
          <p:nvPr/>
        </p:nvSpPr>
        <p:spPr>
          <a:xfrm>
            <a:off x="1409700" y="512445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13F9B-FE4F-431F-A7CD-4403163D3D12}"/>
              </a:ext>
            </a:extLst>
          </p:cNvPr>
          <p:cNvSpPr>
            <a:spLocks noGrp="1"/>
          </p:cNvSpPr>
          <p:nvPr/>
        </p:nvSpPr>
        <p:spPr>
          <a:xfrm>
            <a:off x="914400" y="5448300"/>
            <a:ext cx="6019800" cy="708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3790" lnSpcReduction="20000"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lang="uk-UA" sz="142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is_valid</a:t>
            </a:r>
            <a:r>
              <a:rPr sz="142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, message = </a:t>
            </a:r>
            <a:r>
              <a:rPr lang="uk-UA" sz="142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validate_email("test@example.com")</a:t>
            </a:r>
          </a:p>
          <a:p>
            <a:endParaRPr lang="uk-UA" sz="1425" b="0" noProof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print(</a:t>
            </a:r>
            <a:r>
              <a:rPr lang="uk-UA" sz="142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is_valid</a:t>
            </a:r>
            <a:r>
              <a:rPr sz="142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print(message)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E1A6B0-9A96-4C76-9444-7E1D8C3CD6A5}"/>
              </a:ext>
            </a:extLst>
          </p:cNvPr>
          <p:cNvSpPr>
            <a:spLocks noGrp="1"/>
          </p:cNvSpPr>
          <p:nvPr/>
        </p:nvSpPr>
        <p:spPr>
          <a:xfrm>
            <a:off x="7658100" y="1524000"/>
            <a:ext cx="314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`return False, "..."` створює кортеж із двох значень.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A90917-CA4C-4CD4-A3BC-9BF0464F6414}"/>
              </a:ext>
            </a:extLst>
          </p:cNvPr>
          <p:cNvSpPr>
            <a:spLocks noGrp="1"/>
          </p:cNvSpPr>
          <p:nvPr/>
        </p:nvSpPr>
        <p:spPr>
          <a:xfrm>
            <a:off x="7658100" y="279082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106E3-0FBC-40F5-ABD4-FAEF19E5ADE9}"/>
              </a:ext>
            </a:extLst>
          </p:cNvPr>
          <p:cNvSpPr>
            <a:spLocks noGrp="1"/>
          </p:cNvSpPr>
          <p:nvPr/>
        </p:nvSpPr>
        <p:spPr>
          <a:xfrm>
            <a:off x="7924800" y="270510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Перше значення відповідає на питання: можна зберігати чи ні.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F2F4F3-23B1-4AA9-8980-332C07021B22}"/>
              </a:ext>
            </a:extLst>
          </p:cNvPr>
          <p:cNvSpPr>
            <a:spLocks noGrp="1"/>
          </p:cNvSpPr>
          <p:nvPr/>
        </p:nvSpPr>
        <p:spPr>
          <a:xfrm>
            <a:off x="7658100" y="362902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81312-96A9-43E7-939F-39D4545CB1FC}"/>
              </a:ext>
            </a:extLst>
          </p:cNvPr>
          <p:cNvSpPr>
            <a:spLocks noGrp="1"/>
          </p:cNvSpPr>
          <p:nvPr/>
        </p:nvSpPr>
        <p:spPr>
          <a:xfrm>
            <a:off x="7924800" y="35433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5663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Друге значення пояснює помилку користувачу.</a:t>
            </a:r>
          </a:p>
        </p:txBody>
      </p:sp>
    </p:spTree>
    <p:extLst>
      <p:ext uri="{BB962C8B-B14F-4D97-AF65-F5344CB8AC3E}">
        <p14:creationId xmlns:p14="http://schemas.microsoft.com/office/powerpoint/2010/main" val="153389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6226DE5-59F3-4A55-A8CB-239DBA47C8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defRPr>
            </a:pPr>
            <a:r>
              <a:rPr sz="2700" b="1">
                <a:solidFill>
                  <a:srgbClr val="1A1F36"/>
                </a:solidFill>
                <a:latin typeface="Trebuchet MS"/>
                <a:ea typeface="Trebuchet MS"/>
                <a:cs typeface="Trebuchet MS"/>
              </a:rPr>
              <a:t>Валідація телефону теж повертає пару значень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5B85E6-9DC8-42DE-B40D-F24F23DA3FB3}"/>
              </a:ext>
            </a:extLst>
          </p:cNvPr>
          <p:cNvSpPr>
            <a:spLocks noGrp="1"/>
          </p:cNvSpPr>
          <p:nvPr/>
        </p:nvSpPr>
        <p:spPr>
          <a:xfrm>
            <a:off x="9334500" y="6419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12000"/>
              </a:lnSpc>
              <a:buNone/>
              <a:defRPr sz="900" b="0">
                <a:solidFill>
                  <a:srgbClr val="66769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6769F"/>
                </a:solidFill>
                <a:latin typeface="Calibri"/>
                <a:ea typeface="Calibri"/>
                <a:cs typeface="Calibri"/>
              </a:rPr>
              <a:t>Кортежі в Python · 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3BE597-5640-4B52-BE10-D160F6A7F8AD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7239000" cy="4762500"/>
          </a:xfrm>
          <a:prstGeom prst="roundRect">
            <a:avLst>
              <a:gd name="adj" fmla="val 2400"/>
            </a:avLst>
          </a:prstGeom>
          <a:solidFill>
            <a:srgbClr val="161B2E"/>
          </a:solidFill>
          <a:ln w="9525">
            <a:solidFill>
              <a:srgbClr val="2A33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273010-37E4-4875-900B-A3BFFE33CA14}"/>
              </a:ext>
            </a:extLst>
          </p:cNvPr>
          <p:cNvSpPr>
            <a:spLocks noGrp="1"/>
          </p:cNvSpPr>
          <p:nvPr/>
        </p:nvSpPr>
        <p:spPr>
          <a:xfrm>
            <a:off x="914400" y="1314450"/>
            <a:ext cx="133350" cy="133350"/>
          </a:xfrm>
          <a:prstGeom prst="ellipse">
            <a:avLst/>
          </a:prstGeom>
          <a:solidFill>
            <a:srgbClr val="E84855"/>
          </a:solidFill>
          <a:ln w="9525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E3B910-4BE4-4009-AF04-AA2DF14F5D80}"/>
              </a:ext>
            </a:extLst>
          </p:cNvPr>
          <p:cNvSpPr>
            <a:spLocks noGrp="1"/>
          </p:cNvSpPr>
          <p:nvPr/>
        </p:nvSpPr>
        <p:spPr>
          <a:xfrm>
            <a:off x="1162050" y="1314450"/>
            <a:ext cx="133350" cy="133350"/>
          </a:xfrm>
          <a:prstGeom prst="ellipse">
            <a:avLst/>
          </a:prstGeom>
          <a:solidFill>
            <a:srgbClr val="FEBC2E"/>
          </a:solidFill>
          <a:ln w="9525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C576AD-6C7A-4B95-BB46-2812D1CD1421}"/>
              </a:ext>
            </a:extLst>
          </p:cNvPr>
          <p:cNvSpPr>
            <a:spLocks noGrp="1"/>
          </p:cNvSpPr>
          <p:nvPr/>
        </p:nvSpPr>
        <p:spPr>
          <a:xfrm>
            <a:off x="1409700" y="1314450"/>
            <a:ext cx="133350" cy="133350"/>
          </a:xfrm>
          <a:prstGeom prst="ellipse">
            <a:avLst/>
          </a:prstGeom>
          <a:solidFill>
            <a:srgbClr val="28A745"/>
          </a:solidFill>
          <a:ln w="9525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19BD9-4BFA-471E-A1F3-9ED1110E9FF7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6781800" cy="407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validate_phone</a:t>
            </a: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(phone):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if not phone: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    return False,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"Телефон не має бути порожнім."</a:t>
            </a:r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digits = phone[1:] if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phone.startswith</a:t>
            </a: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("+") else phone</a:t>
            </a:r>
          </a:p>
          <a:p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if not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digits.isdigit</a:t>
            </a: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():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    return False,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"Лише цифри та + на початку."</a:t>
            </a:r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if len(digits) != 12:</a:t>
            </a: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    return False, </a:t>
            </a:r>
            <a:r>
              <a:rPr lang="uk-UA" sz="1275" b="0" noProof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"Телефон має містити 12 цифр."</a:t>
            </a:r>
          </a:p>
          <a:p>
            <a:endParaRPr sz="1275" b="0" dirty="0">
              <a:solidFill>
                <a:srgbClr val="A9D4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275" b="0">
                <a:solidFill>
                  <a:srgbClr val="A9D4FF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A9D4FF"/>
                </a:solidFill>
                <a:latin typeface="Consolas"/>
                <a:ea typeface="Consolas"/>
                <a:cs typeface="Consolas"/>
              </a:rPr>
              <a:t>    return True, ""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D3DCCF-A863-48EA-AB66-CEE189E95E55}"/>
              </a:ext>
            </a:extLst>
          </p:cNvPr>
          <p:cNvSpPr>
            <a:spLocks noGrp="1"/>
          </p:cNvSpPr>
          <p:nvPr/>
        </p:nvSpPr>
        <p:spPr>
          <a:xfrm>
            <a:off x="8382000" y="13525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3352" lnSpcReduction="10000"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950" b="1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Правило для практики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F2CB4F-2A0D-4658-A909-F78D38CDA3D7}"/>
              </a:ext>
            </a:extLst>
          </p:cNvPr>
          <p:cNvSpPr>
            <a:spLocks noGrp="1"/>
          </p:cNvSpPr>
          <p:nvPr/>
        </p:nvSpPr>
        <p:spPr>
          <a:xfrm>
            <a:off x="8382000" y="208597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E9564-EDBB-4BFF-88B0-E6D04DB8FA9C}"/>
              </a:ext>
            </a:extLst>
          </p:cNvPr>
          <p:cNvSpPr>
            <a:spLocks noGrp="1"/>
          </p:cNvSpPr>
          <p:nvPr/>
        </p:nvSpPr>
        <p:spPr>
          <a:xfrm>
            <a:off x="8648700" y="20002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5663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575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`+` дозволений тільки на початку.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03AFE3-93E1-427C-84AE-F717DAB1EE90}"/>
              </a:ext>
            </a:extLst>
          </p:cNvPr>
          <p:cNvSpPr>
            <a:spLocks noGrp="1"/>
          </p:cNvSpPr>
          <p:nvPr/>
        </p:nvSpPr>
        <p:spPr>
          <a:xfrm>
            <a:off x="8382000" y="271462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6D6B70-A6DB-49C4-8F88-0CFDFE2C63D3}"/>
              </a:ext>
            </a:extLst>
          </p:cNvPr>
          <p:cNvSpPr>
            <a:spLocks noGrp="1"/>
          </p:cNvSpPr>
          <p:nvPr/>
        </p:nvSpPr>
        <p:spPr>
          <a:xfrm>
            <a:off x="8648700" y="26289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5663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575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Довжина рахується за кількістю цифр.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2FA2AE-3612-4C73-8A72-3B64DDC3700D}"/>
              </a:ext>
            </a:extLst>
          </p:cNvPr>
          <p:cNvSpPr>
            <a:spLocks noGrp="1"/>
          </p:cNvSpPr>
          <p:nvPr/>
        </p:nvSpPr>
        <p:spPr>
          <a:xfrm>
            <a:off x="8382000" y="3438525"/>
            <a:ext cx="133350" cy="133350"/>
          </a:xfrm>
          <a:prstGeom prst="ellipse">
            <a:avLst/>
          </a:prstGeom>
          <a:solidFill>
            <a:srgbClr val="3DC9B0"/>
          </a:solidFill>
          <a:ln w="9525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uk-UA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1C787-6253-4D45-A25C-A48EF815A218}"/>
              </a:ext>
            </a:extLst>
          </p:cNvPr>
          <p:cNvSpPr>
            <a:spLocks noGrp="1"/>
          </p:cNvSpPr>
          <p:nvPr/>
        </p:nvSpPr>
        <p:spPr>
          <a:xfrm>
            <a:off x="8648700" y="335280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9206" lnSpcReduction="10000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A1F36"/>
                </a:solidFill>
                <a:latin typeface="Calibri"/>
                <a:ea typeface="Calibri"/>
                <a:cs typeface="Calibri"/>
              </a:defRPr>
            </a:pPr>
            <a:r>
              <a:rPr lang="uk-UA" sz="1575" b="0" noProof="0" dirty="0">
                <a:solidFill>
                  <a:srgbClr val="1A1F36"/>
                </a:solidFill>
                <a:latin typeface="Calibri"/>
                <a:ea typeface="Calibri"/>
                <a:cs typeface="Calibri"/>
              </a:rPr>
              <a:t>`+380501112233` і `380501112233` проходять перевірку.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086187E-D7BF-4E34-99A9-93DD52C3FE49}"/>
              </a:ext>
            </a:extLst>
          </p:cNvPr>
          <p:cNvSpPr>
            <a:spLocks noGrp="1"/>
          </p:cNvSpPr>
          <p:nvPr/>
        </p:nvSpPr>
        <p:spPr>
          <a:xfrm>
            <a:off x="8382000" y="4819650"/>
            <a:ext cx="2857500" cy="723900"/>
          </a:xfrm>
          <a:prstGeom prst="roundRect">
            <a:avLst>
              <a:gd name="adj" fmla="val 15789"/>
            </a:avLst>
          </a:prstGeom>
          <a:solidFill>
            <a:srgbClr val="1A1F36"/>
          </a:solidFill>
          <a:ln w="9525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4B5A78-7071-457C-8125-A1AFEE414653}"/>
              </a:ext>
            </a:extLst>
          </p:cNvPr>
          <p:cNvSpPr>
            <a:spLocks noGrp="1"/>
          </p:cNvSpPr>
          <p:nvPr/>
        </p:nvSpPr>
        <p:spPr>
          <a:xfrm>
            <a:off x="8591550" y="4972050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5821" lnSpcReduction="10000"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Далі переносимо ці функції у Streamlit-форму.</a:t>
            </a:r>
          </a:p>
        </p:txBody>
      </p:sp>
    </p:spTree>
    <p:extLst>
      <p:ext uri="{BB962C8B-B14F-4D97-AF65-F5344CB8AC3E}">
        <p14:creationId xmlns:p14="http://schemas.microsoft.com/office/powerpoint/2010/main" val="18737389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699</Words>
  <Application>Microsoft Macintosh PowerPoint</Application>
  <DocSecurity>0</DocSecurity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Consolas</vt:lpstr>
      <vt:lpstr>Trebuchet MS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Штефан Дмитро</cp:lastModifiedBy>
  <cp:revision>7</cp:revision>
  <dcterms:created xsi:type="dcterms:W3CDTF">2026-07-05T07:40:02Z</dcterms:created>
  <dcterms:modified xsi:type="dcterms:W3CDTF">2026-07-05T08:15:32Z</dcterms:modified>
</cp:coreProperties>
</file>